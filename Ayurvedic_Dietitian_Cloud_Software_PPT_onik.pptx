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8" r:id="rId6"/>
    <p:sldId id="270" r:id="rId7"/>
    <p:sldId id="271" r:id="rId8"/>
    <p:sldId id="260" r:id="rId9"/>
    <p:sldId id="269" r:id="rId10"/>
    <p:sldId id="261" r:id="rId11"/>
    <p:sldId id="262" r:id="rId12"/>
    <p:sldId id="263" r:id="rId13"/>
    <p:sldId id="264" r:id="rId14"/>
    <p:sldId id="265" r:id="rId15"/>
    <p:sldId id="266" r:id="rId16"/>
    <p:sldId id="267" r:id="rId17"/>
  </p:sldIdLst>
  <p:sldSz cx="12192000" cy="6858000"/>
  <p:notesSz cx="6858000" cy="9144000"/>
  <p:embeddedFontLst>
    <p:embeddedFont>
      <p:font typeface="Gill Sans" panose="020B0604020202020204" charset="0"/>
      <p:regular r:id="rId19"/>
      <p:bold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h7DmrR+0Qm7NLmjaThbkYvep4Ld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15F0898-FE79-4DDF-AAA5-9221B2DFA6C4}">
  <a:tblStyle styleId="{C15F0898-FE79-4DDF-AAA5-9221B2DFA6C4}" styleName="Table_0">
    <a:wholeTbl>
      <a:tcTxStyle b="off" i="off">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3" name="Google Shape;13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 name="Google Shape;177;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14"/>
          <p:cNvSpPr txBox="1">
            <a:spLocks noGrp="1"/>
          </p:cNvSpPr>
          <p:nvPr>
            <p:ph type="ctrTitle"/>
          </p:nvPr>
        </p:nvSpPr>
        <p:spPr>
          <a:xfrm>
            <a:off x="1910080" y="359898"/>
            <a:ext cx="9875520" cy="147218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562214"/>
              </a:buClr>
              <a:buSzPts val="4300"/>
              <a:buFont typeface="Gill Sans"/>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4"/>
          <p:cNvSpPr txBox="1">
            <a:spLocks noGrp="1"/>
          </p:cNvSpPr>
          <p:nvPr>
            <p:ph type="subTitle" idx="1"/>
          </p:nvPr>
        </p:nvSpPr>
        <p:spPr>
          <a:xfrm>
            <a:off x="1910080" y="1850064"/>
            <a:ext cx="9875520" cy="1752600"/>
          </a:xfrm>
          <a:prstGeom prst="rect">
            <a:avLst/>
          </a:prstGeom>
          <a:noFill/>
          <a:ln>
            <a:noFill/>
          </a:ln>
        </p:spPr>
        <p:txBody>
          <a:bodyPr spcFirstLastPara="1" wrap="square" lIns="91425" tIns="0" rIns="91425" bIns="45700" anchor="t" anchorCtr="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a:endParaRPr/>
          </a:p>
        </p:txBody>
      </p:sp>
      <p:sp>
        <p:nvSpPr>
          <p:cNvPr id="23" name="Google Shape;23;p14"/>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4"/>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4"/>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
        <p:nvSpPr>
          <p:cNvPr id="26" name="Google Shape;26;p14"/>
          <p:cNvSpPr/>
          <p:nvPr/>
        </p:nvSpPr>
        <p:spPr>
          <a:xfrm>
            <a:off x="1228577" y="1413802"/>
            <a:ext cx="280416" cy="210312"/>
          </a:xfrm>
          <a:prstGeom prst="ellipse">
            <a:avLst/>
          </a:prstGeom>
          <a:gradFill>
            <a:gsLst>
              <a:gs pos="0">
                <a:srgbClr val="D7F6FF">
                  <a:alpha val="94902"/>
                </a:srgbClr>
              </a:gs>
              <a:gs pos="50000">
                <a:srgbClr val="C0E3F0">
                  <a:alpha val="89804"/>
                </a:srgbClr>
              </a:gs>
              <a:gs pos="95000">
                <a:srgbClr val="65C6EA">
                  <a:alpha val="87843"/>
                </a:srgbClr>
              </a:gs>
              <a:gs pos="100000">
                <a:srgbClr val="00BBF1">
                  <a:alpha val="84706"/>
                </a:srgbClr>
              </a:gs>
            </a:gsLst>
            <a:path path="circle">
              <a:fillToRect r="100000" b="100000"/>
            </a:path>
            <a:tileRect l="-100000" t="-100000"/>
          </a:gradFill>
          <a:ln w="9525" cap="rnd" cmpd="sng">
            <a:solidFill>
              <a:srgbClr val="2F8DA4">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ill Sans"/>
              <a:ea typeface="Gill Sans"/>
              <a:cs typeface="Gill Sans"/>
              <a:sym typeface="Gill Sans"/>
            </a:endParaRPr>
          </a:p>
        </p:txBody>
      </p:sp>
      <p:sp>
        <p:nvSpPr>
          <p:cNvPr id="27" name="Google Shape;27;p14"/>
          <p:cNvSpPr/>
          <p:nvPr/>
        </p:nvSpPr>
        <p:spPr>
          <a:xfrm>
            <a:off x="1542901" y="1345016"/>
            <a:ext cx="85344" cy="64008"/>
          </a:xfrm>
          <a:prstGeom prst="ellipse">
            <a:avLst/>
          </a:prstGeom>
          <a:noFill/>
          <a:ln w="12700" cap="rnd" cmpd="sng">
            <a:solidFill>
              <a:srgbClr val="317F92">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15"/>
          <p:cNvSpPr txBox="1">
            <a:spLocks noGrp="1"/>
          </p:cNvSpPr>
          <p:nvPr>
            <p:ph type="title"/>
          </p:nvPr>
        </p:nvSpPr>
        <p:spPr>
          <a:xfrm>
            <a:off x="1914144" y="274638"/>
            <a:ext cx="9997440"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5"/>
          <p:cNvSpPr txBox="1">
            <a:spLocks noGrp="1"/>
          </p:cNvSpPr>
          <p:nvPr>
            <p:ph type="body" idx="1"/>
          </p:nvPr>
        </p:nvSpPr>
        <p:spPr>
          <a:xfrm>
            <a:off x="1914144" y="1447800"/>
            <a:ext cx="9997440" cy="4800600"/>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1" name="Google Shape;31;p15"/>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5"/>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5"/>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16"/>
          <p:cNvSpPr txBox="1">
            <a:spLocks noGrp="1"/>
          </p:cNvSpPr>
          <p:nvPr>
            <p:ph type="title"/>
          </p:nvPr>
        </p:nvSpPr>
        <p:spPr>
          <a:xfrm>
            <a:off x="1914144" y="274320"/>
            <a:ext cx="9997440"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6"/>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6"/>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9"/>
        <p:cNvGrpSpPr/>
        <p:nvPr/>
      </p:nvGrpSpPr>
      <p:grpSpPr>
        <a:xfrm>
          <a:off x="0" y="0"/>
          <a:ext cx="0" cy="0"/>
          <a:chOff x="0" y="0"/>
          <a:chExt cx="0" cy="0"/>
        </a:xfrm>
      </p:grpSpPr>
      <p:sp>
        <p:nvSpPr>
          <p:cNvPr id="40" name="Google Shape;40;p17"/>
          <p:cNvSpPr/>
          <p:nvPr/>
        </p:nvSpPr>
        <p:spPr>
          <a:xfrm>
            <a:off x="3043853" y="-54"/>
            <a:ext cx="9144000" cy="685805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41" name="Google Shape;41;p17"/>
          <p:cNvSpPr txBox="1">
            <a:spLocks noGrp="1"/>
          </p:cNvSpPr>
          <p:nvPr>
            <p:ph type="title"/>
          </p:nvPr>
        </p:nvSpPr>
        <p:spPr>
          <a:xfrm>
            <a:off x="3437856" y="2600325"/>
            <a:ext cx="8534400" cy="2286000"/>
          </a:xfrm>
          <a:prstGeom prst="rect">
            <a:avLst/>
          </a:prstGeom>
          <a:noFill/>
          <a:ln>
            <a:noFill/>
          </a:ln>
        </p:spPr>
        <p:txBody>
          <a:bodyPr spcFirstLastPara="1" wrap="square" lIns="91425" tIns="45700" rIns="91425" bIns="45700" anchor="t" anchorCtr="0">
            <a:normAutofit/>
          </a:bodyPr>
          <a:lstStyle>
            <a:lvl1pPr lvl="0" algn="l">
              <a:lnSpc>
                <a:spcPct val="113000"/>
              </a:lnSpc>
              <a:spcBef>
                <a:spcPts val="0"/>
              </a:spcBef>
              <a:spcAft>
                <a:spcPts val="0"/>
              </a:spcAft>
              <a:buClr>
                <a:srgbClr val="562214"/>
              </a:buClr>
              <a:buSzPts val="4000"/>
              <a:buFont typeface="Gill Sans"/>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3437856" y="1066800"/>
            <a:ext cx="8534400" cy="1509712"/>
          </a:xfrm>
          <a:prstGeom prst="rect">
            <a:avLst/>
          </a:prstGeom>
          <a:noFill/>
          <a:ln>
            <a:noFill/>
          </a:ln>
        </p:spPr>
        <p:txBody>
          <a:bodyPr spcFirstLastPara="1" wrap="square" lIns="91425" tIns="45700" rIns="91425" bIns="45700" anchor="b" anchorCtr="0">
            <a:normAutofit/>
          </a:bodyPr>
          <a:lstStyle>
            <a:lvl1pPr marL="457200" lvl="0" indent="-228600" algn="l">
              <a:lnSpc>
                <a:spcPct val="115000"/>
              </a:lnSpc>
              <a:spcBef>
                <a:spcPts val="0"/>
              </a:spcBef>
              <a:spcAft>
                <a:spcPts val="0"/>
              </a:spcAft>
              <a:buSzPts val="1600"/>
              <a:buNone/>
              <a:defRPr sz="2000">
                <a:solidFill>
                  <a:srgbClr val="341108"/>
                </a:solidFill>
              </a:defRPr>
            </a:lvl1pPr>
            <a:lvl2pPr marL="914400" lvl="1" indent="-228600" algn="l">
              <a:lnSpc>
                <a:spcPct val="100000"/>
              </a:lnSpc>
              <a:spcBef>
                <a:spcPts val="550"/>
              </a:spcBef>
              <a:spcAft>
                <a:spcPts val="0"/>
              </a:spcAft>
              <a:buSzPts val="1800"/>
              <a:buNone/>
              <a:defRPr sz="1800">
                <a:solidFill>
                  <a:srgbClr val="888888"/>
                </a:solidFill>
              </a:defRPr>
            </a:lvl2pPr>
            <a:lvl3pPr marL="1371600" lvl="2" indent="-228600" algn="l">
              <a:lnSpc>
                <a:spcPct val="100000"/>
              </a:lnSpc>
              <a:spcBef>
                <a:spcPts val="320"/>
              </a:spcBef>
              <a:spcAft>
                <a:spcPts val="0"/>
              </a:spcAft>
              <a:buSzPts val="1600"/>
              <a:buNone/>
              <a:defRPr sz="1600">
                <a:solidFill>
                  <a:srgbClr val="888888"/>
                </a:solidFill>
              </a:defRPr>
            </a:lvl3pPr>
            <a:lvl4pPr marL="1828800" lvl="3" indent="-228600" algn="l">
              <a:lnSpc>
                <a:spcPct val="100000"/>
              </a:lnSpc>
              <a:spcBef>
                <a:spcPts val="280"/>
              </a:spcBef>
              <a:spcAft>
                <a:spcPts val="0"/>
              </a:spcAft>
              <a:buSzPts val="1400"/>
              <a:buNone/>
              <a:defRPr sz="1400">
                <a:solidFill>
                  <a:srgbClr val="888888"/>
                </a:solidFill>
              </a:defRPr>
            </a:lvl4pPr>
            <a:lvl5pPr marL="2286000" lvl="4" indent="-228600" algn="l">
              <a:lnSpc>
                <a:spcPct val="100000"/>
              </a:lnSpc>
              <a:spcBef>
                <a:spcPts val="280"/>
              </a:spcBef>
              <a:spcAft>
                <a:spcPts val="0"/>
              </a:spcAft>
              <a:buSzPts val="1400"/>
              <a:buNone/>
              <a:defRPr sz="1400">
                <a:solidFill>
                  <a:srgbClr val="888888"/>
                </a:solidFill>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3" name="Google Shape;43;p17"/>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7"/>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7"/>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
        <p:nvSpPr>
          <p:cNvPr id="46" name="Google Shape;46;p17"/>
          <p:cNvSpPr/>
          <p:nvPr/>
        </p:nvSpPr>
        <p:spPr>
          <a:xfrm>
            <a:off x="3048000" y="0"/>
            <a:ext cx="101600" cy="6858054"/>
          </a:xfrm>
          <a:prstGeom prst="rect">
            <a:avLst/>
          </a:prstGeom>
          <a:solidFill>
            <a:schemeClr val="lt1"/>
          </a:solidFill>
          <a:ln>
            <a:noFill/>
          </a:ln>
          <a:effectLst>
            <a:outerShdw blurRad="38550" dist="38000" dir="10800000" algn="tl" rotWithShape="0">
              <a:srgbClr val="6F6A5F">
                <a:alpha val="2470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47" name="Google Shape;47;p17"/>
          <p:cNvSpPr/>
          <p:nvPr/>
        </p:nvSpPr>
        <p:spPr>
          <a:xfrm>
            <a:off x="2896428" y="2814656"/>
            <a:ext cx="280416" cy="210312"/>
          </a:xfrm>
          <a:prstGeom prst="ellipse">
            <a:avLst/>
          </a:prstGeom>
          <a:gradFill>
            <a:gsLst>
              <a:gs pos="0">
                <a:srgbClr val="D7F6FF">
                  <a:alpha val="94902"/>
                </a:srgbClr>
              </a:gs>
              <a:gs pos="50000">
                <a:srgbClr val="C0E3F0">
                  <a:alpha val="89804"/>
                </a:srgbClr>
              </a:gs>
              <a:gs pos="95000">
                <a:srgbClr val="65C6EA">
                  <a:alpha val="87843"/>
                </a:srgbClr>
              </a:gs>
              <a:gs pos="100000">
                <a:srgbClr val="00BBF1">
                  <a:alpha val="84706"/>
                </a:srgbClr>
              </a:gs>
            </a:gsLst>
            <a:path path="circle">
              <a:fillToRect r="100000" b="100000"/>
            </a:path>
            <a:tileRect l="-100000" t="-100000"/>
          </a:gradFill>
          <a:ln w="9525" cap="rnd" cmpd="sng">
            <a:solidFill>
              <a:srgbClr val="2F8DA4">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ill Sans"/>
              <a:ea typeface="Gill Sans"/>
              <a:cs typeface="Gill Sans"/>
              <a:sym typeface="Gill Sans"/>
            </a:endParaRPr>
          </a:p>
        </p:txBody>
      </p:sp>
      <p:sp>
        <p:nvSpPr>
          <p:cNvPr id="48" name="Google Shape;48;p17"/>
          <p:cNvSpPr/>
          <p:nvPr/>
        </p:nvSpPr>
        <p:spPr>
          <a:xfrm>
            <a:off x="3210752" y="2745870"/>
            <a:ext cx="85344" cy="64008"/>
          </a:xfrm>
          <a:prstGeom prst="ellipse">
            <a:avLst/>
          </a:prstGeom>
          <a:noFill/>
          <a:ln w="12700" cap="rnd" cmpd="sng">
            <a:solidFill>
              <a:srgbClr val="317F92">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ill Sans"/>
              <a:ea typeface="Gill Sans"/>
              <a:cs typeface="Gill Sans"/>
              <a:sym typeface="Gil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9"/>
        <p:cNvGrpSpPr/>
        <p:nvPr/>
      </p:nvGrpSpPr>
      <p:grpSpPr>
        <a:xfrm>
          <a:off x="0" y="0"/>
          <a:ext cx="0" cy="0"/>
          <a:chOff x="0" y="0"/>
          <a:chExt cx="0" cy="0"/>
        </a:xfrm>
      </p:grpSpPr>
      <p:sp>
        <p:nvSpPr>
          <p:cNvPr id="50" name="Google Shape;50;p18"/>
          <p:cNvSpPr txBox="1">
            <a:spLocks noGrp="1"/>
          </p:cNvSpPr>
          <p:nvPr>
            <p:ph type="title"/>
          </p:nvPr>
        </p:nvSpPr>
        <p:spPr>
          <a:xfrm>
            <a:off x="1914144" y="274320"/>
            <a:ext cx="9997440"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8"/>
          <p:cNvSpPr txBox="1">
            <a:spLocks noGrp="1"/>
          </p:cNvSpPr>
          <p:nvPr>
            <p:ph type="body" idx="1"/>
          </p:nvPr>
        </p:nvSpPr>
        <p:spPr>
          <a:xfrm>
            <a:off x="1914144" y="1524000"/>
            <a:ext cx="4876800" cy="466344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2" name="Google Shape;52;p18"/>
          <p:cNvSpPr txBox="1">
            <a:spLocks noGrp="1"/>
          </p:cNvSpPr>
          <p:nvPr>
            <p:ph type="body" idx="2"/>
          </p:nvPr>
        </p:nvSpPr>
        <p:spPr>
          <a:xfrm>
            <a:off x="7034784" y="1524000"/>
            <a:ext cx="4876800" cy="466344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3" name="Google Shape;53;p18"/>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8"/>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8"/>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56"/>
        <p:cNvGrpSpPr/>
        <p:nvPr/>
      </p:nvGrpSpPr>
      <p:grpSpPr>
        <a:xfrm>
          <a:off x="0" y="0"/>
          <a:ext cx="0" cy="0"/>
          <a:chOff x="0" y="0"/>
          <a:chExt cx="0" cy="0"/>
        </a:xfrm>
      </p:grpSpPr>
      <p:sp>
        <p:nvSpPr>
          <p:cNvPr id="57" name="Google Shape;57;p19"/>
          <p:cNvSpPr txBox="1">
            <a:spLocks noGrp="1"/>
          </p:cNvSpPr>
          <p:nvPr>
            <p:ph type="title"/>
          </p:nvPr>
        </p:nvSpPr>
        <p:spPr>
          <a:xfrm>
            <a:off x="609600" y="5160336"/>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562214"/>
              </a:buClr>
              <a:buSzPts val="4500"/>
              <a:buFont typeface="Gill Sans"/>
              <a:buNone/>
              <a:defRPr sz="45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9"/>
          <p:cNvSpPr txBox="1">
            <a:spLocks noGrp="1"/>
          </p:cNvSpPr>
          <p:nvPr>
            <p:ph type="body" idx="1"/>
          </p:nvPr>
        </p:nvSpPr>
        <p:spPr>
          <a:xfrm>
            <a:off x="609600" y="328278"/>
            <a:ext cx="5364480" cy="640080"/>
          </a:xfrm>
          <a:prstGeom prst="rect">
            <a:avLst/>
          </a:prstGeom>
          <a:solidFill>
            <a:schemeClr val="lt1"/>
          </a:solidFill>
          <a:ln w="10775" cap="flat" cmpd="sng">
            <a:solidFill>
              <a:schemeClr val="lt1"/>
            </a:solidFill>
            <a:prstDash val="solid"/>
            <a:miter lim="8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9" name="Google Shape;59;p19"/>
          <p:cNvSpPr txBox="1">
            <a:spLocks noGrp="1"/>
          </p:cNvSpPr>
          <p:nvPr>
            <p:ph type="body" idx="2"/>
          </p:nvPr>
        </p:nvSpPr>
        <p:spPr>
          <a:xfrm>
            <a:off x="6217920" y="328278"/>
            <a:ext cx="5364480" cy="640080"/>
          </a:xfrm>
          <a:prstGeom prst="rect">
            <a:avLst/>
          </a:prstGeom>
          <a:solidFill>
            <a:schemeClr val="lt1"/>
          </a:solidFill>
          <a:ln w="10775" cap="flat" cmpd="sng">
            <a:solidFill>
              <a:schemeClr val="lt1"/>
            </a:solidFill>
            <a:prstDash val="solid"/>
            <a:miter lim="8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60" name="Google Shape;60;p19"/>
          <p:cNvSpPr txBox="1">
            <a:spLocks noGrp="1"/>
          </p:cNvSpPr>
          <p:nvPr>
            <p:ph type="body" idx="3"/>
          </p:nvPr>
        </p:nvSpPr>
        <p:spPr>
          <a:xfrm>
            <a:off x="609600" y="969336"/>
            <a:ext cx="5364480" cy="4114800"/>
          </a:xfrm>
          <a:prstGeom prst="rect">
            <a:avLst/>
          </a:prstGeom>
          <a:noFill/>
          <a:ln w="10775" cap="flat" cmpd="sng">
            <a:solidFill>
              <a:schemeClr val="lt1"/>
            </a:solidFill>
            <a:prstDash val="dash"/>
            <a:miter lim="8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61" name="Google Shape;61;p19"/>
          <p:cNvSpPr txBox="1">
            <a:spLocks noGrp="1"/>
          </p:cNvSpPr>
          <p:nvPr>
            <p:ph type="body" idx="4"/>
          </p:nvPr>
        </p:nvSpPr>
        <p:spPr>
          <a:xfrm>
            <a:off x="6217920" y="969336"/>
            <a:ext cx="5364480" cy="4114800"/>
          </a:xfrm>
          <a:prstGeom prst="rect">
            <a:avLst/>
          </a:prstGeom>
          <a:noFill/>
          <a:ln w="10775" cap="flat" cmpd="sng">
            <a:solidFill>
              <a:schemeClr val="lt1"/>
            </a:solidFill>
            <a:prstDash val="dash"/>
            <a:miter lim="8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62" name="Google Shape;62;p19"/>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9"/>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9"/>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5"/>
        <p:cNvGrpSpPr/>
        <p:nvPr/>
      </p:nvGrpSpPr>
      <p:grpSpPr>
        <a:xfrm>
          <a:off x="0" y="0"/>
          <a:ext cx="0" cy="0"/>
          <a:chOff x="0" y="0"/>
          <a:chExt cx="0" cy="0"/>
        </a:xfrm>
      </p:grpSpPr>
      <p:sp>
        <p:nvSpPr>
          <p:cNvPr id="66" name="Google Shape;66;p20"/>
          <p:cNvSpPr/>
          <p:nvPr/>
        </p:nvSpPr>
        <p:spPr>
          <a:xfrm>
            <a:off x="1353312" y="0"/>
            <a:ext cx="10838688"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67" name="Google Shape;67;p20"/>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0"/>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0"/>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
        <p:nvSpPr>
          <p:cNvPr id="70" name="Google Shape;70;p20"/>
          <p:cNvSpPr/>
          <p:nvPr/>
        </p:nvSpPr>
        <p:spPr>
          <a:xfrm>
            <a:off x="1353312" y="-54"/>
            <a:ext cx="97536" cy="6858054"/>
          </a:xfrm>
          <a:prstGeom prst="rect">
            <a:avLst/>
          </a:prstGeom>
          <a:solidFill>
            <a:schemeClr val="lt1"/>
          </a:solidFill>
          <a:ln>
            <a:noFill/>
          </a:ln>
          <a:effectLst>
            <a:outerShdw blurRad="38550" dist="38000" dir="10800000" algn="tl" rotWithShape="0">
              <a:srgbClr val="6F6A5F">
                <a:alpha val="2470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1"/>
        <p:cNvGrpSpPr/>
        <p:nvPr/>
      </p:nvGrpSpPr>
      <p:grpSpPr>
        <a:xfrm>
          <a:off x="0" y="0"/>
          <a:ext cx="0" cy="0"/>
          <a:chOff x="0" y="0"/>
          <a:chExt cx="0" cy="0"/>
        </a:xfrm>
      </p:grpSpPr>
      <p:sp>
        <p:nvSpPr>
          <p:cNvPr id="72" name="Google Shape;72;p21"/>
          <p:cNvSpPr txBox="1">
            <a:spLocks noGrp="1"/>
          </p:cNvSpPr>
          <p:nvPr>
            <p:ph type="title"/>
          </p:nvPr>
        </p:nvSpPr>
        <p:spPr>
          <a:xfrm>
            <a:off x="609600" y="216778"/>
            <a:ext cx="5080000" cy="1162050"/>
          </a:xfrm>
          <a:prstGeom prst="rect">
            <a:avLst/>
          </a:prstGeom>
          <a:noFill/>
          <a:ln>
            <a:noFill/>
          </a:ln>
        </p:spPr>
        <p:txBody>
          <a:bodyPr spcFirstLastPara="1" wrap="square" lIns="91425" tIns="45700" rIns="91425" bIns="45700" anchor="b" anchorCtr="0">
            <a:normAutofit/>
          </a:bodyPr>
          <a:lstStyle>
            <a:lvl1pPr lvl="0" algn="l">
              <a:lnSpc>
                <a:spcPct val="91000"/>
              </a:lnSpc>
              <a:spcBef>
                <a:spcPts val="0"/>
              </a:spcBef>
              <a:spcAft>
                <a:spcPts val="0"/>
              </a:spcAft>
              <a:buClr>
                <a:srgbClr val="562214"/>
              </a:buClr>
              <a:buSzPts val="2200"/>
              <a:buFont typeface="Gill Sans"/>
              <a:buNone/>
              <a:defRPr sz="22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1"/>
          <p:cNvSpPr txBox="1">
            <a:spLocks noGrp="1"/>
          </p:cNvSpPr>
          <p:nvPr>
            <p:ph type="body" idx="1"/>
          </p:nvPr>
        </p:nvSpPr>
        <p:spPr>
          <a:xfrm>
            <a:off x="609600" y="1406964"/>
            <a:ext cx="5080000" cy="6985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SzPts val="1120"/>
              <a:buNone/>
              <a:defRPr sz="1400"/>
            </a:lvl1pPr>
            <a:lvl2pPr marL="914400" lvl="1" indent="-228600" algn="l">
              <a:lnSpc>
                <a:spcPct val="100000"/>
              </a:lnSpc>
              <a:spcBef>
                <a:spcPts val="55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4" name="Google Shape;74;p21"/>
          <p:cNvSpPr txBox="1">
            <a:spLocks noGrp="1"/>
          </p:cNvSpPr>
          <p:nvPr>
            <p:ph type="body" idx="2"/>
          </p:nvPr>
        </p:nvSpPr>
        <p:spPr>
          <a:xfrm>
            <a:off x="609600" y="2133601"/>
            <a:ext cx="10871200" cy="3992563"/>
          </a:xfrm>
          <a:prstGeom prst="rect">
            <a:avLst/>
          </a:prstGeom>
          <a:noFill/>
          <a:ln>
            <a:noFill/>
          </a:ln>
        </p:spPr>
        <p:txBody>
          <a:bodyPr spcFirstLastPara="1" wrap="square" lIns="91425" tIns="45700" rIns="91425" bIns="45700" anchor="t" anchorCtr="0">
            <a:normAutofit/>
          </a:bodyPr>
          <a:lstStyle>
            <a:lvl1pPr marL="457200" lvl="0" indent="-391160" algn="l">
              <a:lnSpc>
                <a:spcPct val="100000"/>
              </a:lnSpc>
              <a:spcBef>
                <a:spcPts val="600"/>
              </a:spcBef>
              <a:spcAft>
                <a:spcPts val="0"/>
              </a:spcAft>
              <a:buSzPts val="2560"/>
              <a:buChar char="⚫"/>
              <a:defRPr sz="3200"/>
            </a:lvl1pPr>
            <a:lvl2pPr marL="914400" lvl="1" indent="-406400" algn="l">
              <a:lnSpc>
                <a:spcPct val="100000"/>
              </a:lnSpc>
              <a:spcBef>
                <a:spcPts val="550"/>
              </a:spcBef>
              <a:spcAft>
                <a:spcPts val="0"/>
              </a:spcAft>
              <a:buSzPts val="2800"/>
              <a:buChar char="◦"/>
              <a:defRPr sz="2800"/>
            </a:lvl2pPr>
            <a:lvl3pPr marL="1371600" lvl="2" indent="-381000" algn="l">
              <a:lnSpc>
                <a:spcPct val="100000"/>
              </a:lnSpc>
              <a:spcBef>
                <a:spcPts val="480"/>
              </a:spcBef>
              <a:spcAft>
                <a:spcPts val="0"/>
              </a:spcAft>
              <a:buSzPts val="2400"/>
              <a:buChar char="●"/>
              <a:defRPr sz="2400"/>
            </a:lvl3pPr>
            <a:lvl4pPr marL="1828800" lvl="3" indent="-355600" algn="l">
              <a:lnSpc>
                <a:spcPct val="100000"/>
              </a:lnSpc>
              <a:spcBef>
                <a:spcPts val="400"/>
              </a:spcBef>
              <a:spcAft>
                <a:spcPts val="0"/>
              </a:spcAft>
              <a:buSzPts val="2000"/>
              <a:buChar char="●"/>
              <a:defRPr sz="2000"/>
            </a:lvl4pPr>
            <a:lvl5pPr marL="2286000" lvl="4" indent="-355600" algn="l">
              <a:lnSpc>
                <a:spcPct val="100000"/>
              </a:lnSpc>
              <a:spcBef>
                <a:spcPts val="400"/>
              </a:spcBef>
              <a:spcAft>
                <a:spcPts val="0"/>
              </a:spcAft>
              <a:buSzPts val="2000"/>
              <a:buChar char="●"/>
              <a:defRPr sz="20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5" name="Google Shape;75;p21"/>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1"/>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1"/>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22"/>
          <p:cNvSpPr txBox="1">
            <a:spLocks noGrp="1"/>
          </p:cNvSpPr>
          <p:nvPr>
            <p:ph type="title"/>
          </p:nvPr>
        </p:nvSpPr>
        <p:spPr>
          <a:xfrm>
            <a:off x="7849195" y="1066800"/>
            <a:ext cx="3657600" cy="1981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562214"/>
              </a:buClr>
              <a:buSzPts val="2100"/>
              <a:buFont typeface="Gill Sans"/>
              <a:buNone/>
              <a:defRPr sz="21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2"/>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2"/>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2"/>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
        <p:nvSpPr>
          <p:cNvPr id="83" name="Google Shape;83;p22"/>
          <p:cNvSpPr/>
          <p:nvPr/>
        </p:nvSpPr>
        <p:spPr>
          <a:xfrm>
            <a:off x="1016000" y="1066800"/>
            <a:ext cx="6096000" cy="4572000"/>
          </a:xfrm>
          <a:prstGeom prst="rect">
            <a:avLst/>
          </a:prstGeom>
          <a:solidFill>
            <a:srgbClr val="FFFFFF"/>
          </a:solidFill>
          <a:ln w="88900" cap="sq" cmpd="sng">
            <a:solidFill>
              <a:srgbClr val="FFFFFF"/>
            </a:solidFill>
            <a:prstDash val="solid"/>
            <a:miter lim="8000"/>
            <a:headEnd type="none" w="sm" len="sm"/>
            <a:tailEnd type="none" w="sm" len="sm"/>
          </a:ln>
          <a:effectLst>
            <a:outerShdw blurRad="55500" dist="18500" dir="5400000" algn="tl" rotWithShape="0">
              <a:srgbClr val="000000">
                <a:alpha val="34902"/>
              </a:srgbClr>
            </a:outerShdw>
          </a:effectLst>
        </p:spPr>
        <p:txBody>
          <a:bodyPr spcFirstLastPara="1" wrap="square" lIns="91425" tIns="274300" rIns="91425" bIns="45700" anchor="t" anchorCtr="0">
            <a:normAutofit/>
          </a:bodyPr>
          <a:lstStyle/>
          <a:p>
            <a:pPr marL="0" marR="0" lvl="0" indent="0" algn="l" rtl="0">
              <a:lnSpc>
                <a:spcPct val="94000"/>
              </a:lnSpc>
              <a:spcBef>
                <a:spcPts val="0"/>
              </a:spcBef>
              <a:spcAft>
                <a:spcPts val="0"/>
              </a:spcAft>
              <a:buClr>
                <a:schemeClr val="accent1"/>
              </a:buClr>
              <a:buSzPts val="2560"/>
              <a:buFont typeface="Noto Sans Symbols"/>
              <a:buNone/>
            </a:pPr>
            <a:endParaRPr sz="3200" b="0" i="0" u="none" strike="noStrike" cap="none">
              <a:solidFill>
                <a:schemeClr val="dk1"/>
              </a:solidFill>
              <a:latin typeface="Gill Sans"/>
              <a:ea typeface="Gill Sans"/>
              <a:cs typeface="Gill Sans"/>
              <a:sym typeface="Gill Sans"/>
            </a:endParaRPr>
          </a:p>
        </p:txBody>
      </p:sp>
      <p:sp>
        <p:nvSpPr>
          <p:cNvPr id="84" name="Google Shape;84;p22"/>
          <p:cNvSpPr>
            <a:spLocks noGrp="1"/>
          </p:cNvSpPr>
          <p:nvPr>
            <p:ph type="pic" idx="2"/>
          </p:nvPr>
        </p:nvSpPr>
        <p:spPr>
          <a:xfrm>
            <a:off x="1117600" y="1143004"/>
            <a:ext cx="5892800" cy="3514531"/>
          </a:xfrm>
          <a:prstGeom prst="roundRect">
            <a:avLst>
              <a:gd name="adj" fmla="val 783"/>
            </a:avLst>
          </a:prstGeom>
          <a:solidFill>
            <a:schemeClr val="lt2"/>
          </a:solidFill>
          <a:ln>
            <a:noFill/>
          </a:ln>
        </p:spPr>
      </p:sp>
      <p:sp>
        <p:nvSpPr>
          <p:cNvPr id="85" name="Google Shape;85;p22"/>
          <p:cNvSpPr/>
          <p:nvPr/>
        </p:nvSpPr>
        <p:spPr>
          <a:xfrm rot="-2131329">
            <a:off x="528967" y="954341"/>
            <a:ext cx="914400" cy="204310"/>
          </a:xfrm>
          <a:prstGeom prst="flowChartProcess">
            <a:avLst/>
          </a:prstGeom>
          <a:solidFill>
            <a:srgbClr val="FBFBFB">
              <a:alpha val="44706"/>
            </a:srgbClr>
          </a:solidFill>
          <a:ln w="9525" cap="rnd" cmpd="sng">
            <a:solidFill>
              <a:srgbClr val="FFFFFF"/>
            </a:solidFill>
            <a:prstDash val="solid"/>
            <a:round/>
            <a:headEnd type="none" w="sm" len="sm"/>
            <a:tailEnd type="none" w="sm" len="sm"/>
          </a:ln>
          <a:effectLst>
            <a:outerShdw blurRad="25400" dist="25400" dir="3300000" sx="96000" sy="96000" algn="tl" rotWithShape="0">
              <a:srgbClr val="EAD8B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86" name="Google Shape;86;p22"/>
          <p:cNvSpPr/>
          <p:nvPr/>
        </p:nvSpPr>
        <p:spPr>
          <a:xfrm rot="2103354" flipH="1">
            <a:off x="6671556" y="936786"/>
            <a:ext cx="865632" cy="204310"/>
          </a:xfrm>
          <a:prstGeom prst="flowChartProcess">
            <a:avLst/>
          </a:prstGeom>
          <a:solidFill>
            <a:srgbClr val="FBFBFB">
              <a:alpha val="44706"/>
            </a:srgbClr>
          </a:solidFill>
          <a:ln w="9525" cap="rnd" cmpd="sng">
            <a:solidFill>
              <a:srgbClr val="FFFFFF"/>
            </a:solidFill>
            <a:prstDash val="solid"/>
            <a:round/>
            <a:headEnd type="none" w="sm" len="sm"/>
            <a:tailEnd type="none" w="sm" len="sm"/>
          </a:ln>
          <a:effectLst>
            <a:outerShdw blurRad="25400" dist="25400" dir="3300000" sx="96000" sy="96000" algn="tl" rotWithShape="0">
              <a:schemeClr val="lt2">
                <a:alpha val="20000"/>
              </a:scheme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87" name="Google Shape;87;p22"/>
          <p:cNvSpPr txBox="1">
            <a:spLocks noGrp="1"/>
          </p:cNvSpPr>
          <p:nvPr>
            <p:ph type="body" idx="1"/>
          </p:nvPr>
        </p:nvSpPr>
        <p:spPr>
          <a:xfrm>
            <a:off x="1117600" y="4800600"/>
            <a:ext cx="5892800" cy="762000"/>
          </a:xfrm>
          <a:prstGeom prst="rect">
            <a:avLst/>
          </a:prstGeom>
          <a:noFill/>
          <a:ln>
            <a:noFill/>
          </a:ln>
        </p:spPr>
        <p:txBody>
          <a:bodyPr spcFirstLastPara="1" wrap="square" lIns="91425" tIns="45700" rIns="91425" bIns="45700" anchor="ctr" anchorCtr="0">
            <a:normAutofit/>
          </a:bodyPr>
          <a:lstStyle>
            <a:lvl1pPr marL="457200" lvl="0" indent="-228600" algn="l">
              <a:lnSpc>
                <a:spcPct val="114000"/>
              </a:lnSpc>
              <a:spcBef>
                <a:spcPts val="0"/>
              </a:spcBef>
              <a:spcAft>
                <a:spcPts val="0"/>
              </a:spcAft>
              <a:buSzPts val="1120"/>
              <a:buNone/>
              <a:defRPr sz="1400">
                <a:solidFill>
                  <a:srgbClr val="777777"/>
                </a:solidFill>
              </a:defRPr>
            </a:lvl1pPr>
            <a:lvl2pPr marL="914400" lvl="1" indent="-304800" algn="l">
              <a:lnSpc>
                <a:spcPct val="100000"/>
              </a:lnSpc>
              <a:spcBef>
                <a:spcPts val="550"/>
              </a:spcBef>
              <a:spcAft>
                <a:spcPts val="0"/>
              </a:spcAft>
              <a:buSzPts val="1200"/>
              <a:buChar char="◦"/>
              <a:defRPr sz="1200"/>
            </a:lvl2pPr>
            <a:lvl3pPr marL="1371600" lvl="2" indent="-292100" algn="l">
              <a:lnSpc>
                <a:spcPct val="100000"/>
              </a:lnSpc>
              <a:spcBef>
                <a:spcPts val="200"/>
              </a:spcBef>
              <a:spcAft>
                <a:spcPts val="0"/>
              </a:spcAft>
              <a:buSzPts val="1000"/>
              <a:buChar char="●"/>
              <a:defRPr sz="1000"/>
            </a:lvl3pPr>
            <a:lvl4pPr marL="1828800" lvl="3" indent="-285750" algn="l">
              <a:lnSpc>
                <a:spcPct val="100000"/>
              </a:lnSpc>
              <a:spcBef>
                <a:spcPts val="180"/>
              </a:spcBef>
              <a:spcAft>
                <a:spcPts val="0"/>
              </a:spcAft>
              <a:buSzPts val="900"/>
              <a:buChar char="●"/>
              <a:defRPr sz="900"/>
            </a:lvl4pPr>
            <a:lvl5pPr marL="2286000" lvl="4" indent="-285750" algn="l">
              <a:lnSpc>
                <a:spcPct val="100000"/>
              </a:lnSpc>
              <a:spcBef>
                <a:spcPts val="180"/>
              </a:spcBef>
              <a:spcAft>
                <a:spcPts val="0"/>
              </a:spcAft>
              <a:buSzPts val="900"/>
              <a:buChar char="●"/>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8"/>
        <p:cNvGrpSpPr/>
        <p:nvPr/>
      </p:nvGrpSpPr>
      <p:grpSpPr>
        <a:xfrm>
          <a:off x="0" y="0"/>
          <a:ext cx="0" cy="0"/>
          <a:chOff x="0" y="0"/>
          <a:chExt cx="0" cy="0"/>
        </a:xfrm>
      </p:grpSpPr>
      <p:sp>
        <p:nvSpPr>
          <p:cNvPr id="89" name="Google Shape;89;p23"/>
          <p:cNvSpPr txBox="1">
            <a:spLocks noGrp="1"/>
          </p:cNvSpPr>
          <p:nvPr>
            <p:ph type="title"/>
          </p:nvPr>
        </p:nvSpPr>
        <p:spPr>
          <a:xfrm>
            <a:off x="1914144" y="274638"/>
            <a:ext cx="9997440"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23"/>
          <p:cNvSpPr txBox="1">
            <a:spLocks noGrp="1"/>
          </p:cNvSpPr>
          <p:nvPr>
            <p:ph type="body" idx="1"/>
          </p:nvPr>
        </p:nvSpPr>
        <p:spPr>
          <a:xfrm rot="5400000">
            <a:off x="4512564" y="-1150620"/>
            <a:ext cx="4800600" cy="9997440"/>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91" name="Google Shape;91;p23"/>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3"/>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23"/>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4"/>
        <p:cNvGrpSpPr/>
        <p:nvPr/>
      </p:nvGrpSpPr>
      <p:grpSpPr>
        <a:xfrm>
          <a:off x="0" y="0"/>
          <a:ext cx="0" cy="0"/>
          <a:chOff x="0" y="0"/>
          <a:chExt cx="0" cy="0"/>
        </a:xfrm>
      </p:grpSpPr>
      <p:sp>
        <p:nvSpPr>
          <p:cNvPr id="95" name="Google Shape;95;p24"/>
          <p:cNvSpPr txBox="1">
            <a:spLocks noGrp="1"/>
          </p:cNvSpPr>
          <p:nvPr>
            <p:ph type="title"/>
          </p:nvPr>
        </p:nvSpPr>
        <p:spPr>
          <a:xfrm rot="5400000">
            <a:off x="7437438" y="1981203"/>
            <a:ext cx="5851525" cy="24384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24"/>
          <p:cNvSpPr txBox="1">
            <a:spLocks noGrp="1"/>
          </p:cNvSpPr>
          <p:nvPr>
            <p:ph type="body" idx="1"/>
          </p:nvPr>
        </p:nvSpPr>
        <p:spPr>
          <a:xfrm rot="5400000">
            <a:off x="2306638" y="-507996"/>
            <a:ext cx="5851525" cy="7416800"/>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97" name="Google Shape;97;p24"/>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4"/>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4"/>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alphaModFix/>
          </a:blip>
          <a:tile tx="0" ty="0" sx="90000" sy="90000" flip="xy" algn="tl"/>
        </a:blipFill>
        <a:effectLst/>
      </p:bgPr>
    </p:bg>
    <p:spTree>
      <p:nvGrpSpPr>
        <p:cNvPr id="1" name="Shape 9"/>
        <p:cNvGrpSpPr/>
        <p:nvPr/>
      </p:nvGrpSpPr>
      <p:grpSpPr>
        <a:xfrm>
          <a:off x="0" y="0"/>
          <a:ext cx="0" cy="0"/>
          <a:chOff x="0" y="0"/>
          <a:chExt cx="0" cy="0"/>
        </a:xfrm>
      </p:grpSpPr>
      <p:sp>
        <p:nvSpPr>
          <p:cNvPr id="10" name="Google Shape;10;p13"/>
          <p:cNvSpPr/>
          <p:nvPr/>
        </p:nvSpPr>
        <p:spPr>
          <a:xfrm>
            <a:off x="-1087902" y="-815922"/>
            <a:ext cx="2185183" cy="1638887"/>
          </a:xfrm>
          <a:prstGeom prst="pie">
            <a:avLst>
              <a:gd name="adj1" fmla="val 0"/>
              <a:gd name="adj2" fmla="val 5402120"/>
            </a:avLst>
          </a:prstGeom>
          <a:solidFill>
            <a:srgbClr val="FEF9F3">
              <a:alpha val="32941"/>
            </a:srgbClr>
          </a:solidFill>
          <a:ln w="9525" cap="rnd" cmpd="sng">
            <a:solidFill>
              <a:srgbClr val="D1C1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1" name="Google Shape;11;p13"/>
          <p:cNvSpPr/>
          <p:nvPr/>
        </p:nvSpPr>
        <p:spPr>
          <a:xfrm>
            <a:off x="225089" y="21103"/>
            <a:ext cx="2269588" cy="1702191"/>
          </a:xfrm>
          <a:prstGeom prst="ellipse">
            <a:avLst/>
          </a:prstGeom>
          <a:noFill/>
          <a:ln w="27300" cap="rnd" cmpd="sng">
            <a:solidFill>
              <a:srgbClr val="FFF5DB"/>
            </a:solidFill>
            <a:prstDash val="solid"/>
            <a:round/>
            <a:headEnd type="none" w="sm" len="sm"/>
            <a:tailEnd type="none" w="sm" len="sm"/>
          </a:ln>
          <a:effectLst>
            <a:outerShdw blurRad="25400" dist="25400" dir="5400000" algn="tl" rotWithShape="0">
              <a:srgbClr val="ADA48C">
                <a:alpha val="8470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2" name="Google Shape;12;p13"/>
          <p:cNvSpPr/>
          <p:nvPr/>
        </p:nvSpPr>
        <p:spPr>
          <a:xfrm rot="2315675">
            <a:off x="243842" y="1055077"/>
            <a:ext cx="1500956" cy="1102624"/>
          </a:xfrm>
          <a:prstGeom prst="donut">
            <a:avLst>
              <a:gd name="adj" fmla="val 11833"/>
            </a:avLst>
          </a:prstGeom>
          <a:gradFill>
            <a:gsLst>
              <a:gs pos="0">
                <a:srgbClr val="FEFBF4">
                  <a:alpha val="69804"/>
                </a:srgbClr>
              </a:gs>
              <a:gs pos="70000">
                <a:srgbClr val="FFFDF8">
                  <a:alpha val="54902"/>
                </a:srgbClr>
              </a:gs>
              <a:gs pos="100000">
                <a:srgbClr val="EDCF8C">
                  <a:alpha val="60000"/>
                </a:srgbClr>
              </a:gs>
            </a:gsLst>
            <a:path path="circle">
              <a:fillToRect r="100000" b="100000"/>
            </a:path>
            <a:tileRect l="-100000" t="-100000"/>
          </a:gradFill>
          <a:ln w="9525" cap="rnd" cmpd="sng">
            <a:solidFill>
              <a:srgbClr val="C5B390"/>
            </a:solidFill>
            <a:prstDash val="solid"/>
            <a:round/>
            <a:headEnd type="none" w="sm" len="sm"/>
            <a:tailEnd type="none" w="sm" len="sm"/>
          </a:ln>
          <a:effectLst>
            <a:outerShdw blurRad="12700" dist="15000" dir="4500000" algn="tl" rotWithShape="0">
              <a:srgbClr val="564E4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3" name="Google Shape;13;p13"/>
          <p:cNvSpPr/>
          <p:nvPr/>
        </p:nvSpPr>
        <p:spPr>
          <a:xfrm>
            <a:off x="1350498" y="-54"/>
            <a:ext cx="10841503" cy="685805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4" name="Google Shape;14;p13"/>
          <p:cNvSpPr txBox="1">
            <a:spLocks noGrp="1"/>
          </p:cNvSpPr>
          <p:nvPr>
            <p:ph type="title"/>
          </p:nvPr>
        </p:nvSpPr>
        <p:spPr>
          <a:xfrm>
            <a:off x="1914144" y="274638"/>
            <a:ext cx="9997440"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562214"/>
              </a:buClr>
              <a:buSzPts val="4300"/>
              <a:buFont typeface="Gill Sans"/>
              <a:buNone/>
              <a:defRPr sz="4300" b="0" i="0" u="none" strike="noStrike" cap="none">
                <a:solidFill>
                  <a:srgbClr val="562214"/>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 name="Google Shape;15;p13"/>
          <p:cNvSpPr txBox="1">
            <a:spLocks noGrp="1"/>
          </p:cNvSpPr>
          <p:nvPr>
            <p:ph type="body" idx="1"/>
          </p:nvPr>
        </p:nvSpPr>
        <p:spPr>
          <a:xfrm>
            <a:off x="1914144" y="1447800"/>
            <a:ext cx="9997440" cy="4800600"/>
          </a:xfrm>
          <a:prstGeom prst="rect">
            <a:avLst/>
          </a:prstGeom>
          <a:noFill/>
          <a:ln>
            <a:noFill/>
          </a:ln>
        </p:spPr>
        <p:txBody>
          <a:bodyPr spcFirstLastPara="1" wrap="square" lIns="91425" tIns="45700" rIns="91425" bIns="45700" anchor="t" anchorCtr="0">
            <a:normAutofit/>
          </a:bodyPr>
          <a:lstStyle>
            <a:lvl1pPr marL="457200" marR="0" lvl="0" indent="-391160" algn="l" rtl="0">
              <a:lnSpc>
                <a:spcPct val="100000"/>
              </a:lnSpc>
              <a:spcBef>
                <a:spcPts val="600"/>
              </a:spcBef>
              <a:spcAft>
                <a:spcPts val="0"/>
              </a:spcAft>
              <a:buClr>
                <a:schemeClr val="accent1"/>
              </a:buClr>
              <a:buSzPts val="2560"/>
              <a:buFont typeface="Noto Sans Symbols"/>
              <a:buChar char="⚫"/>
              <a:defRPr sz="3200" b="0" i="0" u="none" strike="noStrike" cap="none">
                <a:solidFill>
                  <a:schemeClr val="dk1"/>
                </a:solidFill>
                <a:latin typeface="Gill Sans"/>
                <a:ea typeface="Gill Sans"/>
                <a:cs typeface="Gill Sans"/>
                <a:sym typeface="Gill Sans"/>
              </a:defRPr>
            </a:lvl1pPr>
            <a:lvl2pPr marL="914400" marR="0" lvl="1" indent="-406400" algn="l" rtl="0">
              <a:lnSpc>
                <a:spcPct val="100000"/>
              </a:lnSpc>
              <a:spcBef>
                <a:spcPts val="550"/>
              </a:spcBef>
              <a:spcAft>
                <a:spcPts val="0"/>
              </a:spcAft>
              <a:buClr>
                <a:schemeClr val="accent1"/>
              </a:buClr>
              <a:buSzPts val="2800"/>
              <a:buFont typeface="Verdana"/>
              <a:buChar char="◦"/>
              <a:defRPr sz="2800" b="0" i="0" u="none" strike="noStrike" cap="none">
                <a:solidFill>
                  <a:schemeClr val="dk1"/>
                </a:solidFill>
                <a:latin typeface="Gill Sans"/>
                <a:ea typeface="Gill Sans"/>
                <a:cs typeface="Gill Sans"/>
                <a:sym typeface="Gill Sans"/>
              </a:defRPr>
            </a:lvl2pPr>
            <a:lvl3pPr marL="1371600" marR="0" lvl="2" indent="-381000" algn="l" rtl="0">
              <a:lnSpc>
                <a:spcPct val="100000"/>
              </a:lnSpc>
              <a:spcBef>
                <a:spcPts val="480"/>
              </a:spcBef>
              <a:spcAft>
                <a:spcPts val="0"/>
              </a:spcAft>
              <a:buClr>
                <a:schemeClr val="accent2"/>
              </a:buClr>
              <a:buSzPts val="2400"/>
              <a:buFont typeface="Noto Sans Symbols"/>
              <a:buChar char="●"/>
              <a:defRPr sz="2400" b="0" i="0" u="none" strike="noStrike" cap="none">
                <a:solidFill>
                  <a:schemeClr val="dk1"/>
                </a:solidFill>
                <a:latin typeface="Gill Sans"/>
                <a:ea typeface="Gill Sans"/>
                <a:cs typeface="Gill Sans"/>
                <a:sym typeface="Gill Sans"/>
              </a:defRPr>
            </a:lvl3pPr>
            <a:lvl4pPr marL="1828800" marR="0" lvl="3" indent="-355600" algn="l" rtl="0">
              <a:lnSpc>
                <a:spcPct val="100000"/>
              </a:lnSpc>
              <a:spcBef>
                <a:spcPts val="400"/>
              </a:spcBef>
              <a:spcAft>
                <a:spcPts val="0"/>
              </a:spcAft>
              <a:buClr>
                <a:schemeClr val="accent3"/>
              </a:buClr>
              <a:buSzPts val="2000"/>
              <a:buFont typeface="Noto Sans Symbols"/>
              <a:buChar char="●"/>
              <a:defRPr sz="2000" b="0" i="0" u="none" strike="noStrike" cap="none">
                <a:solidFill>
                  <a:schemeClr val="dk1"/>
                </a:solidFill>
                <a:latin typeface="Gill Sans"/>
                <a:ea typeface="Gill Sans"/>
                <a:cs typeface="Gill Sans"/>
                <a:sym typeface="Gill Sans"/>
              </a:defRPr>
            </a:lvl4pPr>
            <a:lvl5pPr marL="2286000" marR="0" lvl="4" indent="-355600" algn="l" rtl="0">
              <a:lnSpc>
                <a:spcPct val="100000"/>
              </a:lnSpc>
              <a:spcBef>
                <a:spcPts val="400"/>
              </a:spcBef>
              <a:spcAft>
                <a:spcPts val="0"/>
              </a:spcAft>
              <a:buClr>
                <a:schemeClr val="accent4"/>
              </a:buClr>
              <a:buSzPts val="2000"/>
              <a:buFont typeface="Noto Sans Symbols"/>
              <a:buChar char="●"/>
              <a:defRPr sz="2000" b="0" i="0" u="none" strike="noStrike" cap="none">
                <a:solidFill>
                  <a:schemeClr val="dk1"/>
                </a:solidFill>
                <a:latin typeface="Gill Sans"/>
                <a:ea typeface="Gill Sans"/>
                <a:cs typeface="Gill Sans"/>
                <a:sym typeface="Gill Sans"/>
              </a:defRPr>
            </a:lvl5pPr>
            <a:lvl6pPr marL="2743200" marR="0" lvl="5" indent="-355600" algn="l" rtl="0">
              <a:lnSpc>
                <a:spcPct val="100000"/>
              </a:lnSpc>
              <a:spcBef>
                <a:spcPts val="400"/>
              </a:spcBef>
              <a:spcAft>
                <a:spcPts val="0"/>
              </a:spcAft>
              <a:buClr>
                <a:schemeClr val="accent5"/>
              </a:buClr>
              <a:buSzPts val="2000"/>
              <a:buFont typeface="Noto Sans Symbols"/>
              <a:buChar char="●"/>
              <a:defRPr sz="2000" b="0" i="0" u="none" strike="noStrike" cap="none">
                <a:solidFill>
                  <a:schemeClr val="dk1"/>
                </a:solidFill>
                <a:latin typeface="Gill Sans"/>
                <a:ea typeface="Gill Sans"/>
                <a:cs typeface="Gill Sans"/>
                <a:sym typeface="Gill Sans"/>
              </a:defRPr>
            </a:lvl6pPr>
            <a:lvl7pPr marL="3200400" marR="0" lvl="6"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7pPr>
            <a:lvl8pPr marL="3657600" marR="0" lvl="7"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8pPr>
            <a:lvl9pPr marL="4114800" marR="0" lvl="8"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9pPr>
          </a:lstStyle>
          <a:p>
            <a:endParaRPr/>
          </a:p>
        </p:txBody>
      </p:sp>
      <p:sp>
        <p:nvSpPr>
          <p:cNvPr id="16" name="Google Shape;16;p13"/>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B3A787"/>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7" name="Google Shape;17;p13"/>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B3A787"/>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8" name="Google Shape;18;p13"/>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lvl1pPr marL="0" marR="0" lvl="0" indent="0" algn="ctr" rtl="0">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1pPr>
            <a:lvl2pPr marL="0" marR="0" lvl="1" indent="0" algn="ctr" rtl="0">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2pPr>
            <a:lvl3pPr marL="0" marR="0" lvl="2" indent="0" algn="ctr" rtl="0">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3pPr>
            <a:lvl4pPr marL="0" marR="0" lvl="3" indent="0" algn="ctr" rtl="0">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4pPr>
            <a:lvl5pPr marL="0" marR="0" lvl="4" indent="0" algn="ctr" rtl="0">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5pPr>
            <a:lvl6pPr marL="0" marR="0" lvl="5" indent="0" algn="ctr" rtl="0">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6pPr>
            <a:lvl7pPr marL="0" marR="0" lvl="6" indent="0" algn="ctr" rtl="0">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7pPr>
            <a:lvl8pPr marL="0" marR="0" lvl="7" indent="0" algn="ctr" rtl="0">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8pPr>
            <a:lvl9pPr marL="0" marR="0" lvl="8" indent="0" algn="ctr" rtl="0">
              <a:lnSpc>
                <a:spcPct val="100000"/>
              </a:lnSpc>
              <a:spcBef>
                <a:spcPts val="0"/>
              </a:spcBef>
              <a:spcAft>
                <a:spcPts val="0"/>
              </a:spcAft>
              <a:buClr>
                <a:srgbClr val="000000"/>
              </a:buClr>
              <a:buSzPts val="1200"/>
              <a:buFont typeface="Arial"/>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
        <p:nvSpPr>
          <p:cNvPr id="19" name="Google Shape;19;p13"/>
          <p:cNvSpPr/>
          <p:nvPr/>
        </p:nvSpPr>
        <p:spPr>
          <a:xfrm>
            <a:off x="1353312" y="-54"/>
            <a:ext cx="97536" cy="6858054"/>
          </a:xfrm>
          <a:prstGeom prst="rect">
            <a:avLst/>
          </a:prstGeom>
          <a:solidFill>
            <a:schemeClr val="lt1"/>
          </a:solidFill>
          <a:ln>
            <a:noFill/>
          </a:ln>
          <a:effectLst>
            <a:outerShdw blurRad="38550" dist="38000" dir="10800000" algn="tl" rotWithShape="0">
              <a:srgbClr val="6F6A5F">
                <a:alpha val="2470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
          <p:cNvSpPr txBox="1">
            <a:spLocks noGrp="1"/>
          </p:cNvSpPr>
          <p:nvPr>
            <p:ph type="subTitle" idx="1"/>
          </p:nvPr>
        </p:nvSpPr>
        <p:spPr>
          <a:xfrm>
            <a:off x="1737360" y="3246120"/>
            <a:ext cx="10058400" cy="2194560"/>
          </a:xfrm>
          <a:prstGeom prst="rect">
            <a:avLst/>
          </a:prstGeom>
          <a:noFill/>
          <a:ln>
            <a:noFill/>
          </a:ln>
        </p:spPr>
        <p:txBody>
          <a:bodyPr spcFirstLastPara="1" wrap="square" lIns="91425" tIns="0" rIns="91425" bIns="45700" anchor="t" anchorCtr="0">
            <a:noAutofit/>
          </a:bodyPr>
          <a:lstStyle/>
          <a:p>
            <a:pPr marL="0" indent="0" algn="l">
              <a:spcBef>
                <a:spcPts val="0"/>
              </a:spcBef>
              <a:spcAft>
                <a:spcPts val="2200"/>
              </a:spcAft>
              <a:buNone/>
            </a:pPr>
            <a:r>
              <a:rPr sz="1600" b="0" i="0">
                <a:solidFill>
                  <a:srgbClr val="222222"/>
                </a:solidFill>
                <a:latin typeface="Times New Roman"/>
                <a:ea typeface="Times New Roman"/>
                <a:cs typeface="Times New Roman"/>
                <a:sym typeface="Times New Roman"/>
              </a:rPr>
              <a:t>Submitted By:    Nihir Jain, Onik Jain, Prerna Jangid, Palak</a:t>
            </a:r>
          </a:p>
          <a:p>
            <a:pPr marL="0" indent="0" algn="l">
              <a:spcBef>
                <a:spcPts val="0"/>
              </a:spcBef>
              <a:spcAft>
                <a:spcPts val="0"/>
              </a:spcAft>
              <a:buNone/>
            </a:pPr>
            <a:r>
              <a:rPr sz="1600" b="0" i="0">
                <a:solidFill>
                  <a:srgbClr val="FF0000"/>
                </a:solidFill>
                <a:latin typeface="Times New Roman"/>
                <a:ea typeface="Times New Roman"/>
                <a:cs typeface="Times New Roman"/>
                <a:sym typeface="Times New Roman"/>
              </a:rPr>
              <a:t>Project Supervisor:</a:t>
            </a:r>
          </a:p>
          <a:p>
            <a:pPr marL="0" indent="0" algn="l">
              <a:spcBef>
                <a:spcPts val="0"/>
              </a:spcBef>
              <a:spcAft>
                <a:spcPts val="0"/>
              </a:spcAft>
              <a:buNone/>
            </a:pPr>
            <a:r>
              <a:rPr sz="1600" b="0" i="0">
                <a:solidFill>
                  <a:srgbClr val="FF0000"/>
                </a:solidFill>
                <a:latin typeface="Times New Roman"/>
                <a:ea typeface="Times New Roman"/>
                <a:cs typeface="Times New Roman"/>
                <a:sym typeface="Times New Roman"/>
              </a:rPr>
              <a:t>Dr. Brijraj Singh Solanki</a:t>
            </a:r>
          </a:p>
          <a:p>
            <a:pPr marL="0" indent="0" algn="l">
              <a:spcBef>
                <a:spcPts val="0"/>
              </a:spcBef>
              <a:spcAft>
                <a:spcPts val="0"/>
              </a:spcAft>
              <a:buNone/>
            </a:pPr>
            <a:r>
              <a:rPr sz="1600" b="0" i="0">
                <a:solidFill>
                  <a:srgbClr val="FF0000"/>
                </a:solidFill>
                <a:latin typeface="Times New Roman"/>
                <a:ea typeface="Times New Roman"/>
                <a:cs typeface="Times New Roman"/>
                <a:sym typeface="Times New Roman"/>
              </a:rPr>
              <a:t>Assistant Professor</a:t>
            </a:r>
          </a:p>
          <a:p>
            <a:pPr marL="0" indent="0" algn="l">
              <a:spcBef>
                <a:spcPts val="0"/>
              </a:spcBef>
              <a:spcAft>
                <a:spcPts val="400"/>
              </a:spcAft>
              <a:buNone/>
            </a:pPr>
            <a:r>
              <a:rPr sz="1600" b="0" i="0">
                <a:solidFill>
                  <a:srgbClr val="222222"/>
                </a:solidFill>
                <a:latin typeface="Times New Roman"/>
                <a:ea typeface="Times New Roman"/>
                <a:cs typeface="Times New Roman"/>
                <a:sym typeface="Times New Roman"/>
              </a:rPr>
              <a:t>Department of Computer Engineering</a:t>
            </a:r>
          </a:p>
        </p:txBody>
      </p:sp>
      <p:sp>
        <p:nvSpPr>
          <p:cNvPr id="106" name="Google Shape;106;p1"/>
          <p:cNvSpPr txBox="1"/>
          <p:nvPr/>
        </p:nvSpPr>
        <p:spPr>
          <a:xfrm>
            <a:off x="1737360" y="1828800"/>
            <a:ext cx="10149840" cy="1188720"/>
          </a:xfrm>
          <a:prstGeom prst="rect">
            <a:avLst/>
          </a:prstGeom>
          <a:noFill/>
          <a:ln>
            <a:noFill/>
          </a:ln>
        </p:spPr>
        <p:txBody>
          <a:bodyPr spcFirstLastPara="1" wrap="square" lIns="91425" tIns="45700" rIns="91425" bIns="45700" anchor="ctr" anchorCtr="0">
            <a:normAutofit lnSpcReduction="10000"/>
          </a:bodyPr>
          <a:lstStyle/>
          <a:p>
            <a:pPr marL="0" indent="0" algn="ctr">
              <a:spcBef>
                <a:spcPts val="0"/>
              </a:spcBef>
              <a:spcAft>
                <a:spcPts val="400"/>
              </a:spcAft>
              <a:buNone/>
            </a:pPr>
            <a:r>
              <a:rPr sz="2400" b="1" i="0">
                <a:solidFill>
                  <a:srgbClr val="318C9C"/>
                </a:solidFill>
                <a:latin typeface="Times New Roman"/>
                <a:ea typeface="Times New Roman"/>
                <a:cs typeface="Times New Roman"/>
                <a:sym typeface="Times New Roman"/>
              </a:rPr>
              <a:t>Project Title: Comprehensive Cloud-Based Practice Management &amp; Nutrient Analysis Software for Ayurvedic Dietitians, Tailored for Ayurveda-Focused Diet Plans</a:t>
            </a:r>
          </a:p>
        </p:txBody>
      </p:sp>
      <p:pic>
        <p:nvPicPr>
          <p:cNvPr id="107" name="Google Shape;107;p1"/>
          <p:cNvPicPr preferRelativeResize="0"/>
          <p:nvPr/>
        </p:nvPicPr>
        <p:blipFill rotWithShape="1">
          <a:blip r:embed="rId3">
            <a:alphaModFix/>
          </a:blip>
          <a:srcRect/>
          <a:stretch/>
        </p:blipFill>
        <p:spPr>
          <a:xfrm>
            <a:off x="2482571" y="203047"/>
            <a:ext cx="8272515" cy="1536325"/>
          </a:xfrm>
          <a:prstGeom prst="rect">
            <a:avLst/>
          </a:prstGeom>
          <a:noFill/>
          <a:ln>
            <a:noFill/>
          </a:ln>
        </p:spPr>
      </p:pic>
      <p:sp>
        <p:nvSpPr>
          <p:cNvPr id="108" name="Academic Year"/>
          <p:cNvSpPr txBox="1"/>
          <p:nvPr/>
        </p:nvSpPr>
        <p:spPr>
          <a:xfrm>
            <a:off x="1737360" y="5623560"/>
            <a:ext cx="5486400" cy="320040"/>
          </a:xfrm>
          <a:prstGeom prst="rect">
            <a:avLst/>
          </a:prstGeom>
          <a:noFill/>
        </p:spPr>
        <p:txBody>
          <a:bodyPr wrap="square" lIns="45720" rIns="45720" anchor="t">
            <a:spAutoFit/>
          </a:bodyPr>
          <a:lstStyle/>
          <a:p>
            <a:pPr marL="0" indent="0" algn="l">
              <a:spcBef>
                <a:spcPts val="0"/>
              </a:spcBef>
              <a:spcAft>
                <a:spcPts val="400"/>
              </a:spcAft>
              <a:buNone/>
            </a:pPr>
            <a:r>
              <a:rPr sz="1200" b="0" i="0">
                <a:solidFill>
                  <a:srgbClr val="222222"/>
                </a:solidFill>
                <a:latin typeface="Times New Roman"/>
                <a:ea typeface="Times New Roman"/>
                <a:cs typeface="Times New Roman"/>
                <a:sym typeface="Times New Roman"/>
              </a:rPr>
              <a:t>Academic Year: 2026-2027</a:t>
            </a:r>
          </a:p>
        </p:txBody>
      </p:sp>
      <p:sp>
        <p:nvSpPr>
          <p:cNvPr id="109" name="Subject"/>
          <p:cNvSpPr txBox="1"/>
          <p:nvPr/>
        </p:nvSpPr>
        <p:spPr>
          <a:xfrm>
            <a:off x="7223760" y="5623560"/>
            <a:ext cx="4572000" cy="320040"/>
          </a:xfrm>
          <a:prstGeom prst="rect">
            <a:avLst/>
          </a:prstGeom>
          <a:noFill/>
        </p:spPr>
        <p:txBody>
          <a:bodyPr wrap="square" lIns="45720" rIns="45720" anchor="t">
            <a:spAutoFit/>
          </a:bodyPr>
          <a:lstStyle/>
          <a:p>
            <a:pPr marL="0" indent="0" algn="r">
              <a:spcBef>
                <a:spcPts val="0"/>
              </a:spcBef>
              <a:spcAft>
                <a:spcPts val="400"/>
              </a:spcAft>
              <a:buNone/>
            </a:pPr>
            <a:r>
              <a:rPr sz="1200" b="0" i="0">
                <a:solidFill>
                  <a:srgbClr val="222222"/>
                </a:solidFill>
                <a:latin typeface="Times New Roman"/>
                <a:ea typeface="Times New Roman"/>
                <a:cs typeface="Times New Roman"/>
                <a:sym typeface="Times New Roman"/>
              </a:rPr>
              <a:t>Subject: NSP Project</a:t>
            </a:r>
          </a:p>
        </p:txBody>
      </p:sp>
      <p:sp>
        <p:nvSpPr>
          <p:cNvPr id="110" name="Dept"/>
          <p:cNvSpPr txBox="1"/>
          <p:nvPr/>
        </p:nvSpPr>
        <p:spPr>
          <a:xfrm>
            <a:off x="1737360" y="6080760"/>
            <a:ext cx="10058400" cy="320040"/>
          </a:xfrm>
          <a:prstGeom prst="rect">
            <a:avLst/>
          </a:prstGeom>
          <a:noFill/>
        </p:spPr>
        <p:txBody>
          <a:bodyPr wrap="square" lIns="45720" rIns="45720" anchor="t">
            <a:spAutoFit/>
          </a:bodyPr>
          <a:lstStyle/>
          <a:p>
            <a:pPr marL="0" indent="0" algn="ctr">
              <a:spcBef>
                <a:spcPts val="0"/>
              </a:spcBef>
              <a:spcAft>
                <a:spcPts val="400"/>
              </a:spcAft>
              <a:buNone/>
            </a:pPr>
            <a:r>
              <a:rPr sz="1200" b="0" i="0">
                <a:solidFill>
                  <a:srgbClr val="222222"/>
                </a:solidFill>
                <a:latin typeface="Times New Roman"/>
                <a:ea typeface="Times New Roman"/>
                <a:cs typeface="Times New Roman"/>
                <a:sym typeface="Times New Roman"/>
              </a:rPr>
              <a:t>Department of Computer Engineering, PCE, Jaipur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
          <p:cNvSpPr txBox="1">
            <a:spLocks noGrp="1"/>
          </p:cNvSpPr>
          <p:nvPr>
            <p:ph type="title"/>
          </p:nvPr>
        </p:nvSpPr>
        <p:spPr>
          <a:xfrm>
            <a:off x="1828800" y="274320"/>
            <a:ext cx="9966960" cy="777240"/>
          </a:xfrm>
          <a:prstGeom prst="rect">
            <a:avLst/>
          </a:prstGeom>
          <a:noFill/>
          <a:ln>
            <a:noFill/>
          </a:ln>
        </p:spPr>
        <p:txBody>
          <a:bodyPr spcFirstLastPara="1" wrap="square" lIns="45720" tIns="45700" rIns="91425" bIns="45700" anchor="ctr" anchorCtr="0">
            <a:noAutofit/>
          </a:bodyPr>
          <a:lstStyle/>
          <a:p>
            <a:pPr marL="0" indent="0" algn="l">
              <a:spcBef>
                <a:spcPts val="0"/>
              </a:spcBef>
              <a:spcAft>
                <a:spcPts val="400"/>
              </a:spcAft>
              <a:buNone/>
            </a:pPr>
            <a:r>
              <a:rPr sz="3600" b="1" i="0">
                <a:solidFill>
                  <a:srgbClr val="562214"/>
                </a:solidFill>
                <a:latin typeface="Times New Roman"/>
                <a:ea typeface="Times New Roman"/>
                <a:cs typeface="Times New Roman"/>
                <a:sym typeface="Times New Roman"/>
              </a:rPr>
              <a:t>CONTENTS</a:t>
            </a:r>
          </a:p>
        </p:txBody>
      </p:sp>
      <p:pic>
        <p:nvPicPr>
          <p:cNvPr id="113" name="Google Shape;113;p2"/>
          <p:cNvPicPr preferRelativeResize="0">
            <a:picLocks noGrp="1"/>
          </p:cNvPicPr>
          <p:nvPr>
            <p:ph type="body" idx="1"/>
          </p:nvPr>
        </p:nvPicPr>
        <p:blipFill rotWithShape="1">
          <a:blip r:embed="rId3">
            <a:alphaModFix/>
          </a:blip>
          <a:srcRect/>
          <a:stretch/>
        </p:blipFill>
        <p:spPr>
          <a:xfrm>
            <a:off x="8050784" y="1141973"/>
            <a:ext cx="3860800" cy="4800600"/>
          </a:xfrm>
          <a:prstGeom prst="rect">
            <a:avLst/>
          </a:prstGeom>
          <a:noFill/>
          <a:ln>
            <a:noFill/>
          </a:ln>
        </p:spPr>
      </p:pic>
      <p:sp>
        <p:nvSpPr>
          <p:cNvPr id="114" name="Google Shape;114;p2"/>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2</a:t>
            </a:fld>
            <a:endParaRPr/>
          </a:p>
        </p:txBody>
      </p:sp>
      <p:sp>
        <p:nvSpPr>
          <p:cNvPr id="115" name="Google Shape;115;p2"/>
          <p:cNvSpPr txBox="1"/>
          <p:nvPr/>
        </p:nvSpPr>
        <p:spPr>
          <a:xfrm>
            <a:off x="1920240" y="1280160"/>
            <a:ext cx="5669280" cy="4572000"/>
          </a:xfrm>
          <a:prstGeom prst="rect">
            <a:avLst/>
          </a:prstGeom>
          <a:noFill/>
          <a:ln>
            <a:noFill/>
          </a:ln>
        </p:spPr>
        <p:txBody>
          <a:bodyPr spcFirstLastPara="1" wrap="square" lIns="91425" tIns="45700" rIns="91425" bIns="45700" anchor="t" anchorCtr="0">
            <a:spAutoFit/>
          </a:bodyPr>
          <a:lstStyle/>
          <a:p>
            <a:pPr marL="0" indent="0" algn="l">
              <a:spcBef>
                <a:spcPts val="0"/>
              </a:spcBef>
              <a:spcAft>
                <a:spcPts val="900"/>
              </a:spcAft>
              <a:buNone/>
            </a:pPr>
            <a:r>
              <a:rPr sz="1800" b="1" i="0">
                <a:solidFill>
                  <a:srgbClr val="3E6B2F"/>
                </a:solidFill>
                <a:latin typeface="Times New Roman"/>
                <a:ea typeface="Times New Roman"/>
                <a:cs typeface="Times New Roman"/>
                <a:sym typeface="Times New Roman"/>
              </a:rPr>
              <a:t>01   </a:t>
            </a:r>
            <a:r>
              <a:rPr sz="1800" b="0" i="0">
                <a:solidFill>
                  <a:srgbClr val="222222"/>
                </a:solidFill>
                <a:latin typeface="Times New Roman"/>
                <a:ea typeface="Times New Roman"/>
                <a:cs typeface="Times New Roman"/>
                <a:sym typeface="Times New Roman"/>
              </a:rPr>
              <a:t>Abstract</a:t>
            </a:r>
          </a:p>
          <a:p>
            <a:pPr marL="0" indent="0" algn="l">
              <a:spcBef>
                <a:spcPts val="0"/>
              </a:spcBef>
              <a:spcAft>
                <a:spcPts val="900"/>
              </a:spcAft>
              <a:buNone/>
            </a:pPr>
            <a:r>
              <a:rPr sz="1800" b="1" i="0">
                <a:solidFill>
                  <a:srgbClr val="3E6B2F"/>
                </a:solidFill>
                <a:latin typeface="Times New Roman"/>
                <a:ea typeface="Times New Roman"/>
                <a:cs typeface="Times New Roman"/>
                <a:sym typeface="Times New Roman"/>
              </a:rPr>
              <a:t>02   </a:t>
            </a:r>
            <a:r>
              <a:rPr sz="1800" b="0" i="0">
                <a:solidFill>
                  <a:srgbClr val="222222"/>
                </a:solidFill>
                <a:latin typeface="Times New Roman"/>
                <a:ea typeface="Times New Roman"/>
                <a:cs typeface="Times New Roman"/>
                <a:sym typeface="Times New Roman"/>
              </a:rPr>
              <a:t>Literature Review</a:t>
            </a:r>
          </a:p>
          <a:p>
            <a:pPr marL="0" indent="0" algn="l">
              <a:spcBef>
                <a:spcPts val="0"/>
              </a:spcBef>
              <a:spcAft>
                <a:spcPts val="900"/>
              </a:spcAft>
              <a:buNone/>
            </a:pPr>
            <a:r>
              <a:rPr sz="1800" b="1" i="0">
                <a:solidFill>
                  <a:srgbClr val="3E6B2F"/>
                </a:solidFill>
                <a:latin typeface="Times New Roman"/>
                <a:ea typeface="Times New Roman"/>
                <a:cs typeface="Times New Roman"/>
                <a:sym typeface="Times New Roman"/>
              </a:rPr>
              <a:t>03   </a:t>
            </a:r>
            <a:r>
              <a:rPr sz="1800" b="0" i="0">
                <a:solidFill>
                  <a:srgbClr val="222222"/>
                </a:solidFill>
                <a:latin typeface="Times New Roman"/>
                <a:ea typeface="Times New Roman"/>
                <a:cs typeface="Times New Roman"/>
                <a:sym typeface="Times New Roman"/>
              </a:rPr>
              <a:t>Comparison Table</a:t>
            </a:r>
          </a:p>
          <a:p>
            <a:pPr marL="0" indent="0" algn="l">
              <a:spcBef>
                <a:spcPts val="0"/>
              </a:spcBef>
              <a:spcAft>
                <a:spcPts val="900"/>
              </a:spcAft>
              <a:buNone/>
            </a:pPr>
            <a:r>
              <a:rPr sz="1800" b="1" i="0">
                <a:solidFill>
                  <a:srgbClr val="3E6B2F"/>
                </a:solidFill>
                <a:latin typeface="Times New Roman"/>
                <a:ea typeface="Times New Roman"/>
                <a:cs typeface="Times New Roman"/>
                <a:sym typeface="Times New Roman"/>
              </a:rPr>
              <a:t>04   </a:t>
            </a:r>
            <a:r>
              <a:rPr sz="1800" b="0" i="0">
                <a:solidFill>
                  <a:srgbClr val="222222"/>
                </a:solidFill>
                <a:latin typeface="Times New Roman"/>
                <a:ea typeface="Times New Roman"/>
                <a:cs typeface="Times New Roman"/>
                <a:sym typeface="Times New Roman"/>
              </a:rPr>
              <a:t>Problem Statement and Objective</a:t>
            </a:r>
          </a:p>
          <a:p>
            <a:pPr marL="0" indent="0" algn="l">
              <a:spcBef>
                <a:spcPts val="0"/>
              </a:spcBef>
              <a:spcAft>
                <a:spcPts val="900"/>
              </a:spcAft>
              <a:buNone/>
            </a:pPr>
            <a:r>
              <a:rPr sz="1800" b="1" i="0">
                <a:solidFill>
                  <a:srgbClr val="3E6B2F"/>
                </a:solidFill>
                <a:latin typeface="Times New Roman"/>
                <a:ea typeface="Times New Roman"/>
                <a:cs typeface="Times New Roman"/>
                <a:sym typeface="Times New Roman"/>
              </a:rPr>
              <a:t>05   </a:t>
            </a:r>
            <a:r>
              <a:rPr sz="1800" b="0" i="0">
                <a:solidFill>
                  <a:srgbClr val="222222"/>
                </a:solidFill>
                <a:latin typeface="Times New Roman"/>
                <a:ea typeface="Times New Roman"/>
                <a:cs typeface="Times New Roman"/>
                <a:sym typeface="Times New Roman"/>
              </a:rPr>
              <a:t>Design of Solution</a:t>
            </a:r>
          </a:p>
          <a:p>
            <a:pPr marL="0" indent="0" algn="l">
              <a:spcBef>
                <a:spcPts val="0"/>
              </a:spcBef>
              <a:spcAft>
                <a:spcPts val="900"/>
              </a:spcAft>
              <a:buNone/>
            </a:pPr>
            <a:r>
              <a:rPr sz="1800" b="1" i="0">
                <a:solidFill>
                  <a:srgbClr val="3E6B2F"/>
                </a:solidFill>
                <a:latin typeface="Times New Roman"/>
                <a:ea typeface="Times New Roman"/>
                <a:cs typeface="Times New Roman"/>
                <a:sym typeface="Times New Roman"/>
              </a:rPr>
              <a:t>06   </a:t>
            </a:r>
            <a:r>
              <a:rPr sz="1800" b="0" i="0">
                <a:solidFill>
                  <a:srgbClr val="222222"/>
                </a:solidFill>
                <a:latin typeface="Times New Roman"/>
                <a:ea typeface="Times New Roman"/>
                <a:cs typeface="Times New Roman"/>
                <a:sym typeface="Times New Roman"/>
              </a:rPr>
              <a:t>Experimental Setup &amp; Variance</a:t>
            </a:r>
          </a:p>
          <a:p>
            <a:pPr marL="0" indent="0" algn="l">
              <a:spcBef>
                <a:spcPts val="0"/>
              </a:spcBef>
              <a:spcAft>
                <a:spcPts val="900"/>
              </a:spcAft>
              <a:buNone/>
            </a:pPr>
            <a:r>
              <a:rPr sz="1800" b="1" i="0">
                <a:solidFill>
                  <a:srgbClr val="3E6B2F"/>
                </a:solidFill>
                <a:latin typeface="Times New Roman"/>
                <a:ea typeface="Times New Roman"/>
                <a:cs typeface="Times New Roman"/>
                <a:sym typeface="Times New Roman"/>
              </a:rPr>
              <a:t>07   </a:t>
            </a:r>
            <a:r>
              <a:rPr sz="1800" b="0" i="0">
                <a:solidFill>
                  <a:srgbClr val="222222"/>
                </a:solidFill>
                <a:latin typeface="Times New Roman"/>
                <a:ea typeface="Times New Roman"/>
                <a:cs typeface="Times New Roman"/>
                <a:sym typeface="Times New Roman"/>
              </a:rPr>
              <a:t>Results &amp; Discussion</a:t>
            </a:r>
          </a:p>
          <a:p>
            <a:pPr marL="0" indent="0" algn="l">
              <a:spcBef>
                <a:spcPts val="0"/>
              </a:spcBef>
              <a:spcAft>
                <a:spcPts val="900"/>
              </a:spcAft>
              <a:buNone/>
            </a:pPr>
            <a:r>
              <a:rPr sz="1800" b="1" i="0">
                <a:solidFill>
                  <a:srgbClr val="3E6B2F"/>
                </a:solidFill>
                <a:latin typeface="Times New Roman"/>
                <a:ea typeface="Times New Roman"/>
                <a:cs typeface="Times New Roman"/>
                <a:sym typeface="Times New Roman"/>
              </a:rPr>
              <a:t>08   </a:t>
            </a:r>
            <a:r>
              <a:rPr sz="1800" b="0" i="0">
                <a:solidFill>
                  <a:srgbClr val="222222"/>
                </a:solidFill>
                <a:latin typeface="Times New Roman"/>
                <a:ea typeface="Times New Roman"/>
                <a:cs typeface="Times New Roman"/>
                <a:sym typeface="Times New Roman"/>
              </a:rPr>
              <a:t>Conclusion &amp; Future Scope</a:t>
            </a:r>
          </a:p>
          <a:p>
            <a:pPr marL="0" indent="0" algn="l">
              <a:spcBef>
                <a:spcPts val="0"/>
              </a:spcBef>
              <a:spcAft>
                <a:spcPts val="900"/>
              </a:spcAft>
              <a:buNone/>
            </a:pPr>
            <a:r>
              <a:rPr sz="1800" b="1" i="0">
                <a:solidFill>
                  <a:srgbClr val="3E6B2F"/>
                </a:solidFill>
                <a:latin typeface="Times New Roman"/>
                <a:ea typeface="Times New Roman"/>
                <a:cs typeface="Times New Roman"/>
                <a:sym typeface="Times New Roman"/>
              </a:rPr>
              <a:t>09   </a:t>
            </a:r>
            <a:r>
              <a:rPr sz="1800" b="0" i="0">
                <a:solidFill>
                  <a:srgbClr val="222222"/>
                </a:solidFill>
                <a:latin typeface="Times New Roman"/>
                <a:ea typeface="Times New Roman"/>
                <a:cs typeface="Times New Roman"/>
                <a:sym typeface="Times New Roman"/>
              </a:rPr>
              <a:t>References</a:t>
            </a:r>
          </a:p>
        </p:txBody>
      </p:sp>
      <p:sp>
        <p:nvSpPr>
          <p:cNvPr id="121" name="Google Shape;121;p3"/>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r>
              <a:rPr lang="en-US" dirty="0">
                <a:latin typeface="Times New Roman"/>
                <a:ea typeface="Times New Roman"/>
                <a:cs typeface="Times New Roman"/>
                <a:sym typeface="Times New Roman"/>
              </a:rPr>
              <a:t>31-10-2026</a:t>
            </a:r>
            <a:endParaRPr dirty="0">
              <a:latin typeface="Times New Roman"/>
              <a:ea typeface="Times New Roman"/>
              <a:cs typeface="Times New Roman"/>
              <a:sym typeface="Times New Roman"/>
            </a:endParaRPr>
          </a:p>
        </p:txBody>
      </p:sp>
      <p:sp>
        <p:nvSpPr>
          <p:cNvPr id="123" name="Google Shape;123;p3"/>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latin typeface="Times New Roman"/>
                <a:ea typeface="Times New Roman"/>
                <a:cs typeface="Times New Roman"/>
                <a:sym typeface="Times New Roman"/>
              </a:rPr>
              <a:t>NSP Project, July-Dec 2026</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title"/>
          </p:nvPr>
        </p:nvSpPr>
        <p:spPr>
          <a:xfrm>
            <a:off x="1828800" y="274320"/>
            <a:ext cx="9966960" cy="777240"/>
          </a:xfrm>
          <a:prstGeom prst="rect">
            <a:avLst/>
          </a:prstGeom>
          <a:noFill/>
          <a:ln>
            <a:noFill/>
          </a:ln>
        </p:spPr>
        <p:txBody>
          <a:bodyPr spcFirstLastPara="1" wrap="square" lIns="45720" tIns="45700" rIns="91425" bIns="45700" anchor="ctr" anchorCtr="0">
            <a:noAutofit/>
          </a:bodyPr>
          <a:lstStyle/>
          <a:p>
            <a:pPr marL="0" indent="0" algn="l">
              <a:spcBef>
                <a:spcPts val="0"/>
              </a:spcBef>
              <a:spcAft>
                <a:spcPts val="400"/>
              </a:spcAft>
              <a:buNone/>
            </a:pPr>
            <a:r>
              <a:rPr sz="3600" b="1" i="0">
                <a:solidFill>
                  <a:srgbClr val="562214"/>
                </a:solidFill>
                <a:latin typeface="Times New Roman"/>
                <a:ea typeface="Times New Roman"/>
                <a:cs typeface="Times New Roman"/>
                <a:sym typeface="Times New Roman"/>
              </a:rPr>
              <a:t>Abstract</a:t>
            </a:r>
          </a:p>
        </p:txBody>
      </p:sp>
      <p:sp>
        <p:nvSpPr>
          <p:cNvPr id="121" name="Google Shape;121;p3"/>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p>
            <a:pPr lvl="0"/>
            <a:r>
              <a:rPr lang="en-US" dirty="0">
                <a:latin typeface="Times New Roman"/>
                <a:ea typeface="Times New Roman"/>
                <a:cs typeface="Times New Roman"/>
                <a:sym typeface="Times New Roman"/>
              </a:rPr>
              <a:t>31-10-2026</a:t>
            </a:r>
          </a:p>
        </p:txBody>
      </p:sp>
      <p:sp>
        <p:nvSpPr>
          <p:cNvPr id="122" name="Google Shape;122;p3"/>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latin typeface="Times New Roman"/>
                <a:ea typeface="Times New Roman"/>
                <a:cs typeface="Times New Roman"/>
                <a:sym typeface="Times New Roman"/>
              </a:rPr>
              <a:t>3</a:t>
            </a:fld>
            <a:endParaRPr>
              <a:latin typeface="Times New Roman"/>
              <a:ea typeface="Times New Roman"/>
              <a:cs typeface="Times New Roman"/>
              <a:sym typeface="Times New Roman"/>
            </a:endParaRPr>
          </a:p>
        </p:txBody>
      </p:sp>
      <p:sp>
        <p:nvSpPr>
          <p:cNvPr id="123" name="Google Shape;123;p3"/>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latin typeface="Times New Roman"/>
                <a:ea typeface="Times New Roman"/>
                <a:cs typeface="Times New Roman"/>
                <a:sym typeface="Times New Roman"/>
              </a:rPr>
              <a:t>NSP Project, July-Dec 2026</a:t>
            </a:r>
            <a:endParaRPr>
              <a:latin typeface="Times New Roman"/>
              <a:ea typeface="Times New Roman"/>
              <a:cs typeface="Times New Roman"/>
              <a:sym typeface="Times New Roman"/>
            </a:endParaRPr>
          </a:p>
        </p:txBody>
      </p:sp>
      <p:sp>
        <p:nvSpPr>
          <p:cNvPr id="124" name="TextBox 123"/>
          <p:cNvSpPr txBox="1"/>
          <p:nvPr/>
        </p:nvSpPr>
        <p:spPr>
          <a:xfrm>
            <a:off x="1828800" y="1188720"/>
            <a:ext cx="6035040" cy="4937760"/>
          </a:xfrm>
          <a:prstGeom prst="rect">
            <a:avLst/>
          </a:prstGeom>
          <a:noFill/>
        </p:spPr>
        <p:txBody>
          <a:bodyPr wrap="square" lIns="45720" rIns="45720" anchor="t">
            <a:spAutoFit/>
          </a:bodyPr>
          <a:lstStyle/>
          <a:p>
            <a:pPr marL="0" indent="0" algn="just">
              <a:spcBef>
                <a:spcPts val="0"/>
              </a:spcBef>
              <a:spcAft>
                <a:spcPts val="1000"/>
              </a:spcAft>
              <a:buNone/>
            </a:pPr>
            <a:r>
              <a:rPr sz="1600" b="0" i="0">
                <a:solidFill>
                  <a:srgbClr val="222222"/>
                </a:solidFill>
                <a:latin typeface="Times New Roman"/>
                <a:ea typeface="Times New Roman"/>
                <a:cs typeface="Times New Roman"/>
                <a:sym typeface="Times New Roman"/>
              </a:rPr>
              <a:t>Ayurvedic dietitians still rely largely on manual methods to maintain patient records, analyse nutrients and prepare personalised diet charts. This is time-consuming, error-prone and hard to scale.</a:t>
            </a:r>
          </a:p>
          <a:p>
            <a:pPr marL="0" indent="0" algn="just">
              <a:spcBef>
                <a:spcPts val="0"/>
              </a:spcBef>
              <a:spcAft>
                <a:spcPts val="1000"/>
              </a:spcAft>
              <a:buNone/>
            </a:pPr>
            <a:r>
              <a:rPr sz="1600" b="0" i="0">
                <a:solidFill>
                  <a:srgbClr val="222222"/>
                </a:solidFill>
                <a:latin typeface="Times New Roman"/>
                <a:ea typeface="Times New Roman"/>
                <a:cs typeface="Times New Roman"/>
                <a:sym typeface="Times New Roman"/>
              </a:rPr>
              <a:t>This project proposes a </a:t>
            </a:r>
            <a:r>
              <a:rPr sz="1600" b="1" i="0">
                <a:solidFill>
                  <a:srgbClr val="222222"/>
                </a:solidFill>
                <a:latin typeface="Times New Roman"/>
                <a:ea typeface="Times New Roman"/>
                <a:cs typeface="Times New Roman"/>
                <a:sym typeface="Times New Roman"/>
              </a:rPr>
              <a:t>comprehensive cloud-based practice management and nutrient analysis software</a:t>
            </a:r>
            <a:r>
              <a:rPr sz="1600" b="0" i="0">
                <a:solidFill>
                  <a:srgbClr val="222222"/>
                </a:solidFill>
                <a:latin typeface="Times New Roman"/>
                <a:ea typeface="Times New Roman"/>
                <a:cs typeface="Times New Roman"/>
                <a:sym typeface="Times New Roman"/>
              </a:rPr>
              <a:t> built for Ayurvedic dietitians. It brings together centralised patient management, nutrient analysis of foods and recipes, and Ayurveda-focused diet planning based on Prakriti (Vata, Pitta, Kapha) and individual nutritional needs.</a:t>
            </a:r>
          </a:p>
          <a:p>
            <a:pPr marL="0" indent="0" algn="just">
              <a:spcBef>
                <a:spcPts val="0"/>
              </a:spcBef>
              <a:spcAft>
                <a:spcPts val="400"/>
              </a:spcAft>
              <a:buNone/>
            </a:pPr>
            <a:r>
              <a:rPr sz="1600" b="0" i="0">
                <a:solidFill>
                  <a:srgbClr val="222222"/>
                </a:solidFill>
                <a:latin typeface="Times New Roman"/>
                <a:ea typeface="Times New Roman"/>
                <a:cs typeface="Times New Roman"/>
                <a:sym typeface="Times New Roman"/>
              </a:rPr>
              <a:t>Built on a React.js frontend, a Node.js/Python backend, a MySQL/MongoDB database and AWS/Firebase cloud hosting, the system aims to improve the efficiency, accuracy and accessibility of Ayurvedic diet management while reducing manual effort.</a:t>
            </a:r>
          </a:p>
        </p:txBody>
      </p:sp>
      <p:sp>
        <p:nvSpPr>
          <p:cNvPr id="125" name="TextBox 124"/>
          <p:cNvSpPr txBox="1"/>
          <p:nvPr/>
        </p:nvSpPr>
        <p:spPr>
          <a:xfrm>
            <a:off x="8229600" y="1188720"/>
            <a:ext cx="3566160" cy="365760"/>
          </a:xfrm>
          <a:prstGeom prst="rect">
            <a:avLst/>
          </a:prstGeom>
          <a:noFill/>
        </p:spPr>
        <p:txBody>
          <a:bodyPr wrap="square" lIns="45720" rIns="45720" anchor="t">
            <a:spAutoFit/>
          </a:bodyPr>
          <a:lstStyle/>
          <a:p>
            <a:pPr marL="0" indent="0" algn="l">
              <a:spcBef>
                <a:spcPts val="0"/>
              </a:spcBef>
              <a:spcAft>
                <a:spcPts val="400"/>
              </a:spcAft>
              <a:buNone/>
            </a:pPr>
            <a:r>
              <a:rPr sz="1800" b="1" i="0">
                <a:solidFill>
                  <a:srgbClr val="562214"/>
                </a:solidFill>
                <a:latin typeface="Times New Roman"/>
                <a:ea typeface="Times New Roman"/>
                <a:cs typeface="Times New Roman"/>
                <a:sym typeface="Times New Roman"/>
              </a:rPr>
              <a:t>Keywords</a:t>
            </a:r>
          </a:p>
        </p:txBody>
      </p:sp>
      <p:sp>
        <p:nvSpPr>
          <p:cNvPr id="126" name="Rounded Rectangle 125"/>
          <p:cNvSpPr/>
          <p:nvPr/>
        </p:nvSpPr>
        <p:spPr>
          <a:xfrm>
            <a:off x="8229600" y="1691640"/>
            <a:ext cx="3566160" cy="594360"/>
          </a:xfrm>
          <a:prstGeom prst="roundRect">
            <a:avLst>
              <a:gd name="adj" fmla="val 8000"/>
            </a:avLst>
          </a:prstGeom>
          <a:solidFill>
            <a:srgbClr val="F4E6E2"/>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marL="0" indent="0" algn="ctr">
              <a:spcBef>
                <a:spcPts val="0"/>
              </a:spcBef>
              <a:spcAft>
                <a:spcPts val="400"/>
              </a:spcAft>
              <a:buNone/>
            </a:pPr>
            <a:r>
              <a:rPr sz="1600" b="1" i="0">
                <a:solidFill>
                  <a:srgbClr val="562214"/>
                </a:solidFill>
                <a:latin typeface="Times New Roman"/>
                <a:ea typeface="Times New Roman"/>
                <a:cs typeface="Times New Roman"/>
                <a:sym typeface="Times New Roman"/>
              </a:rPr>
              <a:t>Practice Management</a:t>
            </a:r>
          </a:p>
        </p:txBody>
      </p:sp>
      <p:sp>
        <p:nvSpPr>
          <p:cNvPr id="127" name="Rounded Rectangle 126"/>
          <p:cNvSpPr/>
          <p:nvPr/>
        </p:nvSpPr>
        <p:spPr>
          <a:xfrm>
            <a:off x="8229600" y="2468880"/>
            <a:ext cx="3566160" cy="594360"/>
          </a:xfrm>
          <a:prstGeom prst="roundRect">
            <a:avLst>
              <a:gd name="adj" fmla="val 8000"/>
            </a:avLst>
          </a:prstGeom>
          <a:solidFill>
            <a:srgbClr val="EAF1E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marL="0" indent="0" algn="ctr">
              <a:spcBef>
                <a:spcPts val="0"/>
              </a:spcBef>
              <a:spcAft>
                <a:spcPts val="400"/>
              </a:spcAft>
              <a:buNone/>
            </a:pPr>
            <a:r>
              <a:rPr sz="1600" b="1" i="0">
                <a:solidFill>
                  <a:srgbClr val="3E6B2F"/>
                </a:solidFill>
                <a:latin typeface="Times New Roman"/>
                <a:ea typeface="Times New Roman"/>
                <a:cs typeface="Times New Roman"/>
                <a:sym typeface="Times New Roman"/>
              </a:rPr>
              <a:t>Nutrient Analysis</a:t>
            </a:r>
          </a:p>
        </p:txBody>
      </p:sp>
      <p:sp>
        <p:nvSpPr>
          <p:cNvPr id="128" name="Rounded Rectangle 127"/>
          <p:cNvSpPr/>
          <p:nvPr/>
        </p:nvSpPr>
        <p:spPr>
          <a:xfrm>
            <a:off x="8229600" y="3246120"/>
            <a:ext cx="3566160" cy="594360"/>
          </a:xfrm>
          <a:prstGeom prst="roundRect">
            <a:avLst>
              <a:gd name="adj" fmla="val 8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marL="0" indent="0" algn="ctr">
              <a:spcBef>
                <a:spcPts val="0"/>
              </a:spcBef>
              <a:spcAft>
                <a:spcPts val="400"/>
              </a:spcAft>
              <a:buNone/>
            </a:pPr>
            <a:r>
              <a:rPr sz="1600" b="1" i="0">
                <a:solidFill>
                  <a:srgbClr val="C77A12"/>
                </a:solidFill>
                <a:latin typeface="Times New Roman"/>
                <a:ea typeface="Times New Roman"/>
                <a:cs typeface="Times New Roman"/>
                <a:sym typeface="Times New Roman"/>
              </a:rPr>
              <a:t>Ayurvedic Diet Plans</a:t>
            </a:r>
          </a:p>
        </p:txBody>
      </p:sp>
      <p:sp>
        <p:nvSpPr>
          <p:cNvPr id="129" name="Rounded Rectangle 128"/>
          <p:cNvSpPr/>
          <p:nvPr/>
        </p:nvSpPr>
        <p:spPr>
          <a:xfrm>
            <a:off x="8229600" y="4023360"/>
            <a:ext cx="3566160" cy="594360"/>
          </a:xfrm>
          <a:prstGeom prst="roundRect">
            <a:avLst>
              <a:gd name="adj" fmla="val 8000"/>
            </a:avLst>
          </a:prstGeom>
          <a:solidFill>
            <a:srgbClr val="F4E6E2"/>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marL="0" indent="0" algn="ctr">
              <a:spcBef>
                <a:spcPts val="0"/>
              </a:spcBef>
              <a:spcAft>
                <a:spcPts val="400"/>
              </a:spcAft>
              <a:buNone/>
            </a:pPr>
            <a:r>
              <a:rPr sz="1600" b="1" i="0">
                <a:solidFill>
                  <a:srgbClr val="562214"/>
                </a:solidFill>
                <a:latin typeface="Times New Roman"/>
                <a:ea typeface="Times New Roman"/>
                <a:cs typeface="Times New Roman"/>
                <a:sym typeface="Times New Roman"/>
              </a:rPr>
              <a:t>Cloud Computing</a:t>
            </a:r>
          </a:p>
        </p:txBody>
      </p:sp>
      <p:sp>
        <p:nvSpPr>
          <p:cNvPr id="130" name="Rounded Rectangle 129"/>
          <p:cNvSpPr/>
          <p:nvPr/>
        </p:nvSpPr>
        <p:spPr>
          <a:xfrm>
            <a:off x="8229600" y="4800600"/>
            <a:ext cx="3566160" cy="594360"/>
          </a:xfrm>
          <a:prstGeom prst="roundRect">
            <a:avLst>
              <a:gd name="adj" fmla="val 8000"/>
            </a:avLst>
          </a:prstGeom>
          <a:solidFill>
            <a:srgbClr val="EAF1E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marL="0" indent="0" algn="ctr">
              <a:spcBef>
                <a:spcPts val="0"/>
              </a:spcBef>
              <a:spcAft>
                <a:spcPts val="400"/>
              </a:spcAft>
              <a:buNone/>
            </a:pPr>
            <a:r>
              <a:rPr sz="1600" b="1" i="0">
                <a:solidFill>
                  <a:srgbClr val="3E6B2F"/>
                </a:solidFill>
                <a:latin typeface="Times New Roman"/>
                <a:ea typeface="Times New Roman"/>
                <a:cs typeface="Times New Roman"/>
                <a:sym typeface="Times New Roman"/>
              </a:rPr>
              <a:t>Progress Tracking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4"/>
          <p:cNvSpPr txBox="1">
            <a:spLocks noGrp="1"/>
          </p:cNvSpPr>
          <p:nvPr>
            <p:ph type="title"/>
          </p:nvPr>
        </p:nvSpPr>
        <p:spPr>
          <a:xfrm>
            <a:off x="1828800" y="274320"/>
            <a:ext cx="9966960" cy="777240"/>
          </a:xfrm>
          <a:prstGeom prst="rect">
            <a:avLst/>
          </a:prstGeom>
          <a:noFill/>
          <a:ln>
            <a:noFill/>
          </a:ln>
        </p:spPr>
        <p:txBody>
          <a:bodyPr spcFirstLastPara="1" wrap="square" lIns="45720" tIns="45700" rIns="91425" bIns="45700" anchor="ctr" anchorCtr="0">
            <a:noAutofit/>
          </a:bodyPr>
          <a:lstStyle/>
          <a:p>
            <a:pPr marL="0" indent="0" algn="l">
              <a:spcBef>
                <a:spcPts val="0"/>
              </a:spcBef>
              <a:spcAft>
                <a:spcPts val="400"/>
              </a:spcAft>
              <a:buNone/>
            </a:pPr>
            <a:r>
              <a:rPr sz="3600" b="1" i="0">
                <a:solidFill>
                  <a:srgbClr val="562214"/>
                </a:solidFill>
                <a:latin typeface="Times New Roman"/>
                <a:ea typeface="Times New Roman"/>
                <a:cs typeface="Times New Roman"/>
                <a:sym typeface="Times New Roman"/>
              </a:rPr>
              <a:t>Literature Review: Paper 01</a:t>
            </a:r>
          </a:p>
        </p:txBody>
      </p:sp>
      <p:sp>
        <p:nvSpPr>
          <p:cNvPr id="129" name="Google Shape;129;p4"/>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4</a:t>
            </a:fld>
            <a:endParaRPr/>
          </a:p>
        </p:txBody>
      </p:sp>
      <p:sp>
        <p:nvSpPr>
          <p:cNvPr id="130" name="Google Shape;130;p4"/>
          <p:cNvSpPr txBox="1">
            <a:spLocks noGrp="1"/>
          </p:cNvSpPr>
          <p:nvPr>
            <p:ph type="body" idx="1"/>
          </p:nvPr>
        </p:nvSpPr>
        <p:spPr>
          <a:xfrm>
            <a:off x="1828800" y="1188720"/>
            <a:ext cx="9966960" cy="4937760"/>
          </a:xfrm>
          <a:prstGeom prst="rect">
            <a:avLst/>
          </a:prstGeom>
          <a:noFill/>
          <a:ln>
            <a:noFill/>
          </a:ln>
        </p:spPr>
        <p:txBody>
          <a:bodyPr spcFirstLastPara="1" wrap="square" lIns="91425" tIns="45700" rIns="91425" bIns="45700" anchor="t" anchorCtr="0"/>
          <a:lstStyle/>
          <a:p>
            <a:pPr marL="0" indent="0" algn="l">
              <a:spcBef>
                <a:spcPts val="0"/>
              </a:spcBef>
              <a:spcAft>
                <a:spcPts val="300"/>
              </a:spcAft>
              <a:buNone/>
            </a:pPr>
            <a:r>
              <a:rPr sz="2000" b="1" i="0">
                <a:solidFill>
                  <a:srgbClr val="562214"/>
                </a:solidFill>
                <a:latin typeface="Times New Roman"/>
                <a:ea typeface="Times New Roman"/>
                <a:cs typeface="Times New Roman"/>
                <a:sym typeface="Times New Roman"/>
              </a:rPr>
              <a:t>Comprehensive Cloud-Based Practice Management &amp; Nutrient Analysis Software for Ayurvedic Dietitians</a:t>
            </a:r>
          </a:p>
          <a:p>
            <a:pPr marL="0" indent="0" algn="l">
              <a:spcBef>
                <a:spcPts val="0"/>
              </a:spcBef>
              <a:spcAft>
                <a:spcPts val="1400"/>
              </a:spcAft>
              <a:buNone/>
            </a:pPr>
            <a:r>
              <a:rPr sz="1500" b="0" i="1">
                <a:solidFill>
                  <a:srgbClr val="555555"/>
                </a:solidFill>
                <a:latin typeface="Times New Roman"/>
                <a:ea typeface="Times New Roman"/>
                <a:cs typeface="Times New Roman"/>
                <a:sym typeface="Times New Roman"/>
              </a:rPr>
              <a:t>Chaitra K. N., Chandan Gowda A. N., Keerthi M., Priyanka C. S., T. Venkatesh | IRE Journals, Vol. 10, Issue 1, pp. 758-765, July 2026</a:t>
            </a:r>
          </a:p>
          <a:p>
            <a:pPr marL="0" indent="0" algn="l">
              <a:spcBef>
                <a:spcPts val="0"/>
              </a:spcBef>
              <a:spcAft>
                <a:spcPts val="300"/>
              </a:spcAft>
              <a:buNone/>
            </a:pPr>
            <a:r>
              <a:rPr sz="1700" b="1" i="0">
                <a:solidFill>
                  <a:srgbClr val="3E6B2F"/>
                </a:solidFill>
                <a:latin typeface="Times New Roman"/>
                <a:ea typeface="Times New Roman"/>
                <a:cs typeface="Times New Roman"/>
                <a:sym typeface="Times New Roman"/>
              </a:rPr>
              <a:t>Overview:</a:t>
            </a:r>
          </a:p>
          <a:p>
            <a:pPr marL="228600" indent="-201168" algn="l">
              <a:spcBef>
                <a:spcPts val="0"/>
              </a:spcBef>
              <a:spcAft>
                <a:spcPts val="200"/>
              </a:spcAft>
              <a:buClr>
                <a:srgbClr val="3E6B2F"/>
              </a:buClr>
              <a:buFont typeface="Arial"/>
              <a:buChar char="•"/>
            </a:pPr>
            <a:r>
              <a:rPr sz="1600" b="0" i="0">
                <a:solidFill>
                  <a:srgbClr val="222222"/>
                </a:solidFill>
                <a:latin typeface="Times New Roman"/>
                <a:ea typeface="Times New Roman"/>
                <a:cs typeface="Times New Roman"/>
                <a:sym typeface="Times New Roman"/>
              </a:rPr>
              <a:t>Cloud-based web system for Ayurvedic dietitians built with Node.js and Firebase Firestore.</a:t>
            </a:r>
          </a:p>
          <a:p>
            <a:pPr marL="228600" indent="-201168" algn="l">
              <a:spcBef>
                <a:spcPts val="0"/>
              </a:spcBef>
              <a:spcAft>
                <a:spcPts val="1000"/>
              </a:spcAft>
              <a:buClr>
                <a:srgbClr val="3E6B2F"/>
              </a:buClr>
              <a:buFont typeface="Arial"/>
              <a:buChar char="•"/>
            </a:pPr>
            <a:r>
              <a:rPr sz="1600" b="0" i="0">
                <a:solidFill>
                  <a:srgbClr val="222222"/>
                </a:solidFill>
                <a:latin typeface="Times New Roman"/>
                <a:ea typeface="Times New Roman"/>
                <a:cs typeface="Times New Roman"/>
                <a:sym typeface="Times New Roman"/>
              </a:rPr>
              <a:t>Combines modern nutrient data (USDA, NutriSurvey) with Ayurvedic food properties: Rasa, Guna, Veerya, Vipaka and Dosha effects.</a:t>
            </a:r>
          </a:p>
          <a:p>
            <a:pPr marL="0" indent="0" algn="l">
              <a:spcBef>
                <a:spcPts val="0"/>
              </a:spcBef>
              <a:spcAft>
                <a:spcPts val="300"/>
              </a:spcAft>
              <a:buNone/>
            </a:pPr>
            <a:r>
              <a:rPr sz="1700" b="1" i="0">
                <a:solidFill>
                  <a:srgbClr val="3E6B2F"/>
                </a:solidFill>
                <a:latin typeface="Times New Roman"/>
                <a:ea typeface="Times New Roman"/>
                <a:cs typeface="Times New Roman"/>
                <a:sym typeface="Times New Roman"/>
              </a:rPr>
              <a:t>Key Contributions:</a:t>
            </a:r>
          </a:p>
          <a:p>
            <a:pPr marL="228600" indent="-201168" algn="l">
              <a:spcBef>
                <a:spcPts val="0"/>
              </a:spcBef>
              <a:spcAft>
                <a:spcPts val="200"/>
              </a:spcAft>
              <a:buClr>
                <a:srgbClr val="3E6B2F"/>
              </a:buClr>
              <a:buFont typeface="Arial"/>
              <a:buChar char="•"/>
            </a:pPr>
            <a:r>
              <a:rPr sz="1600" b="0" i="0">
                <a:solidFill>
                  <a:srgbClr val="222222"/>
                </a:solidFill>
                <a:latin typeface="Times New Roman"/>
                <a:ea typeface="Times New Roman"/>
                <a:cs typeface="Times New Roman"/>
                <a:sym typeface="Times New Roman"/>
              </a:rPr>
              <a:t>Food database of 8,000+ items with both nutritional and Ayurvedic attributes.</a:t>
            </a:r>
          </a:p>
          <a:p>
            <a:pPr marL="228600" indent="-201168" algn="l">
              <a:spcBef>
                <a:spcPts val="0"/>
              </a:spcBef>
              <a:spcAft>
                <a:spcPts val="1000"/>
              </a:spcAft>
              <a:buClr>
                <a:srgbClr val="3E6B2F"/>
              </a:buClr>
              <a:buFont typeface="Arial"/>
              <a:buChar char="•"/>
            </a:pPr>
            <a:r>
              <a:rPr sz="1600" b="0" i="0">
                <a:solidFill>
                  <a:srgbClr val="222222"/>
                </a:solidFill>
                <a:latin typeface="Times New Roman"/>
                <a:ea typeface="Times New Roman"/>
                <a:cs typeface="Times New Roman"/>
                <a:sym typeface="Times New Roman"/>
              </a:rPr>
              <a:t>Rule-based, Dosha-aware personalised diet charts; patient records, recipe evaluation and reports.</a:t>
            </a:r>
          </a:p>
          <a:p>
            <a:pPr marL="0" indent="0" algn="l">
              <a:spcBef>
                <a:spcPts val="0"/>
              </a:spcBef>
              <a:spcAft>
                <a:spcPts val="300"/>
              </a:spcAft>
              <a:buNone/>
            </a:pPr>
            <a:r>
              <a:rPr sz="1700" b="1" i="0">
                <a:solidFill>
                  <a:srgbClr val="3E6B2F"/>
                </a:solidFill>
                <a:latin typeface="Times New Roman"/>
                <a:ea typeface="Times New Roman"/>
                <a:cs typeface="Times New Roman"/>
                <a:sym typeface="Times New Roman"/>
              </a:rPr>
              <a:t>Problems Addressed:</a:t>
            </a:r>
          </a:p>
          <a:p>
            <a:pPr marL="228600" indent="-201168" algn="l">
              <a:spcBef>
                <a:spcPts val="0"/>
              </a:spcBef>
              <a:spcAft>
                <a:spcPts val="1000"/>
              </a:spcAft>
              <a:buClr>
                <a:srgbClr val="3E6B2F"/>
              </a:buClr>
              <a:buFont typeface="Arial"/>
              <a:buChar char="•"/>
            </a:pPr>
            <a:r>
              <a:rPr sz="1600" b="0" i="0">
                <a:solidFill>
                  <a:srgbClr val="222222"/>
                </a:solidFill>
                <a:latin typeface="Times New Roman"/>
                <a:ea typeface="Times New Roman"/>
                <a:cs typeface="Times New Roman"/>
                <a:sym typeface="Times New Roman"/>
              </a:rPr>
              <a:t>Diet charts in Ayurvedic clinics are prepared manually, which is slow and inconsistent.</a:t>
            </a:r>
          </a:p>
          <a:p>
            <a:pPr marL="0" indent="0" algn="l">
              <a:spcBef>
                <a:spcPts val="0"/>
              </a:spcBef>
              <a:spcAft>
                <a:spcPts val="300"/>
              </a:spcAft>
              <a:buNone/>
            </a:pPr>
            <a:r>
              <a:rPr sz="1700" b="1" i="0">
                <a:solidFill>
                  <a:srgbClr val="3E6B2F"/>
                </a:solidFill>
                <a:latin typeface="Times New Roman"/>
                <a:ea typeface="Times New Roman"/>
                <a:cs typeface="Times New Roman"/>
                <a:sym typeface="Times New Roman"/>
              </a:rPr>
              <a:t>Limitations:</a:t>
            </a:r>
          </a:p>
          <a:p>
            <a:pPr marL="228600" indent="-201168" algn="l">
              <a:spcBef>
                <a:spcPts val="0"/>
              </a:spcBef>
              <a:spcAft>
                <a:spcPts val="1000"/>
              </a:spcAft>
              <a:buClr>
                <a:srgbClr val="3E6B2F"/>
              </a:buClr>
              <a:buFont typeface="Arial"/>
              <a:buChar char="•"/>
            </a:pPr>
            <a:r>
              <a:rPr sz="1600" b="0" i="0">
                <a:solidFill>
                  <a:srgbClr val="222222"/>
                </a:solidFill>
                <a:latin typeface="Times New Roman"/>
                <a:ea typeface="Times New Roman"/>
                <a:cs typeface="Times New Roman"/>
                <a:sym typeface="Times New Roman"/>
              </a:rPr>
              <a:t>Missing nutrient data for many regional foods; evaluation is small-scale and qualitative.</a:t>
            </a:r>
          </a:p>
        </p:txBody>
      </p:sp>
      <p:sp>
        <p:nvSpPr>
          <p:cNvPr id="121" name="Google Shape;121;p3"/>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p>
            <a:pPr lvl="0"/>
            <a:r>
              <a:rPr lang="en-US" dirty="0">
                <a:latin typeface="Times New Roman"/>
                <a:ea typeface="Times New Roman"/>
                <a:cs typeface="Times New Roman"/>
                <a:sym typeface="Times New Roman"/>
              </a:rPr>
              <a:t>31-10-2026</a:t>
            </a:r>
          </a:p>
        </p:txBody>
      </p:sp>
      <p:sp>
        <p:nvSpPr>
          <p:cNvPr id="123" name="Google Shape;123;p3"/>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latin typeface="Times New Roman"/>
                <a:ea typeface="Times New Roman"/>
                <a:cs typeface="Times New Roman"/>
                <a:sym typeface="Times New Roman"/>
              </a:rPr>
              <a:t>NSP Project, July-Dec 2026</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4"/>
          <p:cNvSpPr txBox="1">
            <a:spLocks noGrp="1"/>
          </p:cNvSpPr>
          <p:nvPr>
            <p:ph type="title"/>
          </p:nvPr>
        </p:nvSpPr>
        <p:spPr>
          <a:xfrm>
            <a:off x="1828800" y="274320"/>
            <a:ext cx="9966960" cy="777240"/>
          </a:xfrm>
          <a:prstGeom prst="rect">
            <a:avLst/>
          </a:prstGeom>
          <a:noFill/>
          <a:ln>
            <a:noFill/>
          </a:ln>
        </p:spPr>
        <p:txBody>
          <a:bodyPr spcFirstLastPara="1" wrap="square" lIns="45720" tIns="45700" rIns="91425" bIns="45700" anchor="ctr" anchorCtr="0">
            <a:noAutofit/>
          </a:bodyPr>
          <a:lstStyle/>
          <a:p>
            <a:pPr marL="0" indent="0" algn="l">
              <a:spcBef>
                <a:spcPts val="0"/>
              </a:spcBef>
              <a:spcAft>
                <a:spcPts val="400"/>
              </a:spcAft>
              <a:buNone/>
            </a:pPr>
            <a:r>
              <a:rPr sz="3600" b="1" i="0">
                <a:solidFill>
                  <a:srgbClr val="562214"/>
                </a:solidFill>
                <a:latin typeface="Times New Roman"/>
                <a:ea typeface="Times New Roman"/>
                <a:cs typeface="Times New Roman"/>
                <a:sym typeface="Times New Roman"/>
              </a:rPr>
              <a:t>Literature Review: Paper 02</a:t>
            </a:r>
          </a:p>
        </p:txBody>
      </p:sp>
      <p:sp>
        <p:nvSpPr>
          <p:cNvPr id="129" name="Google Shape;129;p4"/>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5</a:t>
            </a:fld>
            <a:endParaRPr/>
          </a:p>
        </p:txBody>
      </p:sp>
      <p:sp>
        <p:nvSpPr>
          <p:cNvPr id="130" name="Google Shape;130;p4"/>
          <p:cNvSpPr txBox="1">
            <a:spLocks noGrp="1"/>
          </p:cNvSpPr>
          <p:nvPr>
            <p:ph type="body" idx="1"/>
          </p:nvPr>
        </p:nvSpPr>
        <p:spPr>
          <a:xfrm>
            <a:off x="1828800" y="1188720"/>
            <a:ext cx="9966960" cy="4937760"/>
          </a:xfrm>
          <a:prstGeom prst="rect">
            <a:avLst/>
          </a:prstGeom>
          <a:noFill/>
          <a:ln>
            <a:noFill/>
          </a:ln>
        </p:spPr>
        <p:txBody>
          <a:bodyPr spcFirstLastPara="1" wrap="square" lIns="91425" tIns="45700" rIns="91425" bIns="45700" anchor="t" anchorCtr="0"/>
          <a:lstStyle/>
          <a:p>
            <a:pPr marL="0" indent="0" algn="l">
              <a:spcBef>
                <a:spcPts val="0"/>
              </a:spcBef>
              <a:spcAft>
                <a:spcPts val="300"/>
              </a:spcAft>
              <a:buNone/>
            </a:pPr>
            <a:r>
              <a:rPr sz="2000" b="1" i="0">
                <a:solidFill>
                  <a:srgbClr val="562214"/>
                </a:solidFill>
                <a:latin typeface="Times New Roman"/>
                <a:ea typeface="Times New Roman"/>
                <a:cs typeface="Times New Roman"/>
                <a:sym typeface="Times New Roman"/>
              </a:rPr>
              <a:t>Vedaahar: An AI-Based Personalized Ayurvedic Food Recommendation System</a:t>
            </a:r>
          </a:p>
          <a:p>
            <a:pPr marL="0" indent="0" algn="l">
              <a:spcBef>
                <a:spcPts val="0"/>
              </a:spcBef>
              <a:spcAft>
                <a:spcPts val="1400"/>
              </a:spcAft>
              <a:buNone/>
            </a:pPr>
            <a:r>
              <a:rPr sz="1500" b="0" i="1">
                <a:solidFill>
                  <a:srgbClr val="555555"/>
                </a:solidFill>
                <a:latin typeface="Times New Roman"/>
                <a:ea typeface="Times New Roman"/>
                <a:cs typeface="Times New Roman"/>
                <a:sym typeface="Times New Roman"/>
              </a:rPr>
              <a:t>N. Doiphode, A. Kekapure, J. Khapne, R. Lambat, M. Nanwani | IJCRT, Vol. 14, Issue 4, pp. b114-b122, 2026</a:t>
            </a:r>
          </a:p>
          <a:p>
            <a:pPr marL="0" indent="0" algn="l">
              <a:spcBef>
                <a:spcPts val="0"/>
              </a:spcBef>
              <a:spcAft>
                <a:spcPts val="300"/>
              </a:spcAft>
              <a:buNone/>
            </a:pPr>
            <a:r>
              <a:rPr sz="1700" b="1" i="0">
                <a:solidFill>
                  <a:srgbClr val="3E6B2F"/>
                </a:solidFill>
                <a:latin typeface="Times New Roman"/>
                <a:ea typeface="Times New Roman"/>
                <a:cs typeface="Times New Roman"/>
                <a:sym typeface="Times New Roman"/>
              </a:rPr>
              <a:t>Overview:</a:t>
            </a:r>
          </a:p>
          <a:p>
            <a:pPr marL="228600" indent="-201168" algn="l">
              <a:spcBef>
                <a:spcPts val="0"/>
              </a:spcBef>
              <a:spcAft>
                <a:spcPts val="200"/>
              </a:spcAft>
              <a:buClr>
                <a:srgbClr val="3E6B2F"/>
              </a:buClr>
              <a:buFont typeface="Arial"/>
              <a:buChar char="•"/>
            </a:pPr>
            <a:r>
              <a:rPr sz="1600" b="0" i="0">
                <a:solidFill>
                  <a:srgbClr val="222222"/>
                </a:solidFill>
                <a:latin typeface="Times New Roman"/>
                <a:ea typeface="Times New Roman"/>
                <a:cs typeface="Times New Roman"/>
                <a:sym typeface="Times New Roman"/>
              </a:rPr>
              <a:t>Machine learning meal recommender that combines a Random Forest classifier with rule-based filtering from Ahara Vidhi principles.</a:t>
            </a:r>
          </a:p>
          <a:p>
            <a:pPr marL="228600" indent="-201168" algn="l">
              <a:spcBef>
                <a:spcPts val="0"/>
              </a:spcBef>
              <a:spcAft>
                <a:spcPts val="1000"/>
              </a:spcAft>
              <a:buClr>
                <a:srgbClr val="3E6B2F"/>
              </a:buClr>
              <a:buFont typeface="Arial"/>
              <a:buChar char="•"/>
            </a:pPr>
            <a:r>
              <a:rPr sz="1600" b="0" i="0">
                <a:solidFill>
                  <a:srgbClr val="222222"/>
                </a:solidFill>
                <a:latin typeface="Times New Roman"/>
                <a:ea typeface="Times New Roman"/>
                <a:cs typeface="Times New Roman"/>
                <a:sym typeface="Times New Roman"/>
              </a:rPr>
              <a:t>Uses vegetarian, non-vegetarian and fasting meal datasets.</a:t>
            </a:r>
          </a:p>
          <a:p>
            <a:pPr marL="0" indent="0" algn="l">
              <a:spcBef>
                <a:spcPts val="0"/>
              </a:spcBef>
              <a:spcAft>
                <a:spcPts val="300"/>
              </a:spcAft>
              <a:buNone/>
            </a:pPr>
            <a:r>
              <a:rPr sz="1700" b="1" i="0">
                <a:solidFill>
                  <a:srgbClr val="3E6B2F"/>
                </a:solidFill>
                <a:latin typeface="Times New Roman"/>
                <a:ea typeface="Times New Roman"/>
                <a:cs typeface="Times New Roman"/>
                <a:sym typeface="Times New Roman"/>
              </a:rPr>
              <a:t>Key Contributions:</a:t>
            </a:r>
          </a:p>
          <a:p>
            <a:pPr marL="228600" indent="-201168" algn="l">
              <a:spcBef>
                <a:spcPts val="0"/>
              </a:spcBef>
              <a:spcAft>
                <a:spcPts val="200"/>
              </a:spcAft>
              <a:buClr>
                <a:srgbClr val="3E6B2F"/>
              </a:buClr>
              <a:buFont typeface="Arial"/>
              <a:buChar char="•"/>
            </a:pPr>
            <a:r>
              <a:rPr sz="1600" b="0" i="0">
                <a:solidFill>
                  <a:srgbClr val="222222"/>
                </a:solidFill>
                <a:latin typeface="Times New Roman"/>
                <a:ea typeface="Times New Roman"/>
                <a:cs typeface="Times New Roman"/>
                <a:sym typeface="Times New Roman"/>
              </a:rPr>
              <a:t>Considers Prakriti, Ritu (season), health goals and meal slot for each suggestion.</a:t>
            </a:r>
          </a:p>
          <a:p>
            <a:pPr marL="228600" indent="-201168" algn="l">
              <a:spcBef>
                <a:spcPts val="0"/>
              </a:spcBef>
              <a:spcAft>
                <a:spcPts val="1000"/>
              </a:spcAft>
              <a:buClr>
                <a:srgbClr val="3E6B2F"/>
              </a:buClr>
              <a:buFont typeface="Arial"/>
              <a:buChar char="•"/>
            </a:pPr>
            <a:r>
              <a:rPr sz="1600" b="0" i="0">
                <a:solidFill>
                  <a:srgbClr val="222222"/>
                </a:solidFill>
                <a:latin typeface="Times New Roman"/>
                <a:ea typeface="Times New Roman"/>
                <a:cs typeface="Times New Roman"/>
                <a:sym typeface="Times New Roman"/>
              </a:rPr>
              <a:t>Top-K ranking and history-based de-duplication for varied meals; reports 69.14% accuracy.</a:t>
            </a:r>
          </a:p>
          <a:p>
            <a:pPr marL="0" indent="0" algn="l">
              <a:spcBef>
                <a:spcPts val="0"/>
              </a:spcBef>
              <a:spcAft>
                <a:spcPts val="300"/>
              </a:spcAft>
              <a:buNone/>
            </a:pPr>
            <a:r>
              <a:rPr sz="1700" b="1" i="0">
                <a:solidFill>
                  <a:srgbClr val="3E6B2F"/>
                </a:solidFill>
                <a:latin typeface="Times New Roman"/>
                <a:ea typeface="Times New Roman"/>
                <a:cs typeface="Times New Roman"/>
                <a:sym typeface="Times New Roman"/>
              </a:rPr>
              <a:t>Problems Addressed:</a:t>
            </a:r>
          </a:p>
          <a:p>
            <a:pPr marL="228600" indent="-201168" algn="l">
              <a:spcBef>
                <a:spcPts val="0"/>
              </a:spcBef>
              <a:spcAft>
                <a:spcPts val="1000"/>
              </a:spcAft>
              <a:buClr>
                <a:srgbClr val="3E6B2F"/>
              </a:buClr>
              <a:buFont typeface="Arial"/>
              <a:buChar char="•"/>
            </a:pPr>
            <a:r>
              <a:rPr sz="1600" b="0" i="0">
                <a:solidFill>
                  <a:srgbClr val="222222"/>
                </a:solidFill>
                <a:latin typeface="Times New Roman"/>
                <a:ea typeface="Times New Roman"/>
                <a:cs typeface="Times New Roman"/>
                <a:sym typeface="Times New Roman"/>
              </a:rPr>
              <a:t>Existing AI Ayurveda systems focus on diagnosis, not constitution-specific diets.</a:t>
            </a:r>
          </a:p>
          <a:p>
            <a:pPr marL="0" indent="0" algn="l">
              <a:spcBef>
                <a:spcPts val="0"/>
              </a:spcBef>
              <a:spcAft>
                <a:spcPts val="300"/>
              </a:spcAft>
              <a:buNone/>
            </a:pPr>
            <a:r>
              <a:rPr sz="1700" b="1" i="0">
                <a:solidFill>
                  <a:srgbClr val="3E6B2F"/>
                </a:solidFill>
                <a:latin typeface="Times New Roman"/>
                <a:ea typeface="Times New Roman"/>
                <a:cs typeface="Times New Roman"/>
                <a:sym typeface="Times New Roman"/>
              </a:rPr>
              <a:t>Limitations:</a:t>
            </a:r>
          </a:p>
          <a:p>
            <a:pPr marL="228600" indent="-201168" algn="l">
              <a:spcBef>
                <a:spcPts val="0"/>
              </a:spcBef>
              <a:spcAft>
                <a:spcPts val="1000"/>
              </a:spcAft>
              <a:buClr>
                <a:srgbClr val="3E6B2F"/>
              </a:buClr>
              <a:buFont typeface="Arial"/>
              <a:buChar char="•"/>
            </a:pPr>
            <a:r>
              <a:rPr sz="1600" b="0" i="0">
                <a:solidFill>
                  <a:srgbClr val="222222"/>
                </a:solidFill>
                <a:latin typeface="Times New Roman"/>
                <a:ea typeface="Times New Roman"/>
                <a:cs typeface="Times New Roman"/>
                <a:sym typeface="Times New Roman"/>
              </a:rPr>
              <a:t>No patient or practice management; nutrient values are not analysed; modest accuracy.</a:t>
            </a:r>
          </a:p>
        </p:txBody>
      </p:sp>
      <p:sp>
        <p:nvSpPr>
          <p:cNvPr id="121" name="Google Shape;121;p3"/>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p>
            <a:pPr lvl="0"/>
            <a:r>
              <a:rPr lang="en-US" dirty="0">
                <a:latin typeface="Times New Roman"/>
                <a:ea typeface="Times New Roman"/>
                <a:cs typeface="Times New Roman"/>
                <a:sym typeface="Times New Roman"/>
              </a:rPr>
              <a:t>31-10-2026</a:t>
            </a:r>
          </a:p>
        </p:txBody>
      </p:sp>
      <p:sp>
        <p:nvSpPr>
          <p:cNvPr id="123" name="Google Shape;123;p3"/>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latin typeface="Times New Roman"/>
                <a:ea typeface="Times New Roman"/>
                <a:cs typeface="Times New Roman"/>
                <a:sym typeface="Times New Roman"/>
              </a:rPr>
              <a:t>NSP Project, July-Dec 2026</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4"/>
          <p:cNvSpPr txBox="1">
            <a:spLocks noGrp="1"/>
          </p:cNvSpPr>
          <p:nvPr>
            <p:ph type="title"/>
          </p:nvPr>
        </p:nvSpPr>
        <p:spPr>
          <a:xfrm>
            <a:off x="1828800" y="274320"/>
            <a:ext cx="9966960" cy="777240"/>
          </a:xfrm>
          <a:prstGeom prst="rect">
            <a:avLst/>
          </a:prstGeom>
          <a:noFill/>
          <a:ln>
            <a:noFill/>
          </a:ln>
        </p:spPr>
        <p:txBody>
          <a:bodyPr spcFirstLastPara="1" wrap="square" lIns="45720" tIns="45700" rIns="91425" bIns="45700" anchor="ctr" anchorCtr="0">
            <a:noAutofit/>
          </a:bodyPr>
          <a:lstStyle/>
          <a:p>
            <a:pPr marL="0" indent="0" algn="l">
              <a:spcBef>
                <a:spcPts val="0"/>
              </a:spcBef>
              <a:spcAft>
                <a:spcPts val="400"/>
              </a:spcAft>
              <a:buNone/>
            </a:pPr>
            <a:r>
              <a:rPr sz="3600" b="1" i="0">
                <a:solidFill>
                  <a:srgbClr val="562214"/>
                </a:solidFill>
                <a:latin typeface="Times New Roman"/>
                <a:ea typeface="Times New Roman"/>
                <a:cs typeface="Times New Roman"/>
                <a:sym typeface="Times New Roman"/>
              </a:rPr>
              <a:t>Literature Review: Paper 03</a:t>
            </a:r>
          </a:p>
        </p:txBody>
      </p:sp>
      <p:sp>
        <p:nvSpPr>
          <p:cNvPr id="129" name="Google Shape;129;p4"/>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6</a:t>
            </a:fld>
            <a:endParaRPr/>
          </a:p>
        </p:txBody>
      </p:sp>
      <p:sp>
        <p:nvSpPr>
          <p:cNvPr id="130" name="Google Shape;130;p4"/>
          <p:cNvSpPr txBox="1">
            <a:spLocks noGrp="1"/>
          </p:cNvSpPr>
          <p:nvPr>
            <p:ph type="body" idx="1"/>
          </p:nvPr>
        </p:nvSpPr>
        <p:spPr>
          <a:xfrm>
            <a:off x="1828800" y="1188720"/>
            <a:ext cx="9966960" cy="4937760"/>
          </a:xfrm>
          <a:prstGeom prst="rect">
            <a:avLst/>
          </a:prstGeom>
          <a:noFill/>
          <a:ln>
            <a:noFill/>
          </a:ln>
        </p:spPr>
        <p:txBody>
          <a:bodyPr spcFirstLastPara="1" wrap="square" lIns="91425" tIns="45700" rIns="91425" bIns="45700" anchor="t" anchorCtr="0"/>
          <a:lstStyle/>
          <a:p>
            <a:pPr marL="0" indent="0" algn="l">
              <a:spcBef>
                <a:spcPts val="0"/>
              </a:spcBef>
              <a:spcAft>
                <a:spcPts val="300"/>
              </a:spcAft>
              <a:buNone/>
            </a:pPr>
            <a:r>
              <a:rPr sz="2000" b="1" i="0">
                <a:solidFill>
                  <a:srgbClr val="562214"/>
                </a:solidFill>
                <a:latin typeface="Times New Roman"/>
                <a:ea typeface="Times New Roman"/>
                <a:cs typeface="Times New Roman"/>
                <a:sym typeface="Times New Roman"/>
              </a:rPr>
              <a:t>A Systematic Review of Nutrition Recommendation Systems: With Focus on Technical Aspects</a:t>
            </a:r>
          </a:p>
          <a:p>
            <a:pPr marL="0" indent="0" algn="l">
              <a:spcBef>
                <a:spcPts val="0"/>
              </a:spcBef>
              <a:spcAft>
                <a:spcPts val="1400"/>
              </a:spcAft>
              <a:buNone/>
            </a:pPr>
            <a:r>
              <a:rPr sz="1500" b="0" i="1">
                <a:solidFill>
                  <a:srgbClr val="555555"/>
                </a:solidFill>
                <a:latin typeface="Times New Roman"/>
                <a:ea typeface="Times New Roman"/>
                <a:cs typeface="Times New Roman"/>
                <a:sym typeface="Times New Roman"/>
              </a:rPr>
              <a:t>S. Abhari, R. Safdari, L. Azadbakht, K. B. Lankarani et al. | J. Biomedical Physics &amp; Engineering, 9(6), pp. 591-602, 2019</a:t>
            </a:r>
          </a:p>
          <a:p>
            <a:pPr marL="0" indent="0" algn="l">
              <a:spcBef>
                <a:spcPts val="0"/>
              </a:spcBef>
              <a:spcAft>
                <a:spcPts val="300"/>
              </a:spcAft>
              <a:buNone/>
            </a:pPr>
            <a:r>
              <a:rPr sz="1700" b="1" i="0">
                <a:solidFill>
                  <a:srgbClr val="3E6B2F"/>
                </a:solidFill>
                <a:latin typeface="Times New Roman"/>
                <a:ea typeface="Times New Roman"/>
                <a:cs typeface="Times New Roman"/>
                <a:sym typeface="Times New Roman"/>
              </a:rPr>
              <a:t>Overview:</a:t>
            </a:r>
          </a:p>
          <a:p>
            <a:pPr marL="228600" indent="-201168" algn="l">
              <a:spcBef>
                <a:spcPts val="0"/>
              </a:spcBef>
              <a:spcAft>
                <a:spcPts val="200"/>
              </a:spcAft>
              <a:buClr>
                <a:srgbClr val="3E6B2F"/>
              </a:buClr>
              <a:buFont typeface="Arial"/>
              <a:buChar char="•"/>
            </a:pPr>
            <a:r>
              <a:rPr sz="1600" b="0" i="0">
                <a:solidFill>
                  <a:srgbClr val="222222"/>
                </a:solidFill>
                <a:latin typeface="Times New Roman"/>
                <a:ea typeface="Times New Roman"/>
                <a:cs typeface="Times New Roman"/>
                <a:sym typeface="Times New Roman"/>
              </a:rPr>
              <a:t>Systematic review (PRISMA) of nutrition recommendation systems (NRS) from PubMed, Scopus, Web of Science, Embase and IEEE.</a:t>
            </a:r>
          </a:p>
          <a:p>
            <a:pPr marL="228600" indent="-201168" algn="l">
              <a:spcBef>
                <a:spcPts val="0"/>
              </a:spcBef>
              <a:spcAft>
                <a:spcPts val="1000"/>
              </a:spcAft>
              <a:buClr>
                <a:srgbClr val="3E6B2F"/>
              </a:buClr>
              <a:buFont typeface="Arial"/>
              <a:buChar char="•"/>
            </a:pPr>
            <a:r>
              <a:rPr sz="1600" b="0" i="0">
                <a:solidFill>
                  <a:srgbClr val="222222"/>
                </a:solidFill>
                <a:latin typeface="Times New Roman"/>
                <a:ea typeface="Times New Roman"/>
                <a:cs typeface="Times New Roman"/>
                <a:sym typeface="Times New Roman"/>
              </a:rPr>
              <a:t>25 studies included after screening by two independent reviewers.</a:t>
            </a:r>
          </a:p>
          <a:p>
            <a:pPr marL="0" indent="0" algn="l">
              <a:spcBef>
                <a:spcPts val="0"/>
              </a:spcBef>
              <a:spcAft>
                <a:spcPts val="300"/>
              </a:spcAft>
              <a:buNone/>
            </a:pPr>
            <a:r>
              <a:rPr sz="1700" b="1" i="0">
                <a:solidFill>
                  <a:srgbClr val="3E6B2F"/>
                </a:solidFill>
                <a:latin typeface="Times New Roman"/>
                <a:ea typeface="Times New Roman"/>
                <a:cs typeface="Times New Roman"/>
                <a:sym typeface="Times New Roman"/>
              </a:rPr>
              <a:t>Key Contributions:</a:t>
            </a:r>
          </a:p>
          <a:p>
            <a:pPr marL="228600" indent="-201168" algn="l">
              <a:spcBef>
                <a:spcPts val="0"/>
              </a:spcBef>
              <a:spcAft>
                <a:spcPts val="200"/>
              </a:spcAft>
              <a:buClr>
                <a:srgbClr val="3E6B2F"/>
              </a:buClr>
              <a:buFont typeface="Arial"/>
              <a:buChar char="•"/>
            </a:pPr>
            <a:r>
              <a:rPr sz="1600" b="0" i="0">
                <a:solidFill>
                  <a:srgbClr val="222222"/>
                </a:solidFill>
                <a:latin typeface="Times New Roman"/>
                <a:ea typeface="Times New Roman"/>
                <a:cs typeface="Times New Roman"/>
                <a:sym typeface="Times New Roman"/>
              </a:rPr>
              <a:t>Hybrid (40%) and knowledge-based (32%) recommenders are the most used types.</a:t>
            </a:r>
          </a:p>
          <a:p>
            <a:pPr marL="228600" indent="-201168" algn="l">
              <a:spcBef>
                <a:spcPts val="0"/>
              </a:spcBef>
              <a:spcAft>
                <a:spcPts val="1000"/>
              </a:spcAft>
              <a:buClr>
                <a:srgbClr val="3E6B2F"/>
              </a:buClr>
              <a:buFont typeface="Arial"/>
              <a:buChar char="•"/>
            </a:pPr>
            <a:r>
              <a:rPr sz="1600" b="0" i="0">
                <a:solidFill>
                  <a:srgbClr val="222222"/>
                </a:solidFill>
                <a:latin typeface="Times New Roman"/>
                <a:ea typeface="Times New Roman"/>
                <a:cs typeface="Times New Roman"/>
                <a:sym typeface="Times New Roman"/>
              </a:rPr>
              <a:t>Rule-based and ontology techniques are common in nutrition recommenders.</a:t>
            </a:r>
          </a:p>
          <a:p>
            <a:pPr marL="0" indent="0" algn="l">
              <a:spcBef>
                <a:spcPts val="0"/>
              </a:spcBef>
              <a:spcAft>
                <a:spcPts val="300"/>
              </a:spcAft>
              <a:buNone/>
            </a:pPr>
            <a:r>
              <a:rPr sz="1700" b="1" i="0">
                <a:solidFill>
                  <a:srgbClr val="3E6B2F"/>
                </a:solidFill>
                <a:latin typeface="Times New Roman"/>
                <a:ea typeface="Times New Roman"/>
                <a:cs typeface="Times New Roman"/>
                <a:sym typeface="Times New Roman"/>
              </a:rPr>
              <a:t>Problems Addressed:</a:t>
            </a:r>
          </a:p>
          <a:p>
            <a:pPr marL="228600" indent="-201168" algn="l">
              <a:spcBef>
                <a:spcPts val="0"/>
              </a:spcBef>
              <a:spcAft>
                <a:spcPts val="1000"/>
              </a:spcAft>
              <a:buClr>
                <a:srgbClr val="3E6B2F"/>
              </a:buClr>
              <a:buFont typeface="Arial"/>
              <a:buChar char="•"/>
            </a:pPr>
            <a:r>
              <a:rPr sz="1600" b="0" i="0">
                <a:solidFill>
                  <a:srgbClr val="222222"/>
                </a:solidFill>
                <a:latin typeface="Times New Roman"/>
                <a:ea typeface="Times New Roman"/>
                <a:cs typeface="Times New Roman"/>
                <a:sym typeface="Times New Roman"/>
              </a:rPr>
              <a:t>No consolidated technical view of NRS for dietitians and developers.</a:t>
            </a:r>
          </a:p>
          <a:p>
            <a:pPr marL="0" indent="0" algn="l">
              <a:spcBef>
                <a:spcPts val="0"/>
              </a:spcBef>
              <a:spcAft>
                <a:spcPts val="300"/>
              </a:spcAft>
              <a:buNone/>
            </a:pPr>
            <a:r>
              <a:rPr sz="1700" b="1" i="0">
                <a:solidFill>
                  <a:srgbClr val="3E6B2F"/>
                </a:solidFill>
                <a:latin typeface="Times New Roman"/>
                <a:ea typeface="Times New Roman"/>
                <a:cs typeface="Times New Roman"/>
                <a:sym typeface="Times New Roman"/>
              </a:rPr>
              <a:t>Limitations:</a:t>
            </a:r>
          </a:p>
          <a:p>
            <a:pPr marL="228600" indent="-201168" algn="l">
              <a:spcBef>
                <a:spcPts val="0"/>
              </a:spcBef>
              <a:spcAft>
                <a:spcPts val="1000"/>
              </a:spcAft>
              <a:buClr>
                <a:srgbClr val="3E6B2F"/>
              </a:buClr>
              <a:buFont typeface="Arial"/>
              <a:buChar char="•"/>
            </a:pPr>
            <a:r>
              <a:rPr sz="1600" b="0" i="0">
                <a:solidFill>
                  <a:srgbClr val="222222"/>
                </a:solidFill>
                <a:latin typeface="Times New Roman"/>
                <a:ea typeface="Times New Roman"/>
                <a:cs typeface="Times New Roman"/>
                <a:sym typeface="Times New Roman"/>
              </a:rPr>
              <a:t>Covers only modern nutrition; no Ayurvedic or traditional diet systems.</a:t>
            </a:r>
          </a:p>
        </p:txBody>
      </p:sp>
      <p:sp>
        <p:nvSpPr>
          <p:cNvPr id="121" name="Google Shape;121;p3"/>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p>
            <a:pPr lvl="0"/>
            <a:r>
              <a:rPr lang="en-US" dirty="0">
                <a:latin typeface="Times New Roman"/>
                <a:ea typeface="Times New Roman"/>
                <a:cs typeface="Times New Roman"/>
                <a:sym typeface="Times New Roman"/>
              </a:rPr>
              <a:t>31-10-2026</a:t>
            </a:r>
          </a:p>
        </p:txBody>
      </p:sp>
      <p:sp>
        <p:nvSpPr>
          <p:cNvPr id="123" name="Google Shape;123;p3"/>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latin typeface="Times New Roman"/>
                <a:ea typeface="Times New Roman"/>
                <a:cs typeface="Times New Roman"/>
                <a:sym typeface="Times New Roman"/>
              </a:rPr>
              <a:t>NSP Project, July-Dec 2026</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4"/>
          <p:cNvSpPr txBox="1">
            <a:spLocks noGrp="1"/>
          </p:cNvSpPr>
          <p:nvPr>
            <p:ph type="title"/>
          </p:nvPr>
        </p:nvSpPr>
        <p:spPr>
          <a:xfrm>
            <a:off x="1828800" y="274320"/>
            <a:ext cx="9966960" cy="777240"/>
          </a:xfrm>
          <a:prstGeom prst="rect">
            <a:avLst/>
          </a:prstGeom>
          <a:noFill/>
          <a:ln>
            <a:noFill/>
          </a:ln>
        </p:spPr>
        <p:txBody>
          <a:bodyPr spcFirstLastPara="1" wrap="square" lIns="45720" tIns="45700" rIns="91425" bIns="45700" anchor="ctr" anchorCtr="0">
            <a:noAutofit/>
          </a:bodyPr>
          <a:lstStyle/>
          <a:p>
            <a:pPr marL="0" indent="0" algn="l">
              <a:spcBef>
                <a:spcPts val="0"/>
              </a:spcBef>
              <a:spcAft>
                <a:spcPts val="400"/>
              </a:spcAft>
              <a:buNone/>
            </a:pPr>
            <a:r>
              <a:rPr sz="3600" b="1" i="0">
                <a:solidFill>
                  <a:srgbClr val="562214"/>
                </a:solidFill>
                <a:latin typeface="Times New Roman"/>
                <a:ea typeface="Times New Roman"/>
                <a:cs typeface="Times New Roman"/>
                <a:sym typeface="Times New Roman"/>
              </a:rPr>
              <a:t>Literature Review: Paper 04</a:t>
            </a:r>
          </a:p>
        </p:txBody>
      </p:sp>
      <p:sp>
        <p:nvSpPr>
          <p:cNvPr id="129" name="Google Shape;129;p4"/>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7</a:t>
            </a:fld>
            <a:endParaRPr/>
          </a:p>
        </p:txBody>
      </p:sp>
      <p:sp>
        <p:nvSpPr>
          <p:cNvPr id="130" name="Google Shape;130;p4"/>
          <p:cNvSpPr txBox="1">
            <a:spLocks noGrp="1"/>
          </p:cNvSpPr>
          <p:nvPr>
            <p:ph type="body" idx="1"/>
          </p:nvPr>
        </p:nvSpPr>
        <p:spPr>
          <a:xfrm>
            <a:off x="1828800" y="1188720"/>
            <a:ext cx="9966960" cy="4937760"/>
          </a:xfrm>
          <a:prstGeom prst="rect">
            <a:avLst/>
          </a:prstGeom>
          <a:noFill/>
          <a:ln>
            <a:noFill/>
          </a:ln>
        </p:spPr>
        <p:txBody>
          <a:bodyPr spcFirstLastPara="1" wrap="square" lIns="91425" tIns="45700" rIns="91425" bIns="45700" anchor="t" anchorCtr="0"/>
          <a:lstStyle/>
          <a:p>
            <a:pPr marL="0" indent="0" algn="l">
              <a:spcBef>
                <a:spcPts val="0"/>
              </a:spcBef>
              <a:spcAft>
                <a:spcPts val="300"/>
              </a:spcAft>
              <a:buNone/>
            </a:pPr>
            <a:r>
              <a:rPr sz="2000" b="1" i="0">
                <a:solidFill>
                  <a:srgbClr val="562214"/>
                </a:solidFill>
                <a:latin typeface="Times New Roman"/>
                <a:ea typeface="Times New Roman"/>
                <a:cs typeface="Times New Roman"/>
                <a:sym typeface="Times New Roman"/>
              </a:rPr>
              <a:t>Systematic Review of Nutritional Recommendation Systems</a:t>
            </a:r>
          </a:p>
          <a:p>
            <a:pPr marL="0" indent="0" algn="l">
              <a:spcBef>
                <a:spcPts val="0"/>
              </a:spcBef>
              <a:spcAft>
                <a:spcPts val="1400"/>
              </a:spcAft>
              <a:buNone/>
            </a:pPr>
            <a:r>
              <a:rPr sz="1500" b="0" i="1">
                <a:solidFill>
                  <a:srgbClr val="555555"/>
                </a:solidFill>
                <a:latin typeface="Times New Roman"/>
                <a:ea typeface="Times New Roman"/>
                <a:cs typeface="Times New Roman"/>
                <a:sym typeface="Times New Roman"/>
              </a:rPr>
              <a:t>I. Orue-Saiz, M. Kazarez, A. Mendez-Zorrilla | Applied Sciences, 11(24), 12069, 2021</a:t>
            </a:r>
          </a:p>
          <a:p>
            <a:pPr marL="0" indent="0" algn="l">
              <a:spcBef>
                <a:spcPts val="0"/>
              </a:spcBef>
              <a:spcAft>
                <a:spcPts val="300"/>
              </a:spcAft>
              <a:buNone/>
            </a:pPr>
            <a:r>
              <a:rPr sz="1700" b="1" i="0">
                <a:solidFill>
                  <a:srgbClr val="3E6B2F"/>
                </a:solidFill>
                <a:latin typeface="Times New Roman"/>
                <a:ea typeface="Times New Roman"/>
                <a:cs typeface="Times New Roman"/>
                <a:sym typeface="Times New Roman"/>
              </a:rPr>
              <a:t>Overview:</a:t>
            </a:r>
          </a:p>
          <a:p>
            <a:pPr marL="228600" indent="-201168" algn="l">
              <a:spcBef>
                <a:spcPts val="0"/>
              </a:spcBef>
              <a:spcAft>
                <a:spcPts val="1000"/>
              </a:spcAft>
              <a:buClr>
                <a:srgbClr val="3E6B2F"/>
              </a:buClr>
              <a:buFont typeface="Arial"/>
              <a:buChar char="•"/>
            </a:pPr>
            <a:r>
              <a:rPr sz="1600" b="0" i="0">
                <a:solidFill>
                  <a:srgbClr val="222222"/>
                </a:solidFill>
                <a:latin typeface="Times New Roman"/>
                <a:ea typeface="Times New Roman"/>
                <a:cs typeface="Times New Roman"/>
                <a:sym typeface="Times New Roman"/>
              </a:rPr>
              <a:t>Review of the last five years of personalised nutrition recommendation research in major databases.</a:t>
            </a:r>
          </a:p>
          <a:p>
            <a:pPr marL="0" indent="0" algn="l">
              <a:spcBef>
                <a:spcPts val="0"/>
              </a:spcBef>
              <a:spcAft>
                <a:spcPts val="300"/>
              </a:spcAft>
              <a:buNone/>
            </a:pPr>
            <a:r>
              <a:rPr sz="1700" b="1" i="0">
                <a:solidFill>
                  <a:srgbClr val="3E6B2F"/>
                </a:solidFill>
                <a:latin typeface="Times New Roman"/>
                <a:ea typeface="Times New Roman"/>
                <a:cs typeface="Times New Roman"/>
                <a:sym typeface="Times New Roman"/>
              </a:rPr>
              <a:t>Key Contributions:</a:t>
            </a:r>
          </a:p>
          <a:p>
            <a:pPr marL="228600" indent="-201168" algn="l">
              <a:spcBef>
                <a:spcPts val="0"/>
              </a:spcBef>
              <a:spcAft>
                <a:spcPts val="200"/>
              </a:spcAft>
              <a:buClr>
                <a:srgbClr val="3E6B2F"/>
              </a:buClr>
              <a:buFont typeface="Arial"/>
              <a:buChar char="•"/>
            </a:pPr>
            <a:r>
              <a:rPr sz="1600" b="0" i="0">
                <a:solidFill>
                  <a:srgbClr val="222222"/>
                </a:solidFill>
                <a:latin typeface="Times New Roman"/>
                <a:ea typeface="Times New Roman"/>
                <a:cs typeface="Times New Roman"/>
                <a:sym typeface="Times New Roman"/>
              </a:rPr>
              <a:t>Most existing work relies on collaborative filtering.</a:t>
            </a:r>
          </a:p>
          <a:p>
            <a:pPr marL="228600" indent="-201168" algn="l">
              <a:spcBef>
                <a:spcPts val="0"/>
              </a:spcBef>
              <a:spcAft>
                <a:spcPts val="1000"/>
              </a:spcAft>
              <a:buClr>
                <a:srgbClr val="3E6B2F"/>
              </a:buClr>
              <a:buFont typeface="Arial"/>
              <a:buChar char="•"/>
            </a:pPr>
            <a:r>
              <a:rPr sz="1600" b="0" i="0">
                <a:solidFill>
                  <a:srgbClr val="222222"/>
                </a:solidFill>
                <a:latin typeface="Times New Roman"/>
                <a:ea typeface="Times New Roman"/>
                <a:cs typeface="Times New Roman"/>
                <a:sym typeface="Times New Roman"/>
              </a:rPr>
              <a:t>Many apps count calories or suggest recipes, but very few give truly personalised advice.</a:t>
            </a:r>
          </a:p>
          <a:p>
            <a:pPr marL="0" indent="0" algn="l">
              <a:spcBef>
                <a:spcPts val="0"/>
              </a:spcBef>
              <a:spcAft>
                <a:spcPts val="300"/>
              </a:spcAft>
              <a:buNone/>
            </a:pPr>
            <a:r>
              <a:rPr sz="1700" b="1" i="0">
                <a:solidFill>
                  <a:srgbClr val="3E6B2F"/>
                </a:solidFill>
                <a:latin typeface="Times New Roman"/>
                <a:ea typeface="Times New Roman"/>
                <a:cs typeface="Times New Roman"/>
                <a:sym typeface="Times New Roman"/>
              </a:rPr>
              <a:t>Problems Addressed:</a:t>
            </a:r>
          </a:p>
          <a:p>
            <a:pPr marL="228600" indent="-201168" algn="l">
              <a:spcBef>
                <a:spcPts val="0"/>
              </a:spcBef>
              <a:spcAft>
                <a:spcPts val="1000"/>
              </a:spcAft>
              <a:buClr>
                <a:srgbClr val="3E6B2F"/>
              </a:buClr>
              <a:buFont typeface="Arial"/>
              <a:buChar char="•"/>
            </a:pPr>
            <a:r>
              <a:rPr sz="1600" b="0" i="0">
                <a:solidFill>
                  <a:srgbClr val="222222"/>
                </a:solidFill>
                <a:latin typeface="Times New Roman"/>
                <a:ea typeface="Times New Roman"/>
                <a:cs typeface="Times New Roman"/>
                <a:sym typeface="Times New Roman"/>
              </a:rPr>
              <a:t>Lack of personalisation in diet and calorie-tracking applications.</a:t>
            </a:r>
          </a:p>
          <a:p>
            <a:pPr marL="0" indent="0" algn="l">
              <a:spcBef>
                <a:spcPts val="0"/>
              </a:spcBef>
              <a:spcAft>
                <a:spcPts val="300"/>
              </a:spcAft>
              <a:buNone/>
            </a:pPr>
            <a:r>
              <a:rPr sz="1700" b="1" i="0">
                <a:solidFill>
                  <a:srgbClr val="3E6B2F"/>
                </a:solidFill>
                <a:latin typeface="Times New Roman"/>
                <a:ea typeface="Times New Roman"/>
                <a:cs typeface="Times New Roman"/>
                <a:sym typeface="Times New Roman"/>
              </a:rPr>
              <a:t>Limitations:</a:t>
            </a:r>
          </a:p>
          <a:p>
            <a:pPr marL="228600" indent="-201168" algn="l">
              <a:spcBef>
                <a:spcPts val="0"/>
              </a:spcBef>
              <a:spcAft>
                <a:spcPts val="200"/>
              </a:spcAft>
              <a:buClr>
                <a:srgbClr val="3E6B2F"/>
              </a:buClr>
              <a:buFont typeface="Arial"/>
              <a:buChar char="•"/>
            </a:pPr>
            <a:r>
              <a:rPr sz="1600" b="0" i="0">
                <a:solidFill>
                  <a:srgbClr val="222222"/>
                </a:solidFill>
                <a:latin typeface="Times New Roman"/>
                <a:ea typeface="Times New Roman"/>
                <a:cs typeface="Times New Roman"/>
                <a:sym typeface="Times New Roman"/>
              </a:rPr>
              <a:t>Food data and nutrient indices are often not described, so results are hard to reproduce or compare.</a:t>
            </a:r>
          </a:p>
          <a:p>
            <a:pPr marL="228600" indent="-201168" algn="l">
              <a:spcBef>
                <a:spcPts val="0"/>
              </a:spcBef>
              <a:spcAft>
                <a:spcPts val="1000"/>
              </a:spcAft>
              <a:buClr>
                <a:srgbClr val="3E6B2F"/>
              </a:buClr>
              <a:buFont typeface="Arial"/>
              <a:buChar char="•"/>
            </a:pPr>
            <a:r>
              <a:rPr sz="1600" b="0" i="0">
                <a:solidFill>
                  <a:srgbClr val="222222"/>
                </a:solidFill>
                <a:latin typeface="Times New Roman"/>
                <a:ea typeface="Times New Roman"/>
                <a:cs typeface="Times New Roman"/>
                <a:sym typeface="Times New Roman"/>
              </a:rPr>
              <a:t>Recommends open, well-described data, which our system adopts (IFCT 2017).</a:t>
            </a:r>
          </a:p>
        </p:txBody>
      </p:sp>
      <p:sp>
        <p:nvSpPr>
          <p:cNvPr id="121" name="Google Shape;121;p3"/>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p>
            <a:pPr lvl="0"/>
            <a:r>
              <a:rPr lang="en-US" dirty="0">
                <a:latin typeface="Times New Roman"/>
                <a:ea typeface="Times New Roman"/>
                <a:cs typeface="Times New Roman"/>
                <a:sym typeface="Times New Roman"/>
              </a:rPr>
              <a:t>31-10-2026</a:t>
            </a:r>
          </a:p>
        </p:txBody>
      </p:sp>
      <p:sp>
        <p:nvSpPr>
          <p:cNvPr id="123" name="Google Shape;123;p3"/>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latin typeface="Times New Roman"/>
                <a:ea typeface="Times New Roman"/>
                <a:cs typeface="Times New Roman"/>
                <a:sym typeface="Times New Roman"/>
              </a:rPr>
              <a:t>NSP Project, July-Dec 2026</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5"/>
          <p:cNvSpPr txBox="1">
            <a:spLocks noGrp="1"/>
          </p:cNvSpPr>
          <p:nvPr>
            <p:ph type="title"/>
          </p:nvPr>
        </p:nvSpPr>
        <p:spPr>
          <a:xfrm>
            <a:off x="1828800" y="274320"/>
            <a:ext cx="9966960" cy="777240"/>
          </a:xfrm>
          <a:prstGeom prst="rect">
            <a:avLst/>
          </a:prstGeom>
          <a:noFill/>
          <a:ln>
            <a:noFill/>
          </a:ln>
        </p:spPr>
        <p:txBody>
          <a:bodyPr spcFirstLastPara="1" wrap="square" lIns="45720" tIns="45700" rIns="91425" bIns="45700" anchor="ctr" anchorCtr="0">
            <a:noAutofit/>
          </a:bodyPr>
          <a:lstStyle/>
          <a:p>
            <a:pPr marL="0" indent="0" algn="l">
              <a:spcBef>
                <a:spcPts val="0"/>
              </a:spcBef>
              <a:spcAft>
                <a:spcPts val="400"/>
              </a:spcAft>
              <a:buNone/>
            </a:pPr>
            <a:r>
              <a:rPr sz="3600" b="1" i="0">
                <a:solidFill>
                  <a:srgbClr val="562214"/>
                </a:solidFill>
                <a:latin typeface="Times New Roman"/>
                <a:ea typeface="Times New Roman"/>
                <a:cs typeface="Times New Roman"/>
                <a:sym typeface="Times New Roman"/>
              </a:rPr>
              <a:t>Comparison Table</a:t>
            </a:r>
          </a:p>
        </p:txBody>
      </p:sp>
      <p:sp>
        <p:nvSpPr>
          <p:cNvPr id="136" name="Google Shape;136;p5"/>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8</a:t>
            </a:fld>
            <a:endParaRPr/>
          </a:p>
        </p:txBody>
      </p:sp>
      <p:graphicFrame>
        <p:nvGraphicFramePr>
          <p:cNvPr id="137" name="Google Shape;137;p5"/>
          <p:cNvGraphicFramePr/>
          <p:nvPr>
            <p:extLst>
              <p:ext uri="{D42A27DB-BD31-4B8C-83A1-F6EECF244321}">
                <p14:modId xmlns:p14="http://schemas.microsoft.com/office/powerpoint/2010/main" val="800598233"/>
              </p:ext>
            </p:extLst>
          </p:nvPr>
        </p:nvGraphicFramePr>
        <p:xfrm>
          <a:off x="1828800" y="1188720"/>
          <a:ext cx="9458325" cy="5202555"/>
        </p:xfrm>
        <a:graphic>
          <a:graphicData uri="http://schemas.openxmlformats.org/drawingml/2006/table">
            <a:tbl>
              <a:tblPr>
                <a:noFill/>
                <a:tableStyleId>{C15F0898-FE79-4DDF-AAA5-9221B2DFA6C4}</a:tableStyleId>
              </a:tblPr>
              <a:tblGrid>
                <a:gridCol w="1260535">
                  <a:extLst>
                    <a:ext uri="{9D8B030D-6E8A-4147-A177-3AD203B41FA5}">
                      <a16:colId xmlns:a16="http://schemas.microsoft.com/office/drawing/2014/main" val="20000"/>
                    </a:ext>
                  </a:extLst>
                </a:gridCol>
                <a:gridCol w="1711265">
                  <a:extLst>
                    <a:ext uri="{9D8B030D-6E8A-4147-A177-3AD203B41FA5}">
                      <a16:colId xmlns:a16="http://schemas.microsoft.com/office/drawing/2014/main" val="20001"/>
                    </a:ext>
                  </a:extLst>
                </a:gridCol>
                <a:gridCol w="1771650">
                  <a:extLst>
                    <a:ext uri="{9D8B030D-6E8A-4147-A177-3AD203B41FA5}">
                      <a16:colId xmlns:a16="http://schemas.microsoft.com/office/drawing/2014/main" val="20002"/>
                    </a:ext>
                  </a:extLst>
                </a:gridCol>
                <a:gridCol w="2276475">
                  <a:extLst>
                    <a:ext uri="{9D8B030D-6E8A-4147-A177-3AD203B41FA5}">
                      <a16:colId xmlns:a16="http://schemas.microsoft.com/office/drawing/2014/main" val="20003"/>
                    </a:ext>
                  </a:extLst>
                </a:gridCol>
                <a:gridCol w="2438400">
                  <a:extLst>
                    <a:ext uri="{9D8B030D-6E8A-4147-A177-3AD203B41FA5}">
                      <a16:colId xmlns:a16="http://schemas.microsoft.com/office/drawing/2014/main" val="3674412907"/>
                    </a:ext>
                  </a:extLst>
                </a:gridCol>
              </a:tblGrid>
              <a:tr h="502920">
                <a:tc>
                  <a:txBody>
                    <a:bodyPr/>
                    <a:lstStyle/>
                    <a:p>
                      <a:pPr marL="0" indent="0" algn="l">
                        <a:spcBef>
                          <a:spcPts val="0"/>
                        </a:spcBef>
                        <a:spcAft>
                          <a:spcPts val="400"/>
                        </a:spcAft>
                        <a:buNone/>
                      </a:pPr>
                      <a:r>
                        <a:rPr sz="1300" b="1" i="0">
                          <a:solidFill>
                            <a:srgbClr val="FFFFFF"/>
                          </a:solidFill>
                          <a:latin typeface="Times New Roman" panose="02020603050405020304" pitchFamily="18" charset="0"/>
                          <a:ea typeface="Times New Roman"/>
                          <a:cs typeface="Times New Roman" panose="02020603050405020304" pitchFamily="18" charset="0"/>
                          <a:sym typeface="Times New Roman"/>
                        </a:rPr>
                        <a:t>Aspect</a:t>
                      </a:r>
                    </a:p>
                  </a:txBody>
                  <a:tcPr marL="73152" marR="73152" marT="36576" marB="36576" anchor="ctr">
                    <a:solidFill>
                      <a:srgbClr val="562214"/>
                    </a:solidFill>
                  </a:tcPr>
                </a:tc>
                <a:tc>
                  <a:txBody>
                    <a:bodyPr/>
                    <a:lstStyle/>
                    <a:p>
                      <a:pPr marL="0" indent="0" algn="l">
                        <a:spcBef>
                          <a:spcPts val="0"/>
                        </a:spcBef>
                        <a:spcAft>
                          <a:spcPts val="400"/>
                        </a:spcAft>
                        <a:buNone/>
                      </a:pPr>
                      <a:r>
                        <a:rPr sz="1300" b="1" i="0" dirty="0">
                          <a:solidFill>
                            <a:srgbClr val="FFFFFF"/>
                          </a:solidFill>
                          <a:latin typeface="Times New Roman" panose="02020603050405020304" pitchFamily="18" charset="0"/>
                          <a:ea typeface="Times New Roman"/>
                          <a:cs typeface="Times New Roman" panose="02020603050405020304" pitchFamily="18" charset="0"/>
                          <a:sym typeface="Times New Roman"/>
                        </a:rPr>
                        <a:t>Paper 1 (Chaitra et al.)</a:t>
                      </a:r>
                    </a:p>
                  </a:txBody>
                  <a:tcPr marL="73152" marR="73152" marT="36576" marB="36576" anchor="ctr">
                    <a:solidFill>
                      <a:srgbClr val="562214"/>
                    </a:solidFill>
                  </a:tcPr>
                </a:tc>
                <a:tc>
                  <a:txBody>
                    <a:bodyPr/>
                    <a:lstStyle/>
                    <a:p>
                      <a:pPr marL="0" indent="0" algn="l">
                        <a:spcBef>
                          <a:spcPts val="0"/>
                        </a:spcBef>
                        <a:spcAft>
                          <a:spcPts val="400"/>
                        </a:spcAft>
                        <a:buNone/>
                      </a:pPr>
                      <a:r>
                        <a:rPr sz="1300" b="1" i="0" dirty="0">
                          <a:solidFill>
                            <a:srgbClr val="FFFFFF"/>
                          </a:solidFill>
                          <a:latin typeface="Times New Roman" panose="02020603050405020304" pitchFamily="18" charset="0"/>
                          <a:ea typeface="Times New Roman"/>
                          <a:cs typeface="Times New Roman" panose="02020603050405020304" pitchFamily="18" charset="0"/>
                          <a:sym typeface="Times New Roman"/>
                        </a:rPr>
                        <a:t>Paper 2 (</a:t>
                      </a:r>
                      <a:r>
                        <a:rPr sz="1300" b="1" i="0" dirty="0" err="1">
                          <a:solidFill>
                            <a:srgbClr val="FFFFFF"/>
                          </a:solidFill>
                          <a:latin typeface="Times New Roman" panose="02020603050405020304" pitchFamily="18" charset="0"/>
                          <a:ea typeface="Times New Roman"/>
                          <a:cs typeface="Times New Roman" panose="02020603050405020304" pitchFamily="18" charset="0"/>
                          <a:sym typeface="Times New Roman"/>
                        </a:rPr>
                        <a:t>Vedaahar</a:t>
                      </a:r>
                      <a:r>
                        <a:rPr sz="1300" b="1" i="0" dirty="0">
                          <a:solidFill>
                            <a:srgbClr val="FFFFFF"/>
                          </a:solidFill>
                          <a:latin typeface="Times New Roman" panose="02020603050405020304" pitchFamily="18" charset="0"/>
                          <a:ea typeface="Times New Roman"/>
                          <a:cs typeface="Times New Roman" panose="02020603050405020304" pitchFamily="18" charset="0"/>
                          <a:sym typeface="Times New Roman"/>
                        </a:rPr>
                        <a:t>)</a:t>
                      </a:r>
                    </a:p>
                  </a:txBody>
                  <a:tcPr marL="73152" marR="73152" marT="36576" marB="36576" anchor="ctr">
                    <a:solidFill>
                      <a:srgbClr val="562214"/>
                    </a:solidFill>
                  </a:tcPr>
                </a:tc>
                <a:tc>
                  <a:txBody>
                    <a:bodyPr/>
                    <a:lstStyle/>
                    <a:p>
                      <a:pPr marL="0" indent="0" algn="l">
                        <a:spcBef>
                          <a:spcPts val="0"/>
                        </a:spcBef>
                        <a:spcAft>
                          <a:spcPts val="400"/>
                        </a:spcAft>
                        <a:buNone/>
                      </a:pPr>
                      <a:r>
                        <a:rPr lang="nb-NO" sz="1300" b="1" i="0" dirty="0">
                          <a:solidFill>
                            <a:srgbClr val="FFFFFF"/>
                          </a:solidFill>
                          <a:latin typeface="Times New Roman" panose="02020603050405020304" pitchFamily="18" charset="0"/>
                          <a:ea typeface="Times New Roman"/>
                          <a:cs typeface="Times New Roman" panose="02020603050405020304" pitchFamily="18" charset="0"/>
                          <a:sym typeface="Times New Roman"/>
                        </a:rPr>
                        <a:t>Paper 3 (Abhari et al.)</a:t>
                      </a:r>
                      <a:endParaRPr sz="1300" b="1" i="0" dirty="0">
                        <a:solidFill>
                          <a:srgbClr val="FFFFFF"/>
                        </a:solidFill>
                        <a:latin typeface="Times New Roman" panose="02020603050405020304" pitchFamily="18" charset="0"/>
                        <a:ea typeface="Times New Roman"/>
                        <a:cs typeface="Times New Roman" panose="02020603050405020304" pitchFamily="18" charset="0"/>
                        <a:sym typeface="Times New Roman"/>
                      </a:endParaRPr>
                    </a:p>
                  </a:txBody>
                  <a:tcPr marL="73152" marR="73152" marT="36576" marB="36576" anchor="ctr">
                    <a:solidFill>
                      <a:srgbClr val="562214"/>
                    </a:solidFill>
                  </a:tcPr>
                </a:tc>
                <a:tc>
                  <a:txBody>
                    <a:bodyPr/>
                    <a:lstStyle/>
                    <a:p>
                      <a:pPr marL="0" indent="0" algn="l">
                        <a:spcBef>
                          <a:spcPts val="0"/>
                        </a:spcBef>
                        <a:spcAft>
                          <a:spcPts val="400"/>
                        </a:spcAft>
                        <a:buNone/>
                      </a:pPr>
                      <a:r>
                        <a:rPr lang="nb-NO" sz="1200" b="1" i="0" dirty="0">
                          <a:solidFill>
                            <a:srgbClr val="FFFFFF"/>
                          </a:solidFill>
                          <a:latin typeface="Times New Roman" panose="02020603050405020304" pitchFamily="18" charset="0"/>
                          <a:ea typeface="Times New Roman"/>
                          <a:cs typeface="Times New Roman" panose="02020603050405020304" pitchFamily="18" charset="0"/>
                          <a:sym typeface="Times New Roman"/>
                        </a:rPr>
                        <a:t>Paper 4 (Orue-Saiz et al.)</a:t>
                      </a:r>
                    </a:p>
                  </a:txBody>
                  <a:tcPr marL="73152" marR="73152" marT="36576" marB="36576" anchor="ctr">
                    <a:solidFill>
                      <a:srgbClr val="562214"/>
                    </a:solidFill>
                  </a:tcPr>
                </a:tc>
                <a:extLst>
                  <a:ext uri="{0D108BD9-81ED-4DB2-BD59-A6C34878D82A}">
                    <a16:rowId xmlns:a16="http://schemas.microsoft.com/office/drawing/2014/main" val="10000"/>
                  </a:ext>
                </a:extLst>
              </a:tr>
              <a:tr h="718185">
                <a:tc>
                  <a:txBody>
                    <a:bodyPr/>
                    <a:lstStyle/>
                    <a:p>
                      <a:pPr marL="0" indent="0" algn="l">
                        <a:spcBef>
                          <a:spcPts val="0"/>
                        </a:spcBef>
                        <a:spcAft>
                          <a:spcPts val="400"/>
                        </a:spcAft>
                        <a:buNone/>
                      </a:pPr>
                      <a:r>
                        <a:rPr sz="1300" b="1" i="0">
                          <a:solidFill>
                            <a:srgbClr val="562214"/>
                          </a:solidFill>
                          <a:latin typeface="Times New Roman" panose="02020603050405020304" pitchFamily="18" charset="0"/>
                          <a:ea typeface="Times New Roman"/>
                          <a:cs typeface="Times New Roman" panose="02020603050405020304" pitchFamily="18" charset="0"/>
                          <a:sym typeface="Times New Roman"/>
                        </a:rPr>
                        <a:t>Approach</a:t>
                      </a:r>
                    </a:p>
                  </a:txBody>
                  <a:tcPr marL="73152" marR="73152" marT="36576" marB="36576" anchor="ctr">
                    <a:solidFill>
                      <a:srgbClr val="FFFFFF"/>
                    </a:solidFill>
                  </a:tcPr>
                </a:tc>
                <a:tc>
                  <a:txBody>
                    <a:bodyPr/>
                    <a:lstStyle/>
                    <a:p>
                      <a:pPr marL="0" indent="0" algn="l">
                        <a:spcBef>
                          <a:spcPts val="0"/>
                        </a:spcBef>
                        <a:spcAft>
                          <a:spcPts val="400"/>
                        </a:spcAft>
                        <a:buNone/>
                      </a:pPr>
                      <a:r>
                        <a:rPr sz="1300" b="0" i="0">
                          <a:solidFill>
                            <a:srgbClr val="222222"/>
                          </a:solidFill>
                          <a:latin typeface="Times New Roman" panose="02020603050405020304" pitchFamily="18" charset="0"/>
                          <a:ea typeface="Times New Roman"/>
                          <a:cs typeface="Times New Roman" panose="02020603050405020304" pitchFamily="18" charset="0"/>
                          <a:sym typeface="Times New Roman"/>
                        </a:rPr>
                        <a:t>Rule-based, cloud web app</a:t>
                      </a:r>
                    </a:p>
                  </a:txBody>
                  <a:tcPr marL="73152" marR="73152" marT="36576" marB="36576" anchor="ctr">
                    <a:solidFill>
                      <a:srgbClr val="FFFFFF"/>
                    </a:solidFill>
                  </a:tcPr>
                </a:tc>
                <a:tc>
                  <a:txBody>
                    <a:bodyPr/>
                    <a:lstStyle/>
                    <a:p>
                      <a:pPr marL="0" indent="0" algn="l">
                        <a:spcBef>
                          <a:spcPts val="0"/>
                        </a:spcBef>
                        <a:spcAft>
                          <a:spcPts val="400"/>
                        </a:spcAft>
                        <a:buNone/>
                      </a:pPr>
                      <a:r>
                        <a:rPr sz="1300" b="0" i="0">
                          <a:solidFill>
                            <a:srgbClr val="222222"/>
                          </a:solidFill>
                          <a:latin typeface="Times New Roman" panose="02020603050405020304" pitchFamily="18" charset="0"/>
                          <a:ea typeface="Times New Roman"/>
                          <a:cs typeface="Times New Roman" panose="02020603050405020304" pitchFamily="18" charset="0"/>
                          <a:sym typeface="Times New Roman"/>
                        </a:rPr>
                        <a:t>Random Forest + rules</a:t>
                      </a:r>
                    </a:p>
                  </a:txBody>
                  <a:tcPr marL="73152" marR="73152" marT="36576" marB="36576" anchor="ctr">
                    <a:solidFill>
                      <a:srgbClr val="FFFFFF"/>
                    </a:solidFill>
                  </a:tcPr>
                </a:tc>
                <a:tc>
                  <a:txBody>
                    <a:bodyPr/>
                    <a:lstStyle/>
                    <a:p>
                      <a:pPr marL="0" indent="0" algn="l">
                        <a:spcBef>
                          <a:spcPts val="0"/>
                        </a:spcBef>
                        <a:spcAft>
                          <a:spcPts val="400"/>
                        </a:spcAft>
                        <a:buNone/>
                      </a:pPr>
                      <a:r>
                        <a:rPr lang="en-IN" sz="1200" dirty="0">
                          <a:latin typeface="Times New Roman" panose="02020603050405020304" pitchFamily="18" charset="0"/>
                          <a:cs typeface="Times New Roman" panose="02020603050405020304" pitchFamily="18" charset="0"/>
                        </a:rPr>
                        <a:t>Systematic review; hybrid and knowledge-based systems</a:t>
                      </a:r>
                      <a:endParaRPr sz="1300" b="0" i="0" dirty="0">
                        <a:solidFill>
                          <a:srgbClr val="222222"/>
                        </a:solidFill>
                        <a:latin typeface="Times New Roman" panose="02020603050405020304" pitchFamily="18" charset="0"/>
                        <a:ea typeface="Times New Roman"/>
                        <a:cs typeface="Times New Roman" panose="02020603050405020304" pitchFamily="18" charset="0"/>
                        <a:sym typeface="Times New Roman"/>
                      </a:endParaRPr>
                    </a:p>
                  </a:txBody>
                  <a:tcPr marL="73152" marR="73152" marT="36576" marB="36576" anchor="ctr">
                    <a:solidFill>
                      <a:srgbClr val="FFFFFF"/>
                    </a:solidFill>
                  </a:tcPr>
                </a:tc>
                <a:tc>
                  <a:txBody>
                    <a:bodyPr/>
                    <a:lstStyle/>
                    <a:p>
                      <a:pPr marL="0" indent="0" algn="l">
                        <a:spcBef>
                          <a:spcPts val="0"/>
                        </a:spcBef>
                        <a:spcAft>
                          <a:spcPts val="400"/>
                        </a:spcAft>
                        <a:buNone/>
                      </a:pPr>
                      <a:r>
                        <a:rPr lang="en-IN" sz="1200" dirty="0">
                          <a:latin typeface="Times New Roman" panose="02020603050405020304" pitchFamily="18" charset="0"/>
                          <a:cs typeface="Times New Roman" panose="02020603050405020304" pitchFamily="18" charset="0"/>
                        </a:rPr>
                        <a:t>Systematic review; collaborative filtering</a:t>
                      </a:r>
                      <a:endParaRPr sz="1300" b="0" i="0" dirty="0">
                        <a:solidFill>
                          <a:srgbClr val="222222"/>
                        </a:solidFill>
                        <a:latin typeface="Times New Roman" panose="02020603050405020304" pitchFamily="18" charset="0"/>
                        <a:ea typeface="Times New Roman"/>
                        <a:cs typeface="Times New Roman" panose="02020603050405020304" pitchFamily="18" charset="0"/>
                        <a:sym typeface="Times New Roman"/>
                      </a:endParaRPr>
                    </a:p>
                  </a:txBody>
                  <a:tcPr marL="73152" marR="73152" marT="36576" marB="36576" anchor="ctr">
                    <a:solidFill>
                      <a:srgbClr val="FFFFFF"/>
                    </a:solidFill>
                  </a:tcPr>
                </a:tc>
                <a:extLst>
                  <a:ext uri="{0D108BD9-81ED-4DB2-BD59-A6C34878D82A}">
                    <a16:rowId xmlns:a16="http://schemas.microsoft.com/office/drawing/2014/main" val="10001"/>
                  </a:ext>
                </a:extLst>
              </a:tr>
              <a:tr h="712470">
                <a:tc>
                  <a:txBody>
                    <a:bodyPr/>
                    <a:lstStyle/>
                    <a:p>
                      <a:pPr marL="0" indent="0" algn="l">
                        <a:spcBef>
                          <a:spcPts val="0"/>
                        </a:spcBef>
                        <a:spcAft>
                          <a:spcPts val="400"/>
                        </a:spcAft>
                        <a:buNone/>
                      </a:pPr>
                      <a:r>
                        <a:rPr sz="1300" b="1" i="0">
                          <a:solidFill>
                            <a:srgbClr val="562214"/>
                          </a:solidFill>
                          <a:latin typeface="Times New Roman" panose="02020603050405020304" pitchFamily="18" charset="0"/>
                          <a:ea typeface="Times New Roman"/>
                          <a:cs typeface="Times New Roman" panose="02020603050405020304" pitchFamily="18" charset="0"/>
                          <a:sym typeface="Times New Roman"/>
                        </a:rPr>
                        <a:t>Ayurvedic factors</a:t>
                      </a:r>
                    </a:p>
                  </a:txBody>
                  <a:tcPr marL="73152" marR="73152" marT="36576" marB="36576" anchor="ctr">
                    <a:solidFill>
                      <a:srgbClr val="F6F2EC"/>
                    </a:solidFill>
                  </a:tcPr>
                </a:tc>
                <a:tc>
                  <a:txBody>
                    <a:bodyPr/>
                    <a:lstStyle/>
                    <a:p>
                      <a:pPr marL="0" indent="0" algn="l">
                        <a:spcBef>
                          <a:spcPts val="0"/>
                        </a:spcBef>
                        <a:spcAft>
                          <a:spcPts val="400"/>
                        </a:spcAft>
                        <a:buNone/>
                      </a:pPr>
                      <a:r>
                        <a:rPr sz="1300" b="0" i="0">
                          <a:solidFill>
                            <a:srgbClr val="222222"/>
                          </a:solidFill>
                          <a:latin typeface="Times New Roman" panose="02020603050405020304" pitchFamily="18" charset="0"/>
                          <a:ea typeface="Times New Roman"/>
                          <a:cs typeface="Times New Roman" panose="02020603050405020304" pitchFamily="18" charset="0"/>
                          <a:sym typeface="Times New Roman"/>
                        </a:rPr>
                        <a:t>Rasa, Guna, Veerya, Dosha</a:t>
                      </a:r>
                    </a:p>
                  </a:txBody>
                  <a:tcPr marL="73152" marR="73152" marT="36576" marB="36576" anchor="ctr">
                    <a:solidFill>
                      <a:srgbClr val="F6F2EC"/>
                    </a:solidFill>
                  </a:tcPr>
                </a:tc>
                <a:tc>
                  <a:txBody>
                    <a:bodyPr/>
                    <a:lstStyle/>
                    <a:p>
                      <a:pPr marL="0" indent="0" algn="l">
                        <a:spcBef>
                          <a:spcPts val="0"/>
                        </a:spcBef>
                        <a:spcAft>
                          <a:spcPts val="400"/>
                        </a:spcAft>
                        <a:buNone/>
                      </a:pPr>
                      <a:r>
                        <a:rPr sz="1300" b="0" i="0">
                          <a:solidFill>
                            <a:srgbClr val="222222"/>
                          </a:solidFill>
                          <a:latin typeface="Times New Roman" panose="02020603050405020304" pitchFamily="18" charset="0"/>
                          <a:ea typeface="Times New Roman"/>
                          <a:cs typeface="Times New Roman" panose="02020603050405020304" pitchFamily="18" charset="0"/>
                          <a:sym typeface="Times New Roman"/>
                        </a:rPr>
                        <a:t>Prakriti, Ritu, Ahara Vidhi</a:t>
                      </a:r>
                    </a:p>
                  </a:txBody>
                  <a:tcPr marL="73152" marR="73152" marT="36576" marB="36576" anchor="ctr">
                    <a:solidFill>
                      <a:srgbClr val="F6F2EC"/>
                    </a:solidFill>
                  </a:tcPr>
                </a:tc>
                <a:tc>
                  <a:txBody>
                    <a:bodyPr/>
                    <a:lstStyle/>
                    <a:p>
                      <a:pPr marL="0" indent="0" algn="l">
                        <a:spcBef>
                          <a:spcPts val="0"/>
                        </a:spcBef>
                        <a:spcAft>
                          <a:spcPts val="400"/>
                        </a:spcAft>
                        <a:buNone/>
                      </a:pPr>
                      <a:r>
                        <a:rPr sz="1300" b="0" i="0">
                          <a:solidFill>
                            <a:srgbClr val="222222"/>
                          </a:solidFill>
                          <a:latin typeface="Times New Roman" panose="02020603050405020304" pitchFamily="18" charset="0"/>
                          <a:ea typeface="Times New Roman"/>
                          <a:cs typeface="Times New Roman" panose="02020603050405020304" pitchFamily="18" charset="0"/>
                          <a:sym typeface="Times New Roman"/>
                        </a:rPr>
                        <a:t>Not covered</a:t>
                      </a:r>
                    </a:p>
                  </a:txBody>
                  <a:tcPr marL="73152" marR="73152" marT="36576" marB="36576" anchor="ctr">
                    <a:solidFill>
                      <a:srgbClr val="F6F2EC"/>
                    </a:solidFill>
                  </a:tcPr>
                </a:tc>
                <a:tc>
                  <a:txBody>
                    <a:bodyPr/>
                    <a:lstStyle/>
                    <a:p>
                      <a:pPr marL="0" indent="0" algn="l">
                        <a:spcBef>
                          <a:spcPts val="0"/>
                        </a:spcBef>
                        <a:spcAft>
                          <a:spcPts val="400"/>
                        </a:spcAft>
                        <a:buNone/>
                      </a:pPr>
                      <a:r>
                        <a:rPr lang="en-IN" sz="1200" dirty="0">
                          <a:latin typeface="Times New Roman" panose="02020603050405020304" pitchFamily="18" charset="0"/>
                          <a:cs typeface="Times New Roman" panose="02020603050405020304" pitchFamily="18" charset="0"/>
                        </a:rPr>
                        <a:t>Not covered</a:t>
                      </a:r>
                      <a:endParaRPr sz="1300" b="0" i="0" dirty="0">
                        <a:solidFill>
                          <a:srgbClr val="222222"/>
                        </a:solidFill>
                        <a:latin typeface="Times New Roman" panose="02020603050405020304" pitchFamily="18" charset="0"/>
                        <a:ea typeface="Times New Roman"/>
                        <a:cs typeface="Times New Roman" panose="02020603050405020304" pitchFamily="18" charset="0"/>
                        <a:sym typeface="Times New Roman"/>
                      </a:endParaRPr>
                    </a:p>
                  </a:txBody>
                  <a:tcPr marL="73152" marR="73152" marT="36576" marB="36576" anchor="ctr">
                    <a:solidFill>
                      <a:srgbClr val="F6F2EC"/>
                    </a:solidFill>
                  </a:tcPr>
                </a:tc>
                <a:extLst>
                  <a:ext uri="{0D108BD9-81ED-4DB2-BD59-A6C34878D82A}">
                    <a16:rowId xmlns:a16="http://schemas.microsoft.com/office/drawing/2014/main" val="10002"/>
                  </a:ext>
                </a:extLst>
              </a:tr>
              <a:tr h="601980">
                <a:tc>
                  <a:txBody>
                    <a:bodyPr/>
                    <a:lstStyle/>
                    <a:p>
                      <a:pPr marL="0" indent="0" algn="l">
                        <a:spcBef>
                          <a:spcPts val="0"/>
                        </a:spcBef>
                        <a:spcAft>
                          <a:spcPts val="400"/>
                        </a:spcAft>
                        <a:buNone/>
                      </a:pPr>
                      <a:r>
                        <a:rPr sz="1300" b="1" i="0">
                          <a:solidFill>
                            <a:srgbClr val="562214"/>
                          </a:solidFill>
                          <a:latin typeface="Times New Roman" panose="02020603050405020304" pitchFamily="18" charset="0"/>
                          <a:ea typeface="Times New Roman"/>
                          <a:cs typeface="Times New Roman" panose="02020603050405020304" pitchFamily="18" charset="0"/>
                          <a:sym typeface="Times New Roman"/>
                        </a:rPr>
                        <a:t>Nutrient analysis</a:t>
                      </a:r>
                    </a:p>
                  </a:txBody>
                  <a:tcPr marL="73152" marR="73152" marT="36576" marB="36576" anchor="ctr">
                    <a:solidFill>
                      <a:srgbClr val="FFFFFF"/>
                    </a:solidFill>
                  </a:tcPr>
                </a:tc>
                <a:tc>
                  <a:txBody>
                    <a:bodyPr/>
                    <a:lstStyle/>
                    <a:p>
                      <a:pPr marL="0" indent="0" algn="l">
                        <a:spcBef>
                          <a:spcPts val="0"/>
                        </a:spcBef>
                        <a:spcAft>
                          <a:spcPts val="400"/>
                        </a:spcAft>
                        <a:buNone/>
                      </a:pPr>
                      <a:r>
                        <a:rPr sz="1300" b="0" i="0">
                          <a:solidFill>
                            <a:srgbClr val="222222"/>
                          </a:solidFill>
                          <a:latin typeface="Times New Roman" panose="02020603050405020304" pitchFamily="18" charset="0"/>
                          <a:ea typeface="Times New Roman"/>
                          <a:cs typeface="Times New Roman" panose="02020603050405020304" pitchFamily="18" charset="0"/>
                          <a:sym typeface="Times New Roman"/>
                        </a:rPr>
                        <a:t>Yes (USDA, NutriSurvey)</a:t>
                      </a:r>
                    </a:p>
                  </a:txBody>
                  <a:tcPr marL="73152" marR="73152" marT="36576" marB="36576" anchor="ctr">
                    <a:solidFill>
                      <a:srgbClr val="FFFFFF"/>
                    </a:solidFill>
                  </a:tcPr>
                </a:tc>
                <a:tc>
                  <a:txBody>
                    <a:bodyPr/>
                    <a:lstStyle/>
                    <a:p>
                      <a:pPr marL="0" indent="0" algn="l">
                        <a:spcBef>
                          <a:spcPts val="0"/>
                        </a:spcBef>
                        <a:spcAft>
                          <a:spcPts val="400"/>
                        </a:spcAft>
                        <a:buNone/>
                      </a:pPr>
                      <a:r>
                        <a:rPr sz="1300" b="0" i="0">
                          <a:solidFill>
                            <a:srgbClr val="222222"/>
                          </a:solidFill>
                          <a:latin typeface="Times New Roman" panose="02020603050405020304" pitchFamily="18" charset="0"/>
                          <a:ea typeface="Times New Roman"/>
                          <a:cs typeface="Times New Roman" panose="02020603050405020304" pitchFamily="18" charset="0"/>
                          <a:sym typeface="Times New Roman"/>
                        </a:rPr>
                        <a:t>No</a:t>
                      </a:r>
                    </a:p>
                  </a:txBody>
                  <a:tcPr marL="73152" marR="73152" marT="36576" marB="36576" anchor="ctr">
                    <a:solidFill>
                      <a:srgbClr val="FFFFFF"/>
                    </a:solidFill>
                  </a:tcPr>
                </a:tc>
                <a:tc>
                  <a:txBody>
                    <a:bodyPr/>
                    <a:lstStyle/>
                    <a:p>
                      <a:pPr marL="0" indent="0" algn="l">
                        <a:spcBef>
                          <a:spcPts val="0"/>
                        </a:spcBef>
                        <a:spcAft>
                          <a:spcPts val="400"/>
                        </a:spcAft>
                        <a:buNone/>
                      </a:pPr>
                      <a:r>
                        <a:rPr lang="en-IN" sz="1200" dirty="0">
                          <a:latin typeface="Times New Roman" panose="02020603050405020304" pitchFamily="18" charset="0"/>
                          <a:cs typeface="Times New Roman" panose="02020603050405020304" pitchFamily="18" charset="0"/>
                        </a:rPr>
                        <a:t>Focuses on modern nutrition recommendation techniques</a:t>
                      </a:r>
                      <a:endParaRPr sz="1300" b="0" i="0" dirty="0">
                        <a:solidFill>
                          <a:srgbClr val="222222"/>
                        </a:solidFill>
                        <a:latin typeface="Times New Roman" panose="02020603050405020304" pitchFamily="18" charset="0"/>
                        <a:ea typeface="Times New Roman"/>
                        <a:cs typeface="Times New Roman" panose="02020603050405020304" pitchFamily="18" charset="0"/>
                        <a:sym typeface="Times New Roman"/>
                      </a:endParaRPr>
                    </a:p>
                  </a:txBody>
                  <a:tcPr marL="73152" marR="73152" marT="36576" marB="36576" anchor="ctr">
                    <a:solidFill>
                      <a:srgbClr val="FFFFFF"/>
                    </a:solidFill>
                  </a:tcPr>
                </a:tc>
                <a:tc>
                  <a:txBody>
                    <a:bodyPr/>
                    <a:lstStyle/>
                    <a:p>
                      <a:pPr marL="0" indent="0" algn="l">
                        <a:spcBef>
                          <a:spcPts val="0"/>
                        </a:spcBef>
                        <a:spcAft>
                          <a:spcPts val="400"/>
                        </a:spcAft>
                        <a:buNone/>
                      </a:pPr>
                      <a:r>
                        <a:rPr lang="en-IN" sz="1200" dirty="0">
                          <a:latin typeface="Times New Roman" panose="02020603050405020304" pitchFamily="18" charset="0"/>
                          <a:cs typeface="Times New Roman" panose="02020603050405020304" pitchFamily="18" charset="0"/>
                        </a:rPr>
                        <a:t>Calories and recipes; nutrient indices often not described</a:t>
                      </a:r>
                      <a:endParaRPr sz="1300" b="0" i="0" dirty="0">
                        <a:solidFill>
                          <a:srgbClr val="222222"/>
                        </a:solidFill>
                        <a:latin typeface="Times New Roman" panose="02020603050405020304" pitchFamily="18" charset="0"/>
                        <a:ea typeface="Times New Roman"/>
                        <a:cs typeface="Times New Roman" panose="02020603050405020304" pitchFamily="18" charset="0"/>
                        <a:sym typeface="Times New Roman"/>
                      </a:endParaRPr>
                    </a:p>
                  </a:txBody>
                  <a:tcPr marL="73152" marR="73152" marT="36576" marB="36576" anchor="ctr">
                    <a:solidFill>
                      <a:srgbClr val="FFFFFF"/>
                    </a:solidFill>
                  </a:tcPr>
                </a:tc>
                <a:extLst>
                  <a:ext uri="{0D108BD9-81ED-4DB2-BD59-A6C34878D82A}">
                    <a16:rowId xmlns:a16="http://schemas.microsoft.com/office/drawing/2014/main" val="10003"/>
                  </a:ext>
                </a:extLst>
              </a:tr>
              <a:tr h="710565">
                <a:tc>
                  <a:txBody>
                    <a:bodyPr/>
                    <a:lstStyle/>
                    <a:p>
                      <a:pPr marL="0" indent="0" algn="l">
                        <a:spcBef>
                          <a:spcPts val="0"/>
                        </a:spcBef>
                        <a:spcAft>
                          <a:spcPts val="400"/>
                        </a:spcAft>
                        <a:buNone/>
                      </a:pPr>
                      <a:r>
                        <a:rPr sz="1300" b="1" i="0">
                          <a:solidFill>
                            <a:srgbClr val="562214"/>
                          </a:solidFill>
                          <a:latin typeface="Times New Roman" panose="02020603050405020304" pitchFamily="18" charset="0"/>
                          <a:ea typeface="Times New Roman"/>
                          <a:cs typeface="Times New Roman" panose="02020603050405020304" pitchFamily="18" charset="0"/>
                          <a:sym typeface="Times New Roman"/>
                        </a:rPr>
                        <a:t>Patient management</a:t>
                      </a:r>
                    </a:p>
                  </a:txBody>
                  <a:tcPr marL="73152" marR="73152" marT="36576" marB="36576" anchor="ctr">
                    <a:solidFill>
                      <a:srgbClr val="F6F2EC"/>
                    </a:solidFill>
                  </a:tcPr>
                </a:tc>
                <a:tc>
                  <a:txBody>
                    <a:bodyPr/>
                    <a:lstStyle/>
                    <a:p>
                      <a:pPr marL="0" indent="0" algn="l">
                        <a:spcBef>
                          <a:spcPts val="0"/>
                        </a:spcBef>
                        <a:spcAft>
                          <a:spcPts val="400"/>
                        </a:spcAft>
                        <a:buNone/>
                      </a:pPr>
                      <a:r>
                        <a:rPr sz="1300" b="0" i="0" dirty="0">
                          <a:solidFill>
                            <a:srgbClr val="222222"/>
                          </a:solidFill>
                          <a:latin typeface="Times New Roman" panose="02020603050405020304" pitchFamily="18" charset="0"/>
                          <a:ea typeface="Times New Roman"/>
                          <a:cs typeface="Times New Roman" panose="02020603050405020304" pitchFamily="18" charset="0"/>
                          <a:sym typeface="Times New Roman"/>
                        </a:rPr>
                        <a:t>Yes</a:t>
                      </a:r>
                    </a:p>
                  </a:txBody>
                  <a:tcPr marL="73152" marR="73152" marT="36576" marB="36576" anchor="ctr">
                    <a:solidFill>
                      <a:srgbClr val="F6F2EC"/>
                    </a:solidFill>
                  </a:tcPr>
                </a:tc>
                <a:tc>
                  <a:txBody>
                    <a:bodyPr/>
                    <a:lstStyle/>
                    <a:p>
                      <a:pPr marL="0" indent="0" algn="l">
                        <a:spcBef>
                          <a:spcPts val="0"/>
                        </a:spcBef>
                        <a:spcAft>
                          <a:spcPts val="400"/>
                        </a:spcAft>
                        <a:buNone/>
                      </a:pPr>
                      <a:r>
                        <a:rPr sz="1300" b="0" i="0">
                          <a:solidFill>
                            <a:srgbClr val="222222"/>
                          </a:solidFill>
                          <a:latin typeface="Times New Roman" panose="02020603050405020304" pitchFamily="18" charset="0"/>
                          <a:ea typeface="Times New Roman"/>
                          <a:cs typeface="Times New Roman" panose="02020603050405020304" pitchFamily="18" charset="0"/>
                          <a:sym typeface="Times New Roman"/>
                        </a:rPr>
                        <a:t>No</a:t>
                      </a:r>
                    </a:p>
                  </a:txBody>
                  <a:tcPr marL="73152" marR="73152" marT="36576" marB="36576" anchor="ctr">
                    <a:solidFill>
                      <a:srgbClr val="F6F2EC"/>
                    </a:solidFill>
                  </a:tcPr>
                </a:tc>
                <a:tc>
                  <a:txBody>
                    <a:bodyPr/>
                    <a:lstStyle/>
                    <a:p>
                      <a:pPr marL="0" indent="0" algn="l">
                        <a:spcBef>
                          <a:spcPts val="0"/>
                        </a:spcBef>
                        <a:spcAft>
                          <a:spcPts val="400"/>
                        </a:spcAft>
                        <a:buNone/>
                      </a:pPr>
                      <a:r>
                        <a:rPr sz="1300" b="0" i="0">
                          <a:solidFill>
                            <a:srgbClr val="222222"/>
                          </a:solidFill>
                          <a:latin typeface="Times New Roman" panose="02020603050405020304" pitchFamily="18" charset="0"/>
                          <a:ea typeface="Times New Roman"/>
                          <a:cs typeface="Times New Roman" panose="02020603050405020304" pitchFamily="18" charset="0"/>
                          <a:sym typeface="Times New Roman"/>
                        </a:rPr>
                        <a:t>No</a:t>
                      </a:r>
                    </a:p>
                  </a:txBody>
                  <a:tcPr marL="73152" marR="73152" marT="36576" marB="36576" anchor="ctr">
                    <a:solidFill>
                      <a:srgbClr val="F6F2EC"/>
                    </a:solidFill>
                  </a:tcPr>
                </a:tc>
                <a:tc>
                  <a:txBody>
                    <a:bodyPr/>
                    <a:lstStyle/>
                    <a:p>
                      <a:pPr marL="0" indent="0" algn="l">
                        <a:spcBef>
                          <a:spcPts val="0"/>
                        </a:spcBef>
                        <a:spcAft>
                          <a:spcPts val="400"/>
                        </a:spcAft>
                        <a:buNone/>
                      </a:pPr>
                      <a:r>
                        <a:rPr lang="en-IN" sz="1300" b="0" i="0" dirty="0">
                          <a:solidFill>
                            <a:srgbClr val="222222"/>
                          </a:solidFill>
                          <a:latin typeface="Times New Roman" panose="02020603050405020304" pitchFamily="18" charset="0"/>
                          <a:ea typeface="Times New Roman"/>
                          <a:cs typeface="Times New Roman" panose="02020603050405020304" pitchFamily="18" charset="0"/>
                          <a:sym typeface="Times New Roman"/>
                        </a:rPr>
                        <a:t>No</a:t>
                      </a:r>
                      <a:endParaRPr sz="1300" b="0" i="0" dirty="0">
                        <a:solidFill>
                          <a:srgbClr val="222222"/>
                        </a:solidFill>
                        <a:latin typeface="Times New Roman" panose="02020603050405020304" pitchFamily="18" charset="0"/>
                        <a:ea typeface="Times New Roman"/>
                        <a:cs typeface="Times New Roman" panose="02020603050405020304" pitchFamily="18" charset="0"/>
                        <a:sym typeface="Times New Roman"/>
                      </a:endParaRPr>
                    </a:p>
                  </a:txBody>
                  <a:tcPr marL="73152" marR="73152" marT="36576" marB="36576" anchor="ctr">
                    <a:solidFill>
                      <a:srgbClr val="F6F2EC"/>
                    </a:solidFill>
                  </a:tcPr>
                </a:tc>
                <a:extLst>
                  <a:ext uri="{0D108BD9-81ED-4DB2-BD59-A6C34878D82A}">
                    <a16:rowId xmlns:a16="http://schemas.microsoft.com/office/drawing/2014/main" val="10004"/>
                  </a:ext>
                </a:extLst>
              </a:tr>
              <a:tr h="771525">
                <a:tc>
                  <a:txBody>
                    <a:bodyPr/>
                    <a:lstStyle/>
                    <a:p>
                      <a:pPr marL="0" indent="0" algn="l">
                        <a:spcBef>
                          <a:spcPts val="0"/>
                        </a:spcBef>
                        <a:spcAft>
                          <a:spcPts val="400"/>
                        </a:spcAft>
                        <a:buNone/>
                      </a:pPr>
                      <a:r>
                        <a:rPr sz="1300" b="1" i="0">
                          <a:solidFill>
                            <a:srgbClr val="562214"/>
                          </a:solidFill>
                          <a:latin typeface="Times New Roman" panose="02020603050405020304" pitchFamily="18" charset="0"/>
                          <a:ea typeface="Times New Roman"/>
                          <a:cs typeface="Times New Roman" panose="02020603050405020304" pitchFamily="18" charset="0"/>
                          <a:sym typeface="Times New Roman"/>
                        </a:rPr>
                        <a:t>Progress tracking</a:t>
                      </a:r>
                    </a:p>
                  </a:txBody>
                  <a:tcPr marL="73152" marR="73152" marT="36576" marB="36576" anchor="ctr">
                    <a:solidFill>
                      <a:srgbClr val="FFFFFF"/>
                    </a:solidFill>
                  </a:tcPr>
                </a:tc>
                <a:tc>
                  <a:txBody>
                    <a:bodyPr/>
                    <a:lstStyle/>
                    <a:p>
                      <a:pPr marL="0" indent="0" algn="l">
                        <a:spcBef>
                          <a:spcPts val="0"/>
                        </a:spcBef>
                        <a:spcAft>
                          <a:spcPts val="400"/>
                        </a:spcAft>
                        <a:buNone/>
                      </a:pPr>
                      <a:r>
                        <a:rPr sz="1300" b="0" i="0">
                          <a:solidFill>
                            <a:srgbClr val="222222"/>
                          </a:solidFill>
                          <a:latin typeface="Times New Roman" panose="02020603050405020304" pitchFamily="18" charset="0"/>
                          <a:ea typeface="Times New Roman"/>
                          <a:cs typeface="Times New Roman" panose="02020603050405020304" pitchFamily="18" charset="0"/>
                          <a:sym typeface="Times New Roman"/>
                        </a:rPr>
                        <a:t>Limited</a:t>
                      </a:r>
                    </a:p>
                  </a:txBody>
                  <a:tcPr marL="73152" marR="73152" marT="36576" marB="36576" anchor="ctr">
                    <a:solidFill>
                      <a:srgbClr val="FFFFFF"/>
                    </a:solidFill>
                  </a:tcPr>
                </a:tc>
                <a:tc>
                  <a:txBody>
                    <a:bodyPr/>
                    <a:lstStyle/>
                    <a:p>
                      <a:pPr marL="0" indent="0" algn="l">
                        <a:spcBef>
                          <a:spcPts val="0"/>
                        </a:spcBef>
                        <a:spcAft>
                          <a:spcPts val="400"/>
                        </a:spcAft>
                        <a:buNone/>
                      </a:pPr>
                      <a:r>
                        <a:rPr sz="1300" b="0" i="0">
                          <a:solidFill>
                            <a:srgbClr val="222222"/>
                          </a:solidFill>
                          <a:latin typeface="Times New Roman" panose="02020603050405020304" pitchFamily="18" charset="0"/>
                          <a:ea typeface="Times New Roman"/>
                          <a:cs typeface="Times New Roman" panose="02020603050405020304" pitchFamily="18" charset="0"/>
                          <a:sym typeface="Times New Roman"/>
                        </a:rPr>
                        <a:t>No</a:t>
                      </a:r>
                    </a:p>
                  </a:txBody>
                  <a:tcPr marL="73152" marR="73152" marT="36576" marB="36576" anchor="ctr">
                    <a:solidFill>
                      <a:srgbClr val="FFFFFF"/>
                    </a:solidFill>
                  </a:tcPr>
                </a:tc>
                <a:tc>
                  <a:txBody>
                    <a:bodyPr/>
                    <a:lstStyle/>
                    <a:p>
                      <a:pPr marL="0" indent="0" algn="l">
                        <a:spcBef>
                          <a:spcPts val="0"/>
                        </a:spcBef>
                        <a:spcAft>
                          <a:spcPts val="400"/>
                        </a:spcAft>
                        <a:buNone/>
                      </a:pPr>
                      <a:r>
                        <a:rPr lang="en-IN" sz="1200" dirty="0">
                          <a:latin typeface="Times New Roman" panose="02020603050405020304" pitchFamily="18" charset="0"/>
                          <a:cs typeface="Times New Roman" panose="02020603050405020304" pitchFamily="18" charset="0"/>
                        </a:rPr>
                        <a:t>Not specified</a:t>
                      </a:r>
                      <a:endParaRPr sz="1300" b="0" i="0" dirty="0">
                        <a:solidFill>
                          <a:srgbClr val="222222"/>
                        </a:solidFill>
                        <a:latin typeface="Times New Roman" panose="02020603050405020304" pitchFamily="18" charset="0"/>
                        <a:ea typeface="Times New Roman"/>
                        <a:cs typeface="Times New Roman" panose="02020603050405020304" pitchFamily="18" charset="0"/>
                        <a:sym typeface="Times New Roman"/>
                      </a:endParaRPr>
                    </a:p>
                  </a:txBody>
                  <a:tcPr marL="73152" marR="73152" marT="36576" marB="36576" anchor="ctr">
                    <a:solidFill>
                      <a:srgbClr val="FFFFFF"/>
                    </a:solidFill>
                  </a:tcPr>
                </a:tc>
                <a:tc>
                  <a:txBody>
                    <a:bodyPr/>
                    <a:lstStyle/>
                    <a:p>
                      <a:pPr marL="0" indent="0" algn="l">
                        <a:spcBef>
                          <a:spcPts val="0"/>
                        </a:spcBef>
                        <a:spcAft>
                          <a:spcPts val="400"/>
                        </a:spcAft>
                        <a:buNone/>
                      </a:pPr>
                      <a:r>
                        <a:rPr lang="en-IN" sz="1200" dirty="0">
                          <a:latin typeface="Times New Roman" panose="02020603050405020304" pitchFamily="18" charset="0"/>
                          <a:cs typeface="Times New Roman" panose="02020603050405020304" pitchFamily="18" charset="0"/>
                        </a:rPr>
                        <a:t>Not specified</a:t>
                      </a:r>
                      <a:endParaRPr sz="1300" b="0" i="0" dirty="0">
                        <a:solidFill>
                          <a:srgbClr val="222222"/>
                        </a:solidFill>
                        <a:latin typeface="Times New Roman" panose="02020603050405020304" pitchFamily="18" charset="0"/>
                        <a:ea typeface="Times New Roman"/>
                        <a:cs typeface="Times New Roman" panose="02020603050405020304" pitchFamily="18" charset="0"/>
                        <a:sym typeface="Times New Roman"/>
                      </a:endParaRPr>
                    </a:p>
                  </a:txBody>
                  <a:tcPr marL="73152" marR="73152" marT="36576" marB="36576" anchor="ctr">
                    <a:solidFill>
                      <a:srgbClr val="FFFFFF"/>
                    </a:solidFill>
                  </a:tcPr>
                </a:tc>
                <a:extLst>
                  <a:ext uri="{0D108BD9-81ED-4DB2-BD59-A6C34878D82A}">
                    <a16:rowId xmlns:a16="http://schemas.microsoft.com/office/drawing/2014/main" val="10005"/>
                  </a:ext>
                </a:extLst>
              </a:tr>
              <a:tr h="1184910">
                <a:tc>
                  <a:txBody>
                    <a:bodyPr/>
                    <a:lstStyle/>
                    <a:p>
                      <a:pPr marL="0" indent="0" algn="l">
                        <a:spcBef>
                          <a:spcPts val="0"/>
                        </a:spcBef>
                        <a:spcAft>
                          <a:spcPts val="400"/>
                        </a:spcAft>
                        <a:buNone/>
                      </a:pPr>
                      <a:r>
                        <a:rPr sz="1300" b="1" i="0">
                          <a:solidFill>
                            <a:srgbClr val="562214"/>
                          </a:solidFill>
                          <a:latin typeface="Times New Roman" panose="02020603050405020304" pitchFamily="18" charset="0"/>
                          <a:ea typeface="Times New Roman"/>
                          <a:cs typeface="Times New Roman" panose="02020603050405020304" pitchFamily="18" charset="0"/>
                          <a:sym typeface="Times New Roman"/>
                        </a:rPr>
                        <a:t>Limitation / Gap</a:t>
                      </a:r>
                    </a:p>
                  </a:txBody>
                  <a:tcPr marL="73152" marR="73152" marT="36576" marB="36576" anchor="ctr">
                    <a:solidFill>
                      <a:srgbClr val="F6F2EC"/>
                    </a:solidFill>
                  </a:tcPr>
                </a:tc>
                <a:tc>
                  <a:txBody>
                    <a:bodyPr/>
                    <a:lstStyle/>
                    <a:p>
                      <a:pPr marL="0" indent="0" algn="l">
                        <a:spcBef>
                          <a:spcPts val="0"/>
                        </a:spcBef>
                        <a:spcAft>
                          <a:spcPts val="400"/>
                        </a:spcAft>
                        <a:buNone/>
                      </a:pPr>
                      <a:r>
                        <a:rPr sz="1300" b="0" i="0">
                          <a:solidFill>
                            <a:srgbClr val="222222"/>
                          </a:solidFill>
                          <a:latin typeface="Times New Roman" panose="02020603050405020304" pitchFamily="18" charset="0"/>
                          <a:ea typeface="Times New Roman"/>
                          <a:cs typeface="Times New Roman" panose="02020603050405020304" pitchFamily="18" charset="0"/>
                          <a:sym typeface="Times New Roman"/>
                        </a:rPr>
                        <a:t>Regional food data gaps</a:t>
                      </a:r>
                    </a:p>
                  </a:txBody>
                  <a:tcPr marL="73152" marR="73152" marT="36576" marB="36576" anchor="ctr">
                    <a:solidFill>
                      <a:srgbClr val="F6F2EC"/>
                    </a:solidFill>
                  </a:tcPr>
                </a:tc>
                <a:tc>
                  <a:txBody>
                    <a:bodyPr/>
                    <a:lstStyle/>
                    <a:p>
                      <a:pPr marL="0" indent="0" algn="l">
                        <a:spcBef>
                          <a:spcPts val="0"/>
                        </a:spcBef>
                        <a:spcAft>
                          <a:spcPts val="400"/>
                        </a:spcAft>
                        <a:buNone/>
                      </a:pPr>
                      <a:r>
                        <a:rPr sz="1300" b="0" i="0">
                          <a:solidFill>
                            <a:srgbClr val="222222"/>
                          </a:solidFill>
                          <a:latin typeface="Times New Roman" panose="02020603050405020304" pitchFamily="18" charset="0"/>
                          <a:ea typeface="Times New Roman"/>
                          <a:cs typeface="Times New Roman" panose="02020603050405020304" pitchFamily="18" charset="0"/>
                          <a:sym typeface="Times New Roman"/>
                        </a:rPr>
                        <a:t>No practice tools</a:t>
                      </a:r>
                    </a:p>
                  </a:txBody>
                  <a:tcPr marL="73152" marR="73152" marT="36576" marB="36576" anchor="ctr">
                    <a:solidFill>
                      <a:srgbClr val="F6F2EC"/>
                    </a:solidFill>
                  </a:tcPr>
                </a:tc>
                <a:tc>
                  <a:txBody>
                    <a:bodyPr/>
                    <a:lstStyle/>
                    <a:p>
                      <a:pPr marL="0" indent="0" algn="l">
                        <a:spcBef>
                          <a:spcPts val="0"/>
                        </a:spcBef>
                        <a:spcAft>
                          <a:spcPts val="400"/>
                        </a:spcAft>
                        <a:buNone/>
                      </a:pPr>
                      <a:r>
                        <a:rPr lang="en-IN" sz="1200" dirty="0">
                          <a:latin typeface="Times New Roman" panose="02020603050405020304" pitchFamily="18" charset="0"/>
                          <a:cs typeface="Times New Roman" panose="02020603050405020304" pitchFamily="18" charset="0"/>
                        </a:rPr>
                        <a:t>No Ayurvedic or traditional diet systems</a:t>
                      </a:r>
                      <a:endParaRPr sz="1300" b="0" i="0" dirty="0">
                        <a:solidFill>
                          <a:srgbClr val="222222"/>
                        </a:solidFill>
                        <a:latin typeface="Times New Roman" panose="02020603050405020304" pitchFamily="18" charset="0"/>
                        <a:ea typeface="Times New Roman"/>
                        <a:cs typeface="Times New Roman" panose="02020603050405020304" pitchFamily="18" charset="0"/>
                        <a:sym typeface="Times New Roman"/>
                      </a:endParaRPr>
                    </a:p>
                  </a:txBody>
                  <a:tcPr marL="73152" marR="73152" marT="36576" marB="36576" anchor="ctr">
                    <a:solidFill>
                      <a:srgbClr val="F6F2EC"/>
                    </a:solidFill>
                  </a:tcPr>
                </a:tc>
                <a:tc>
                  <a:txBody>
                    <a:bodyPr/>
                    <a:lstStyle/>
                    <a:p>
                      <a:pPr marL="0" indent="0" algn="l">
                        <a:spcBef>
                          <a:spcPts val="0"/>
                        </a:spcBef>
                        <a:spcAft>
                          <a:spcPts val="400"/>
                        </a:spcAft>
                        <a:buNone/>
                      </a:pPr>
                      <a:r>
                        <a:rPr lang="en-IN" sz="1200" dirty="0">
                          <a:latin typeface="Times New Roman" panose="02020603050405020304" pitchFamily="18" charset="0"/>
                          <a:cs typeface="Times New Roman" panose="02020603050405020304" pitchFamily="18" charset="0"/>
                        </a:rPr>
                        <a:t>Limited transparency in food data and nutrient indices</a:t>
                      </a:r>
                      <a:endParaRPr sz="1300" b="0" i="0" dirty="0">
                        <a:solidFill>
                          <a:srgbClr val="222222"/>
                        </a:solidFill>
                        <a:latin typeface="Times New Roman" panose="02020603050405020304" pitchFamily="18" charset="0"/>
                        <a:ea typeface="Times New Roman"/>
                        <a:cs typeface="Times New Roman" panose="02020603050405020304" pitchFamily="18" charset="0"/>
                        <a:sym typeface="Times New Roman"/>
                      </a:endParaRPr>
                    </a:p>
                  </a:txBody>
                  <a:tcPr marL="73152" marR="73152" marT="36576" marB="36576" anchor="ctr">
                    <a:solidFill>
                      <a:srgbClr val="F6F2EC"/>
                    </a:solidFill>
                  </a:tcPr>
                </a:tc>
                <a:extLst>
                  <a:ext uri="{0D108BD9-81ED-4DB2-BD59-A6C34878D82A}">
                    <a16:rowId xmlns:a16="http://schemas.microsoft.com/office/drawing/2014/main" val="1355577126"/>
                  </a:ext>
                </a:extLst>
              </a:tr>
            </a:tbl>
          </a:graphicData>
        </a:graphic>
      </p:graphicFrame>
      <p:sp>
        <p:nvSpPr>
          <p:cNvPr id="121" name="Google Shape;121;p3"/>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p>
            <a:pPr lvl="0"/>
            <a:r>
              <a:rPr lang="en-US" dirty="0">
                <a:latin typeface="Times New Roman"/>
                <a:ea typeface="Times New Roman"/>
                <a:cs typeface="Times New Roman"/>
                <a:sym typeface="Times New Roman"/>
              </a:rPr>
              <a:t>31-10-2026</a:t>
            </a:r>
          </a:p>
        </p:txBody>
      </p:sp>
      <p:sp>
        <p:nvSpPr>
          <p:cNvPr id="123" name="Google Shape;123;p3"/>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latin typeface="Times New Roman"/>
                <a:ea typeface="Times New Roman"/>
                <a:cs typeface="Times New Roman"/>
                <a:sym typeface="Times New Roman"/>
              </a:rPr>
              <a:t>NSP Project, July-Dec 2026</a:t>
            </a:r>
            <a:endParaRPr>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6"/>
          <p:cNvSpPr txBox="1">
            <a:spLocks noGrp="1"/>
          </p:cNvSpPr>
          <p:nvPr>
            <p:ph type="title"/>
          </p:nvPr>
        </p:nvSpPr>
        <p:spPr>
          <a:xfrm>
            <a:off x="1828800" y="274320"/>
            <a:ext cx="9966960" cy="777240"/>
          </a:xfrm>
          <a:prstGeom prst="rect">
            <a:avLst/>
          </a:prstGeom>
          <a:noFill/>
          <a:ln>
            <a:noFill/>
          </a:ln>
        </p:spPr>
        <p:txBody>
          <a:bodyPr spcFirstLastPara="1" wrap="square" lIns="45720" tIns="45700" rIns="91425" bIns="45700" anchor="ctr" anchorCtr="0">
            <a:noAutofit/>
          </a:bodyPr>
          <a:lstStyle/>
          <a:p>
            <a:pPr marL="0" indent="0" algn="l">
              <a:spcBef>
                <a:spcPts val="0"/>
              </a:spcBef>
              <a:spcAft>
                <a:spcPts val="400"/>
              </a:spcAft>
              <a:buNone/>
            </a:pPr>
            <a:r>
              <a:rPr sz="3600" b="1" i="0">
                <a:solidFill>
                  <a:srgbClr val="562214"/>
                </a:solidFill>
                <a:latin typeface="Times New Roman"/>
                <a:ea typeface="Times New Roman"/>
                <a:cs typeface="Times New Roman"/>
                <a:sym typeface="Times New Roman"/>
              </a:rPr>
              <a:t>Problem Statement and Objective</a:t>
            </a:r>
          </a:p>
        </p:txBody>
      </p:sp>
      <p:sp>
        <p:nvSpPr>
          <p:cNvPr id="145" name="Google Shape;145;p6"/>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9</a:t>
            </a:fld>
            <a:endParaRPr/>
          </a:p>
        </p:txBody>
      </p:sp>
      <p:sp>
        <p:nvSpPr>
          <p:cNvPr id="121" name="Google Shape;121;p3"/>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p>
            <a:pPr lvl="0"/>
            <a:r>
              <a:rPr lang="en-US" dirty="0">
                <a:latin typeface="Times New Roman"/>
                <a:ea typeface="Times New Roman"/>
                <a:cs typeface="Times New Roman"/>
                <a:sym typeface="Times New Roman"/>
              </a:rPr>
              <a:t>31-10-2026</a:t>
            </a:r>
          </a:p>
        </p:txBody>
      </p:sp>
      <p:sp>
        <p:nvSpPr>
          <p:cNvPr id="123" name="Google Shape;123;p3"/>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latin typeface="Times New Roman"/>
                <a:ea typeface="Times New Roman"/>
                <a:cs typeface="Times New Roman"/>
                <a:sym typeface="Times New Roman"/>
              </a:rPr>
              <a:t>NSP Project, July-Dec 2026</a:t>
            </a:r>
            <a:endParaRPr>
              <a:latin typeface="Times New Roman"/>
              <a:ea typeface="Times New Roman"/>
              <a:cs typeface="Times New Roman"/>
              <a:sym typeface="Times New Roman"/>
            </a:endParaRPr>
          </a:p>
        </p:txBody>
      </p:sp>
      <p:sp>
        <p:nvSpPr>
          <p:cNvPr id="146" name="Rounded Rectangle 145"/>
          <p:cNvSpPr/>
          <p:nvPr/>
        </p:nvSpPr>
        <p:spPr>
          <a:xfrm>
            <a:off x="1828800" y="1188720"/>
            <a:ext cx="9966960" cy="1325880"/>
          </a:xfrm>
          <a:prstGeom prst="roundRect">
            <a:avLst>
              <a:gd name="adj" fmla="val 8000"/>
            </a:avLst>
          </a:prstGeom>
          <a:solidFill>
            <a:srgbClr val="F4E6E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t"/>
          <a:lstStyle/>
          <a:p>
            <a:pPr marL="0" indent="0" algn="l">
              <a:spcBef>
                <a:spcPts val="0"/>
              </a:spcBef>
              <a:spcAft>
                <a:spcPts val="400"/>
              </a:spcAft>
              <a:buNone/>
            </a:pPr>
            <a:r>
              <a:rPr sz="1700" b="1" i="0">
                <a:solidFill>
                  <a:srgbClr val="562214"/>
                </a:solidFill>
                <a:latin typeface="Times New Roman"/>
                <a:ea typeface="Times New Roman"/>
                <a:cs typeface="Times New Roman"/>
                <a:sym typeface="Times New Roman"/>
              </a:rPr>
              <a:t>Problem Statement</a:t>
            </a:r>
          </a:p>
          <a:p>
            <a:pPr marL="0" indent="0" algn="just">
              <a:spcBef>
                <a:spcPts val="0"/>
              </a:spcBef>
              <a:spcAft>
                <a:spcPts val="400"/>
              </a:spcAft>
              <a:buNone/>
            </a:pPr>
            <a:r>
              <a:rPr sz="1500" b="0" i="0">
                <a:solidFill>
                  <a:srgbClr val="222222"/>
                </a:solidFill>
                <a:latin typeface="Times New Roman"/>
                <a:ea typeface="Times New Roman"/>
                <a:cs typeface="Times New Roman"/>
                <a:sym typeface="Times New Roman"/>
              </a:rPr>
              <a:t>Ayurvedic dietitians manage patient records, nutrient calculations and diet charts manually. Existing nutrition software ignores Ayurvedic principles (Prakriti, Dosha), and Ayurvedic tools lack nutrient analysis and practice management, so there is no single, secure platform for both.</a:t>
            </a:r>
          </a:p>
        </p:txBody>
      </p:sp>
      <p:sp>
        <p:nvSpPr>
          <p:cNvPr id="147" name="TextBox 146"/>
          <p:cNvSpPr txBox="1"/>
          <p:nvPr/>
        </p:nvSpPr>
        <p:spPr>
          <a:xfrm>
            <a:off x="1828800" y="2697480"/>
            <a:ext cx="9966960" cy="365760"/>
          </a:xfrm>
          <a:prstGeom prst="rect">
            <a:avLst/>
          </a:prstGeom>
          <a:noFill/>
        </p:spPr>
        <p:txBody>
          <a:bodyPr wrap="square" lIns="45720" rIns="45720" anchor="t">
            <a:spAutoFit/>
          </a:bodyPr>
          <a:lstStyle/>
          <a:p>
            <a:pPr marL="0" indent="0" algn="l">
              <a:spcBef>
                <a:spcPts val="0"/>
              </a:spcBef>
              <a:spcAft>
                <a:spcPts val="400"/>
              </a:spcAft>
              <a:buNone/>
            </a:pPr>
            <a:r>
              <a:rPr sz="1700" b="1" i="0">
                <a:solidFill>
                  <a:srgbClr val="3E6B2F"/>
                </a:solidFill>
                <a:latin typeface="Times New Roman"/>
                <a:ea typeface="Times New Roman"/>
                <a:cs typeface="Times New Roman"/>
                <a:sym typeface="Times New Roman"/>
              </a:rPr>
              <a:t>Objectives</a:t>
            </a:r>
          </a:p>
        </p:txBody>
      </p:sp>
      <p:sp>
        <p:nvSpPr>
          <p:cNvPr id="148" name="Oval 147"/>
          <p:cNvSpPr/>
          <p:nvPr/>
        </p:nvSpPr>
        <p:spPr>
          <a:xfrm>
            <a:off x="1828800" y="3154680"/>
            <a:ext cx="502920" cy="502920"/>
          </a:xfrm>
          <a:prstGeom prst="ellipse">
            <a:avLst/>
          </a:prstGeom>
          <a:solidFill>
            <a:srgbClr val="3E6B2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spcBef>
                <a:spcPts val="0"/>
              </a:spcBef>
              <a:spcAft>
                <a:spcPts val="400"/>
              </a:spcAft>
              <a:buNone/>
            </a:pPr>
            <a:r>
              <a:rPr sz="1600" b="1" i="0">
                <a:solidFill>
                  <a:srgbClr val="FFFFFF"/>
                </a:solidFill>
                <a:latin typeface="Times New Roman"/>
                <a:ea typeface="Times New Roman"/>
                <a:cs typeface="Times New Roman"/>
                <a:sym typeface="Times New Roman"/>
              </a:rPr>
              <a:t>1</a:t>
            </a:r>
          </a:p>
        </p:txBody>
      </p:sp>
      <p:sp>
        <p:nvSpPr>
          <p:cNvPr id="149" name="TextBox 148"/>
          <p:cNvSpPr txBox="1"/>
          <p:nvPr/>
        </p:nvSpPr>
        <p:spPr>
          <a:xfrm>
            <a:off x="2468880" y="3108960"/>
            <a:ext cx="4206240" cy="640080"/>
          </a:xfrm>
          <a:prstGeom prst="rect">
            <a:avLst/>
          </a:prstGeom>
          <a:noFill/>
        </p:spPr>
        <p:txBody>
          <a:bodyPr wrap="square" lIns="45720" rIns="45720" anchor="ctr">
            <a:spAutoFit/>
          </a:bodyPr>
          <a:lstStyle/>
          <a:p>
            <a:pPr marL="0" indent="0" algn="l">
              <a:spcBef>
                <a:spcPts val="0"/>
              </a:spcBef>
              <a:spcAft>
                <a:spcPts val="400"/>
              </a:spcAft>
              <a:buNone/>
            </a:pPr>
            <a:r>
              <a:rPr sz="1400" b="0" i="0">
                <a:solidFill>
                  <a:srgbClr val="222222"/>
                </a:solidFill>
                <a:latin typeface="Times New Roman"/>
                <a:ea typeface="Times New Roman"/>
                <a:cs typeface="Times New Roman"/>
                <a:sym typeface="Times New Roman"/>
              </a:rPr>
              <a:t>Centralised platform for Ayurvedic dietitian practices and patient records</a:t>
            </a:r>
          </a:p>
        </p:txBody>
      </p:sp>
      <p:sp>
        <p:nvSpPr>
          <p:cNvPr id="150" name="Oval 149"/>
          <p:cNvSpPr/>
          <p:nvPr/>
        </p:nvSpPr>
        <p:spPr>
          <a:xfrm>
            <a:off x="6903720" y="3154680"/>
            <a:ext cx="502920" cy="502920"/>
          </a:xfrm>
          <a:prstGeom prst="ellipse">
            <a:avLst/>
          </a:prstGeom>
          <a:solidFill>
            <a:srgbClr val="3E6B2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spcBef>
                <a:spcPts val="0"/>
              </a:spcBef>
              <a:spcAft>
                <a:spcPts val="400"/>
              </a:spcAft>
              <a:buNone/>
            </a:pPr>
            <a:r>
              <a:rPr sz="1600" b="1" i="0">
                <a:solidFill>
                  <a:srgbClr val="FFFFFF"/>
                </a:solidFill>
                <a:latin typeface="Times New Roman"/>
                <a:ea typeface="Times New Roman"/>
                <a:cs typeface="Times New Roman"/>
                <a:sym typeface="Times New Roman"/>
              </a:rPr>
              <a:t>2</a:t>
            </a:r>
          </a:p>
        </p:txBody>
      </p:sp>
      <p:sp>
        <p:nvSpPr>
          <p:cNvPr id="151" name="TextBox 150"/>
          <p:cNvSpPr txBox="1"/>
          <p:nvPr/>
        </p:nvSpPr>
        <p:spPr>
          <a:xfrm>
            <a:off x="7543800" y="3108960"/>
            <a:ext cx="4206240" cy="640080"/>
          </a:xfrm>
          <a:prstGeom prst="rect">
            <a:avLst/>
          </a:prstGeom>
          <a:noFill/>
        </p:spPr>
        <p:txBody>
          <a:bodyPr wrap="square" lIns="45720" rIns="45720" anchor="ctr">
            <a:spAutoFit/>
          </a:bodyPr>
          <a:lstStyle/>
          <a:p>
            <a:pPr marL="0" indent="0" algn="l">
              <a:spcBef>
                <a:spcPts val="0"/>
              </a:spcBef>
              <a:spcAft>
                <a:spcPts val="400"/>
              </a:spcAft>
              <a:buNone/>
            </a:pPr>
            <a:r>
              <a:rPr sz="1400" b="0" i="0">
                <a:solidFill>
                  <a:srgbClr val="222222"/>
                </a:solidFill>
                <a:latin typeface="Times New Roman"/>
                <a:ea typeface="Times New Roman"/>
                <a:cs typeface="Times New Roman"/>
                <a:sym typeface="Times New Roman"/>
              </a:rPr>
              <a:t>Patient profiles: health info, dietary preferences, consultation history</a:t>
            </a:r>
          </a:p>
        </p:txBody>
      </p:sp>
      <p:sp>
        <p:nvSpPr>
          <p:cNvPr id="152" name="Oval 151"/>
          <p:cNvSpPr/>
          <p:nvPr/>
        </p:nvSpPr>
        <p:spPr>
          <a:xfrm>
            <a:off x="1828800" y="3904488"/>
            <a:ext cx="502920" cy="502920"/>
          </a:xfrm>
          <a:prstGeom prst="ellipse">
            <a:avLst/>
          </a:prstGeom>
          <a:solidFill>
            <a:srgbClr val="3E6B2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spcBef>
                <a:spcPts val="0"/>
              </a:spcBef>
              <a:spcAft>
                <a:spcPts val="400"/>
              </a:spcAft>
              <a:buNone/>
            </a:pPr>
            <a:r>
              <a:rPr sz="1600" b="1" i="0">
                <a:solidFill>
                  <a:srgbClr val="FFFFFF"/>
                </a:solidFill>
                <a:latin typeface="Times New Roman"/>
                <a:ea typeface="Times New Roman"/>
                <a:cs typeface="Times New Roman"/>
                <a:sym typeface="Times New Roman"/>
              </a:rPr>
              <a:t>3</a:t>
            </a:r>
          </a:p>
        </p:txBody>
      </p:sp>
      <p:sp>
        <p:nvSpPr>
          <p:cNvPr id="153" name="TextBox 152"/>
          <p:cNvSpPr txBox="1"/>
          <p:nvPr/>
        </p:nvSpPr>
        <p:spPr>
          <a:xfrm>
            <a:off x="2468880" y="3858768"/>
            <a:ext cx="4206240" cy="640080"/>
          </a:xfrm>
          <a:prstGeom prst="rect">
            <a:avLst/>
          </a:prstGeom>
          <a:noFill/>
        </p:spPr>
        <p:txBody>
          <a:bodyPr wrap="square" lIns="45720" rIns="45720" anchor="ctr">
            <a:spAutoFit/>
          </a:bodyPr>
          <a:lstStyle/>
          <a:p>
            <a:pPr marL="0" indent="0" algn="l">
              <a:spcBef>
                <a:spcPts val="0"/>
              </a:spcBef>
              <a:spcAft>
                <a:spcPts val="400"/>
              </a:spcAft>
              <a:buNone/>
            </a:pPr>
            <a:r>
              <a:rPr sz="1400" b="0" i="0">
                <a:solidFill>
                  <a:srgbClr val="222222"/>
                </a:solidFill>
                <a:latin typeface="Times New Roman"/>
                <a:ea typeface="Times New Roman"/>
                <a:cs typeface="Times New Roman"/>
                <a:sym typeface="Times New Roman"/>
              </a:rPr>
              <a:t>Nutrient analysis of food items and recipes</a:t>
            </a:r>
          </a:p>
        </p:txBody>
      </p:sp>
      <p:sp>
        <p:nvSpPr>
          <p:cNvPr id="154" name="Oval 153"/>
          <p:cNvSpPr/>
          <p:nvPr/>
        </p:nvSpPr>
        <p:spPr>
          <a:xfrm>
            <a:off x="6903720" y="3904488"/>
            <a:ext cx="502920" cy="502920"/>
          </a:xfrm>
          <a:prstGeom prst="ellipse">
            <a:avLst/>
          </a:prstGeom>
          <a:solidFill>
            <a:srgbClr val="3E6B2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spcBef>
                <a:spcPts val="0"/>
              </a:spcBef>
              <a:spcAft>
                <a:spcPts val="400"/>
              </a:spcAft>
              <a:buNone/>
            </a:pPr>
            <a:r>
              <a:rPr sz="1600" b="1" i="0">
                <a:solidFill>
                  <a:srgbClr val="FFFFFF"/>
                </a:solidFill>
                <a:latin typeface="Times New Roman"/>
                <a:ea typeface="Times New Roman"/>
                <a:cs typeface="Times New Roman"/>
                <a:sym typeface="Times New Roman"/>
              </a:rPr>
              <a:t>4</a:t>
            </a:r>
          </a:p>
        </p:txBody>
      </p:sp>
      <p:sp>
        <p:nvSpPr>
          <p:cNvPr id="155" name="TextBox 154"/>
          <p:cNvSpPr txBox="1"/>
          <p:nvPr/>
        </p:nvSpPr>
        <p:spPr>
          <a:xfrm>
            <a:off x="7543800" y="3858768"/>
            <a:ext cx="4206240" cy="640080"/>
          </a:xfrm>
          <a:prstGeom prst="rect">
            <a:avLst/>
          </a:prstGeom>
          <a:noFill/>
        </p:spPr>
        <p:txBody>
          <a:bodyPr wrap="square" lIns="45720" rIns="45720" anchor="ctr">
            <a:spAutoFit/>
          </a:bodyPr>
          <a:lstStyle/>
          <a:p>
            <a:pPr marL="0" indent="0" algn="l">
              <a:spcBef>
                <a:spcPts val="0"/>
              </a:spcBef>
              <a:spcAft>
                <a:spcPts val="400"/>
              </a:spcAft>
              <a:buNone/>
            </a:pPr>
            <a:r>
              <a:rPr sz="1400" b="0" i="0">
                <a:solidFill>
                  <a:srgbClr val="222222"/>
                </a:solidFill>
                <a:latin typeface="Times New Roman"/>
                <a:ea typeface="Times New Roman"/>
                <a:cs typeface="Times New Roman"/>
                <a:sym typeface="Times New Roman"/>
              </a:rPr>
              <a:t>Personalised diet plans on Ayurvedic principles and nutritional needs</a:t>
            </a:r>
          </a:p>
        </p:txBody>
      </p:sp>
      <p:sp>
        <p:nvSpPr>
          <p:cNvPr id="156" name="Oval 155"/>
          <p:cNvSpPr/>
          <p:nvPr/>
        </p:nvSpPr>
        <p:spPr>
          <a:xfrm>
            <a:off x="1828800" y="4654296"/>
            <a:ext cx="502920" cy="502920"/>
          </a:xfrm>
          <a:prstGeom prst="ellipse">
            <a:avLst/>
          </a:prstGeom>
          <a:solidFill>
            <a:srgbClr val="3E6B2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spcBef>
                <a:spcPts val="0"/>
              </a:spcBef>
              <a:spcAft>
                <a:spcPts val="400"/>
              </a:spcAft>
              <a:buNone/>
            </a:pPr>
            <a:r>
              <a:rPr sz="1600" b="1" i="0">
                <a:solidFill>
                  <a:srgbClr val="FFFFFF"/>
                </a:solidFill>
                <a:latin typeface="Times New Roman"/>
                <a:ea typeface="Times New Roman"/>
                <a:cs typeface="Times New Roman"/>
                <a:sym typeface="Times New Roman"/>
              </a:rPr>
              <a:t>5</a:t>
            </a:r>
          </a:p>
        </p:txBody>
      </p:sp>
      <p:sp>
        <p:nvSpPr>
          <p:cNvPr id="157" name="TextBox 156"/>
          <p:cNvSpPr txBox="1"/>
          <p:nvPr/>
        </p:nvSpPr>
        <p:spPr>
          <a:xfrm>
            <a:off x="2468880" y="4608576"/>
            <a:ext cx="4206240" cy="640080"/>
          </a:xfrm>
          <a:prstGeom prst="rect">
            <a:avLst/>
          </a:prstGeom>
          <a:noFill/>
        </p:spPr>
        <p:txBody>
          <a:bodyPr wrap="square" lIns="45720" rIns="45720" anchor="ctr">
            <a:spAutoFit/>
          </a:bodyPr>
          <a:lstStyle/>
          <a:p>
            <a:pPr marL="0" indent="0" algn="l">
              <a:spcBef>
                <a:spcPts val="0"/>
              </a:spcBef>
              <a:spcAft>
                <a:spcPts val="400"/>
              </a:spcAft>
              <a:buNone/>
            </a:pPr>
            <a:r>
              <a:rPr sz="1400" b="0" i="0">
                <a:solidFill>
                  <a:srgbClr val="222222"/>
                </a:solidFill>
                <a:latin typeface="Times New Roman"/>
                <a:ea typeface="Times New Roman"/>
                <a:cs typeface="Times New Roman"/>
                <a:sym typeface="Times New Roman"/>
              </a:rPr>
              <a:t>Monitoring and tracking of patient progress over time</a:t>
            </a:r>
          </a:p>
        </p:txBody>
      </p:sp>
      <p:sp>
        <p:nvSpPr>
          <p:cNvPr id="158" name="Oval 157"/>
          <p:cNvSpPr/>
          <p:nvPr/>
        </p:nvSpPr>
        <p:spPr>
          <a:xfrm>
            <a:off x="6903720" y="4654296"/>
            <a:ext cx="502920" cy="502920"/>
          </a:xfrm>
          <a:prstGeom prst="ellipse">
            <a:avLst/>
          </a:prstGeom>
          <a:solidFill>
            <a:srgbClr val="3E6B2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spcBef>
                <a:spcPts val="0"/>
              </a:spcBef>
              <a:spcAft>
                <a:spcPts val="400"/>
              </a:spcAft>
              <a:buNone/>
            </a:pPr>
            <a:r>
              <a:rPr sz="1600" b="1" i="0">
                <a:solidFill>
                  <a:srgbClr val="FFFFFF"/>
                </a:solidFill>
                <a:latin typeface="Times New Roman"/>
                <a:ea typeface="Times New Roman"/>
                <a:cs typeface="Times New Roman"/>
                <a:sym typeface="Times New Roman"/>
              </a:rPr>
              <a:t>6</a:t>
            </a:r>
          </a:p>
        </p:txBody>
      </p:sp>
      <p:sp>
        <p:nvSpPr>
          <p:cNvPr id="159" name="TextBox 158"/>
          <p:cNvSpPr txBox="1"/>
          <p:nvPr/>
        </p:nvSpPr>
        <p:spPr>
          <a:xfrm>
            <a:off x="7543800" y="4608576"/>
            <a:ext cx="4206240" cy="640080"/>
          </a:xfrm>
          <a:prstGeom prst="rect">
            <a:avLst/>
          </a:prstGeom>
          <a:noFill/>
        </p:spPr>
        <p:txBody>
          <a:bodyPr wrap="square" lIns="45720" rIns="45720" anchor="ctr">
            <a:spAutoFit/>
          </a:bodyPr>
          <a:lstStyle/>
          <a:p>
            <a:pPr marL="0" indent="0" algn="l">
              <a:spcBef>
                <a:spcPts val="0"/>
              </a:spcBef>
              <a:spcAft>
                <a:spcPts val="400"/>
              </a:spcAft>
              <a:buNone/>
            </a:pPr>
            <a:r>
              <a:rPr sz="1400" b="0" i="0">
                <a:solidFill>
                  <a:srgbClr val="222222"/>
                </a:solidFill>
                <a:latin typeface="Times New Roman"/>
                <a:ea typeface="Times New Roman"/>
                <a:cs typeface="Times New Roman"/>
                <a:sym typeface="Times New Roman"/>
              </a:rPr>
              <a:t>Secure, accessible cloud-based system for dietitians</a:t>
            </a:r>
          </a:p>
        </p:txBody>
      </p:sp>
      <p:sp>
        <p:nvSpPr>
          <p:cNvPr id="160" name="Oval 159"/>
          <p:cNvSpPr/>
          <p:nvPr/>
        </p:nvSpPr>
        <p:spPr>
          <a:xfrm>
            <a:off x="1828800" y="5440680"/>
            <a:ext cx="502920" cy="502920"/>
          </a:xfrm>
          <a:prstGeom prst="ellipse">
            <a:avLst/>
          </a:prstGeom>
          <a:solidFill>
            <a:srgbClr val="3E6B2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spcBef>
                <a:spcPts val="0"/>
              </a:spcBef>
              <a:spcAft>
                <a:spcPts val="400"/>
              </a:spcAft>
              <a:buNone/>
            </a:pPr>
            <a:r>
              <a:rPr sz="1600" b="1" i="0">
                <a:solidFill>
                  <a:srgbClr val="FFFFFF"/>
                </a:solidFill>
                <a:latin typeface="Times New Roman"/>
                <a:ea typeface="Times New Roman"/>
                <a:cs typeface="Times New Roman"/>
                <a:sym typeface="Times New Roman"/>
              </a:rPr>
              <a:t>7</a:t>
            </a:r>
          </a:p>
        </p:txBody>
      </p:sp>
      <p:sp>
        <p:nvSpPr>
          <p:cNvPr id="161" name="TextBox 160"/>
          <p:cNvSpPr txBox="1"/>
          <p:nvPr/>
        </p:nvSpPr>
        <p:spPr>
          <a:xfrm>
            <a:off x="2468880" y="5394960"/>
            <a:ext cx="9144000" cy="640080"/>
          </a:xfrm>
          <a:prstGeom prst="rect">
            <a:avLst/>
          </a:prstGeom>
          <a:noFill/>
        </p:spPr>
        <p:txBody>
          <a:bodyPr wrap="square" lIns="45720" rIns="45720" anchor="ctr">
            <a:spAutoFit/>
          </a:bodyPr>
          <a:lstStyle/>
          <a:p>
            <a:pPr marL="0" indent="0" algn="l">
              <a:spcBef>
                <a:spcPts val="0"/>
              </a:spcBef>
              <a:spcAft>
                <a:spcPts val="400"/>
              </a:spcAft>
              <a:buNone/>
            </a:pPr>
            <a:r>
              <a:rPr sz="1400" b="0" i="0">
                <a:solidFill>
                  <a:srgbClr val="222222"/>
                </a:solidFill>
                <a:latin typeface="Times New Roman"/>
                <a:ea typeface="Times New Roman"/>
                <a:cs typeface="Times New Roman"/>
                <a:sym typeface="Times New Roman"/>
              </a:rPr>
              <a:t>Less manual effort in diet planning and practice management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6"/>
          <p:cNvSpPr txBox="1">
            <a:spLocks noGrp="1"/>
          </p:cNvSpPr>
          <p:nvPr>
            <p:ph type="title"/>
          </p:nvPr>
        </p:nvSpPr>
        <p:spPr>
          <a:xfrm>
            <a:off x="1828800" y="274320"/>
            <a:ext cx="9966960" cy="777240"/>
          </a:xfrm>
          <a:prstGeom prst="rect">
            <a:avLst/>
          </a:prstGeom>
          <a:noFill/>
          <a:ln>
            <a:noFill/>
          </a:ln>
        </p:spPr>
        <p:txBody>
          <a:bodyPr spcFirstLastPara="1" wrap="square" lIns="45720" tIns="45700" rIns="91425" bIns="45700" anchor="ctr" anchorCtr="0">
            <a:noAutofit/>
          </a:bodyPr>
          <a:lstStyle/>
          <a:p>
            <a:pPr marL="0" indent="0" algn="l">
              <a:spcBef>
                <a:spcPts val="0"/>
              </a:spcBef>
              <a:spcAft>
                <a:spcPts val="400"/>
              </a:spcAft>
              <a:buNone/>
            </a:pPr>
            <a:r>
              <a:rPr sz="3600" b="1" i="0">
                <a:solidFill>
                  <a:srgbClr val="562214"/>
                </a:solidFill>
                <a:latin typeface="Times New Roman"/>
                <a:ea typeface="Times New Roman"/>
                <a:cs typeface="Times New Roman"/>
                <a:sym typeface="Times New Roman"/>
              </a:rPr>
              <a:t>Design of Solution</a:t>
            </a:r>
          </a:p>
        </p:txBody>
      </p:sp>
      <p:sp>
        <p:nvSpPr>
          <p:cNvPr id="145" name="Google Shape;145;p6"/>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10</a:t>
            </a:fld>
            <a:endParaRPr/>
          </a:p>
        </p:txBody>
      </p:sp>
      <p:sp>
        <p:nvSpPr>
          <p:cNvPr id="121" name="Google Shape;121;p3"/>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p>
            <a:pPr lvl="0"/>
            <a:r>
              <a:rPr lang="en-US" dirty="0">
                <a:latin typeface="Times New Roman"/>
                <a:ea typeface="Times New Roman"/>
                <a:cs typeface="Times New Roman"/>
                <a:sym typeface="Times New Roman"/>
              </a:rPr>
              <a:t>31-10-2026</a:t>
            </a:r>
          </a:p>
        </p:txBody>
      </p:sp>
      <p:sp>
        <p:nvSpPr>
          <p:cNvPr id="123" name="Google Shape;123;p3"/>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latin typeface="Times New Roman"/>
                <a:ea typeface="Times New Roman"/>
                <a:cs typeface="Times New Roman"/>
                <a:sym typeface="Times New Roman"/>
              </a:rPr>
              <a:t>NSP Project, July-Dec 2026</a:t>
            </a:r>
            <a:endParaRPr>
              <a:latin typeface="Times New Roman"/>
              <a:ea typeface="Times New Roman"/>
              <a:cs typeface="Times New Roman"/>
              <a:sym typeface="Times New Roman"/>
            </a:endParaRPr>
          </a:p>
        </p:txBody>
      </p:sp>
      <p:sp>
        <p:nvSpPr>
          <p:cNvPr id="146" name="TextBox 145"/>
          <p:cNvSpPr txBox="1"/>
          <p:nvPr/>
        </p:nvSpPr>
        <p:spPr>
          <a:xfrm>
            <a:off x="1828800" y="1097280"/>
            <a:ext cx="9966960" cy="365760"/>
          </a:xfrm>
          <a:prstGeom prst="rect">
            <a:avLst/>
          </a:prstGeom>
          <a:noFill/>
        </p:spPr>
        <p:txBody>
          <a:bodyPr wrap="square" lIns="45720" rIns="45720" anchor="t">
            <a:spAutoFit/>
          </a:bodyPr>
          <a:lstStyle/>
          <a:p>
            <a:pPr marL="0" indent="0" algn="l">
              <a:spcBef>
                <a:spcPts val="0"/>
              </a:spcBef>
              <a:spcAft>
                <a:spcPts val="400"/>
              </a:spcAft>
              <a:buNone/>
            </a:pPr>
            <a:r>
              <a:rPr sz="1400" b="0" i="1">
                <a:solidFill>
                  <a:srgbClr val="555555"/>
                </a:solidFill>
                <a:latin typeface="Times New Roman"/>
                <a:ea typeface="Times New Roman"/>
                <a:cs typeface="Times New Roman"/>
                <a:sym typeface="Times New Roman"/>
              </a:rPr>
              <a:t>System Architecture (three-tier, cloud-hosted)</a:t>
            </a:r>
          </a:p>
        </p:txBody>
      </p:sp>
      <p:sp>
        <p:nvSpPr>
          <p:cNvPr id="147" name="Rounded Rectangle 146"/>
          <p:cNvSpPr/>
          <p:nvPr/>
        </p:nvSpPr>
        <p:spPr>
          <a:xfrm>
            <a:off x="1828800" y="2423160"/>
            <a:ext cx="1737360" cy="1463040"/>
          </a:xfrm>
          <a:prstGeom prst="roundRect">
            <a:avLst>
              <a:gd name="adj" fmla="val 8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marL="0" indent="0" algn="ctr">
              <a:spcBef>
                <a:spcPts val="0"/>
              </a:spcBef>
              <a:spcAft>
                <a:spcPts val="400"/>
              </a:spcAft>
              <a:buNone/>
            </a:pPr>
            <a:r>
              <a:rPr sz="1600" b="1" i="0">
                <a:solidFill>
                  <a:srgbClr val="C77A12"/>
                </a:solidFill>
                <a:latin typeface="Times New Roman"/>
                <a:ea typeface="Times New Roman"/>
                <a:cs typeface="Times New Roman"/>
                <a:sym typeface="Times New Roman"/>
              </a:rPr>
              <a:t>Users</a:t>
            </a:r>
          </a:p>
          <a:p>
            <a:pPr marL="0" indent="0" algn="ctr">
              <a:spcBef>
                <a:spcPts val="0"/>
              </a:spcBef>
              <a:spcAft>
                <a:spcPts val="200"/>
              </a:spcAft>
              <a:buNone/>
            </a:pPr>
            <a:r>
              <a:rPr sz="1300" b="0" i="0">
                <a:solidFill>
                  <a:srgbClr val="222222"/>
                </a:solidFill>
                <a:latin typeface="Times New Roman"/>
                <a:ea typeface="Times New Roman"/>
                <a:cs typeface="Times New Roman"/>
                <a:sym typeface="Times New Roman"/>
              </a:rPr>
              <a:t>Ayurvedic Dietitian</a:t>
            </a:r>
          </a:p>
          <a:p>
            <a:pPr marL="0" indent="0" algn="ctr">
              <a:spcBef>
                <a:spcPts val="0"/>
              </a:spcBef>
              <a:spcAft>
                <a:spcPts val="400"/>
              </a:spcAft>
              <a:buNone/>
            </a:pPr>
            <a:r>
              <a:rPr sz="1300" b="0" i="0">
                <a:solidFill>
                  <a:srgbClr val="222222"/>
                </a:solidFill>
                <a:latin typeface="Times New Roman"/>
                <a:ea typeface="Times New Roman"/>
                <a:cs typeface="Times New Roman"/>
                <a:sym typeface="Times New Roman"/>
              </a:rPr>
              <a:t>Admin</a:t>
            </a:r>
          </a:p>
        </p:txBody>
      </p:sp>
      <p:cxnSp>
        <p:nvCxnSpPr>
          <p:cNvPr id="148" name="Connector 147"/>
          <p:cNvCxnSpPr/>
          <p:nvPr/>
        </p:nvCxnSpPr>
        <p:spPr>
          <a:xfrm>
            <a:off x="3566160" y="3154680"/>
            <a:ext cx="365760" cy="0"/>
          </a:xfrm>
          <a:prstGeom prst="line">
            <a:avLst/>
          </a:prstGeom>
          <a:ln w="22225">
            <a:solidFill>
              <a:srgbClr val="555555"/>
            </a:solidFill>
            <a:tailEnd type="triangle"/>
          </a:ln>
        </p:spPr>
        <p:style>
          <a:lnRef idx="2">
            <a:schemeClr val="accent1"/>
          </a:lnRef>
          <a:fillRef idx="0">
            <a:schemeClr val="accent1"/>
          </a:fillRef>
          <a:effectRef idx="1">
            <a:schemeClr val="accent1"/>
          </a:effectRef>
          <a:fontRef idx="minor">
            <a:schemeClr val="tx1"/>
          </a:fontRef>
        </p:style>
      </p:cxnSp>
      <p:sp>
        <p:nvSpPr>
          <p:cNvPr id="149" name="Rounded Rectangle 148"/>
          <p:cNvSpPr/>
          <p:nvPr/>
        </p:nvSpPr>
        <p:spPr>
          <a:xfrm>
            <a:off x="3931920" y="2148840"/>
            <a:ext cx="2011680" cy="2011680"/>
          </a:xfrm>
          <a:prstGeom prst="roundRect">
            <a:avLst>
              <a:gd name="adj" fmla="val 8000"/>
            </a:avLst>
          </a:prstGeom>
          <a:solidFill>
            <a:srgbClr val="EAF1E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marL="0" indent="0" algn="ctr">
              <a:spcBef>
                <a:spcPts val="0"/>
              </a:spcBef>
              <a:spcAft>
                <a:spcPts val="400"/>
              </a:spcAft>
              <a:buNone/>
            </a:pPr>
            <a:r>
              <a:rPr sz="1600" b="1" i="0">
                <a:solidFill>
                  <a:srgbClr val="3E6B2F"/>
                </a:solidFill>
                <a:latin typeface="Times New Roman"/>
                <a:ea typeface="Times New Roman"/>
                <a:cs typeface="Times New Roman"/>
                <a:sym typeface="Times New Roman"/>
              </a:rPr>
              <a:t>Frontend</a:t>
            </a:r>
          </a:p>
          <a:p>
            <a:pPr marL="0" indent="0" algn="ctr">
              <a:spcBef>
                <a:spcPts val="0"/>
              </a:spcBef>
              <a:spcAft>
                <a:spcPts val="400"/>
              </a:spcAft>
              <a:buNone/>
            </a:pPr>
            <a:r>
              <a:rPr sz="1200" b="0" i="1">
                <a:solidFill>
                  <a:srgbClr val="222222"/>
                </a:solidFill>
                <a:latin typeface="Times New Roman"/>
                <a:ea typeface="Times New Roman"/>
                <a:cs typeface="Times New Roman"/>
                <a:sym typeface="Times New Roman"/>
              </a:rPr>
              <a:t>React.js, HTML, CSS, JS</a:t>
            </a:r>
          </a:p>
          <a:p>
            <a:pPr marL="0" indent="0" algn="ctr">
              <a:spcBef>
                <a:spcPts val="0"/>
              </a:spcBef>
              <a:spcAft>
                <a:spcPts val="400"/>
              </a:spcAft>
              <a:buNone/>
            </a:pPr>
            <a:r>
              <a:rPr sz="1300" b="0" i="0">
                <a:solidFill>
                  <a:srgbClr val="222222"/>
                </a:solidFill>
                <a:latin typeface="Times New Roman"/>
                <a:ea typeface="Times New Roman"/>
                <a:cs typeface="Times New Roman"/>
                <a:sym typeface="Times New Roman"/>
              </a:rPr>
              <a:t>Web dashboard, forms, diet-chart view</a:t>
            </a:r>
          </a:p>
        </p:txBody>
      </p:sp>
      <p:cxnSp>
        <p:nvCxnSpPr>
          <p:cNvPr id="150" name="Connector 149"/>
          <p:cNvCxnSpPr/>
          <p:nvPr/>
        </p:nvCxnSpPr>
        <p:spPr>
          <a:xfrm>
            <a:off x="5943600" y="3154680"/>
            <a:ext cx="365760" cy="0"/>
          </a:xfrm>
          <a:prstGeom prst="line">
            <a:avLst/>
          </a:prstGeom>
          <a:ln w="22225">
            <a:solidFill>
              <a:srgbClr val="555555"/>
            </a:solidFill>
            <a:tailEnd type="triangle"/>
          </a:ln>
        </p:spPr>
        <p:style>
          <a:lnRef idx="2">
            <a:schemeClr val="accent1"/>
          </a:lnRef>
          <a:fillRef idx="0">
            <a:schemeClr val="accent1"/>
          </a:fillRef>
          <a:effectRef idx="1">
            <a:schemeClr val="accent1"/>
          </a:effectRef>
          <a:fontRef idx="minor">
            <a:schemeClr val="tx1"/>
          </a:fontRef>
        </p:style>
      </p:cxnSp>
      <p:sp>
        <p:nvSpPr>
          <p:cNvPr id="151" name="Rounded Rectangle 150"/>
          <p:cNvSpPr/>
          <p:nvPr/>
        </p:nvSpPr>
        <p:spPr>
          <a:xfrm>
            <a:off x="6309360" y="1554480"/>
            <a:ext cx="3291840" cy="3200400"/>
          </a:xfrm>
          <a:prstGeom prst="roundRect">
            <a:avLst>
              <a:gd name="adj" fmla="val 5000"/>
            </a:avLst>
          </a:prstGeom>
          <a:solidFill>
            <a:srgbClr val="F4E6E2"/>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endParaRPr/>
          </a:p>
        </p:txBody>
      </p:sp>
      <p:sp>
        <p:nvSpPr>
          <p:cNvPr id="152" name="TextBox 151"/>
          <p:cNvSpPr txBox="1"/>
          <p:nvPr/>
        </p:nvSpPr>
        <p:spPr>
          <a:xfrm>
            <a:off x="6400800" y="1600200"/>
            <a:ext cx="3108960" cy="548640"/>
          </a:xfrm>
          <a:prstGeom prst="rect">
            <a:avLst/>
          </a:prstGeom>
          <a:noFill/>
        </p:spPr>
        <p:txBody>
          <a:bodyPr wrap="square" lIns="45720" rIns="45720" anchor="t">
            <a:spAutoFit/>
          </a:bodyPr>
          <a:lstStyle/>
          <a:p>
            <a:pPr marL="0" indent="0" algn="ctr">
              <a:spcBef>
                <a:spcPts val="0"/>
              </a:spcBef>
              <a:spcAft>
                <a:spcPts val="0"/>
              </a:spcAft>
              <a:buNone/>
            </a:pPr>
            <a:r>
              <a:rPr sz="1600" b="1" i="0">
                <a:solidFill>
                  <a:srgbClr val="562214"/>
                </a:solidFill>
                <a:latin typeface="Times New Roman"/>
                <a:ea typeface="Times New Roman"/>
                <a:cs typeface="Times New Roman"/>
                <a:sym typeface="Times New Roman"/>
              </a:rPr>
              <a:t>Backend</a:t>
            </a:r>
          </a:p>
          <a:p>
            <a:pPr marL="0" indent="0" algn="ctr">
              <a:spcBef>
                <a:spcPts val="0"/>
              </a:spcBef>
              <a:spcAft>
                <a:spcPts val="400"/>
              </a:spcAft>
              <a:buNone/>
            </a:pPr>
            <a:r>
              <a:rPr sz="1200" b="0" i="1">
                <a:solidFill>
                  <a:srgbClr val="222222"/>
                </a:solidFill>
                <a:latin typeface="Times New Roman"/>
                <a:ea typeface="Times New Roman"/>
                <a:cs typeface="Times New Roman"/>
                <a:sym typeface="Times New Roman"/>
              </a:rPr>
              <a:t>Node.js / Django / Flask + Python</a:t>
            </a:r>
          </a:p>
        </p:txBody>
      </p:sp>
      <p:sp>
        <p:nvSpPr>
          <p:cNvPr id="153" name="Rounded Rectangle 152"/>
          <p:cNvSpPr/>
          <p:nvPr/>
        </p:nvSpPr>
        <p:spPr>
          <a:xfrm>
            <a:off x="6492240" y="2194560"/>
            <a:ext cx="2926080" cy="411480"/>
          </a:xfrm>
          <a:prstGeom prst="roundRect">
            <a:avLst>
              <a:gd name="adj" fmla="val 8000"/>
            </a:avLst>
          </a:prstGeom>
          <a:solidFill>
            <a:srgbClr val="FFFFFF"/>
          </a:solidFill>
          <a:ln w="15875">
            <a:solidFill>
              <a:srgbClr val="562214"/>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marL="0" indent="0" algn="ctr">
              <a:spcBef>
                <a:spcPts val="0"/>
              </a:spcBef>
              <a:spcAft>
                <a:spcPts val="400"/>
              </a:spcAft>
              <a:buNone/>
            </a:pPr>
            <a:r>
              <a:rPr sz="1200" b="0" i="0">
                <a:solidFill>
                  <a:srgbClr val="222222"/>
                </a:solidFill>
                <a:latin typeface="Times New Roman"/>
                <a:ea typeface="Times New Roman"/>
                <a:cs typeface="Times New Roman"/>
                <a:sym typeface="Times New Roman"/>
              </a:rPr>
              <a:t>Auth &amp; Access Control</a:t>
            </a:r>
          </a:p>
        </p:txBody>
      </p:sp>
      <p:sp>
        <p:nvSpPr>
          <p:cNvPr id="154" name="Rounded Rectangle 153"/>
          <p:cNvSpPr/>
          <p:nvPr/>
        </p:nvSpPr>
        <p:spPr>
          <a:xfrm>
            <a:off x="6492240" y="2697480"/>
            <a:ext cx="2926080" cy="411480"/>
          </a:xfrm>
          <a:prstGeom prst="roundRect">
            <a:avLst>
              <a:gd name="adj" fmla="val 8000"/>
            </a:avLst>
          </a:prstGeom>
          <a:solidFill>
            <a:srgbClr val="FFFFFF"/>
          </a:solidFill>
          <a:ln w="15875">
            <a:solidFill>
              <a:srgbClr val="562214"/>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marL="0" indent="0" algn="ctr">
              <a:spcBef>
                <a:spcPts val="0"/>
              </a:spcBef>
              <a:spcAft>
                <a:spcPts val="400"/>
              </a:spcAft>
              <a:buNone/>
            </a:pPr>
            <a:r>
              <a:rPr sz="1200" b="0" i="0">
                <a:solidFill>
                  <a:srgbClr val="222222"/>
                </a:solidFill>
                <a:latin typeface="Times New Roman"/>
                <a:ea typeface="Times New Roman"/>
                <a:cs typeface="Times New Roman"/>
                <a:sym typeface="Times New Roman"/>
              </a:rPr>
              <a:t>Patient Management</a:t>
            </a:r>
          </a:p>
        </p:txBody>
      </p:sp>
      <p:sp>
        <p:nvSpPr>
          <p:cNvPr id="155" name="Rounded Rectangle 154"/>
          <p:cNvSpPr/>
          <p:nvPr/>
        </p:nvSpPr>
        <p:spPr>
          <a:xfrm>
            <a:off x="6492240" y="3200400"/>
            <a:ext cx="2926080" cy="411480"/>
          </a:xfrm>
          <a:prstGeom prst="roundRect">
            <a:avLst>
              <a:gd name="adj" fmla="val 8000"/>
            </a:avLst>
          </a:prstGeom>
          <a:solidFill>
            <a:srgbClr val="FFFFFF"/>
          </a:solidFill>
          <a:ln w="15875">
            <a:solidFill>
              <a:srgbClr val="562214"/>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marL="0" indent="0" algn="ctr">
              <a:spcBef>
                <a:spcPts val="0"/>
              </a:spcBef>
              <a:spcAft>
                <a:spcPts val="400"/>
              </a:spcAft>
              <a:buNone/>
            </a:pPr>
            <a:r>
              <a:rPr sz="1200" b="0" i="0">
                <a:solidFill>
                  <a:srgbClr val="222222"/>
                </a:solidFill>
                <a:latin typeface="Times New Roman"/>
                <a:ea typeface="Times New Roman"/>
                <a:cs typeface="Times New Roman"/>
                <a:sym typeface="Times New Roman"/>
              </a:rPr>
              <a:t>Nutrient Analysis Engine</a:t>
            </a:r>
          </a:p>
        </p:txBody>
      </p:sp>
      <p:sp>
        <p:nvSpPr>
          <p:cNvPr id="156" name="Rounded Rectangle 155"/>
          <p:cNvSpPr/>
          <p:nvPr/>
        </p:nvSpPr>
        <p:spPr>
          <a:xfrm>
            <a:off x="6492240" y="3703320"/>
            <a:ext cx="2926080" cy="411480"/>
          </a:xfrm>
          <a:prstGeom prst="roundRect">
            <a:avLst>
              <a:gd name="adj" fmla="val 8000"/>
            </a:avLst>
          </a:prstGeom>
          <a:solidFill>
            <a:srgbClr val="FFFFFF"/>
          </a:solidFill>
          <a:ln w="15875">
            <a:solidFill>
              <a:srgbClr val="562214"/>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marL="0" indent="0" algn="ctr">
              <a:spcBef>
                <a:spcPts val="0"/>
              </a:spcBef>
              <a:spcAft>
                <a:spcPts val="400"/>
              </a:spcAft>
              <a:buNone/>
            </a:pPr>
            <a:r>
              <a:rPr sz="1200" b="0" i="0">
                <a:solidFill>
                  <a:srgbClr val="222222"/>
                </a:solidFill>
                <a:latin typeface="Times New Roman"/>
                <a:ea typeface="Times New Roman"/>
                <a:cs typeface="Times New Roman"/>
                <a:sym typeface="Times New Roman"/>
              </a:rPr>
              <a:t>Diet Plan Recommender</a:t>
            </a:r>
          </a:p>
        </p:txBody>
      </p:sp>
      <p:sp>
        <p:nvSpPr>
          <p:cNvPr id="157" name="Rounded Rectangle 156"/>
          <p:cNvSpPr/>
          <p:nvPr/>
        </p:nvSpPr>
        <p:spPr>
          <a:xfrm>
            <a:off x="6492240" y="4206240"/>
            <a:ext cx="2926080" cy="411480"/>
          </a:xfrm>
          <a:prstGeom prst="roundRect">
            <a:avLst>
              <a:gd name="adj" fmla="val 8000"/>
            </a:avLst>
          </a:prstGeom>
          <a:solidFill>
            <a:srgbClr val="FFFFFF"/>
          </a:solidFill>
          <a:ln w="15875">
            <a:solidFill>
              <a:srgbClr val="562214"/>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marL="0" indent="0" algn="ctr">
              <a:spcBef>
                <a:spcPts val="0"/>
              </a:spcBef>
              <a:spcAft>
                <a:spcPts val="400"/>
              </a:spcAft>
              <a:buNone/>
            </a:pPr>
            <a:r>
              <a:rPr sz="1200" b="0" i="0">
                <a:solidFill>
                  <a:srgbClr val="222222"/>
                </a:solidFill>
                <a:latin typeface="Times New Roman"/>
                <a:ea typeface="Times New Roman"/>
                <a:cs typeface="Times New Roman"/>
                <a:sym typeface="Times New Roman"/>
              </a:rPr>
              <a:t>Progress Tracking &amp; Reports</a:t>
            </a:r>
          </a:p>
        </p:txBody>
      </p:sp>
      <p:cxnSp>
        <p:nvCxnSpPr>
          <p:cNvPr id="158" name="Connector 157"/>
          <p:cNvCxnSpPr/>
          <p:nvPr/>
        </p:nvCxnSpPr>
        <p:spPr>
          <a:xfrm>
            <a:off x="9601200" y="3154680"/>
            <a:ext cx="365760" cy="0"/>
          </a:xfrm>
          <a:prstGeom prst="line">
            <a:avLst/>
          </a:prstGeom>
          <a:ln w="22225">
            <a:solidFill>
              <a:srgbClr val="555555"/>
            </a:solidFill>
            <a:tailEnd type="triangle"/>
          </a:ln>
        </p:spPr>
        <p:style>
          <a:lnRef idx="2">
            <a:schemeClr val="accent1"/>
          </a:lnRef>
          <a:fillRef idx="0">
            <a:schemeClr val="accent1"/>
          </a:fillRef>
          <a:effectRef idx="1">
            <a:schemeClr val="accent1"/>
          </a:effectRef>
          <a:fontRef idx="minor">
            <a:schemeClr val="tx1"/>
          </a:fontRef>
        </p:style>
      </p:cxnSp>
      <p:sp>
        <p:nvSpPr>
          <p:cNvPr id="159" name="Rounded Rectangle 158"/>
          <p:cNvSpPr/>
          <p:nvPr/>
        </p:nvSpPr>
        <p:spPr>
          <a:xfrm>
            <a:off x="9966960" y="2148840"/>
            <a:ext cx="1828800" cy="2011680"/>
          </a:xfrm>
          <a:prstGeom prst="roundRect">
            <a:avLst>
              <a:gd name="adj" fmla="val 8000"/>
            </a:avLst>
          </a:prstGeom>
          <a:solidFill>
            <a:srgbClr val="EAF1E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marL="0" indent="0" algn="ctr">
              <a:spcBef>
                <a:spcPts val="0"/>
              </a:spcBef>
              <a:spcAft>
                <a:spcPts val="400"/>
              </a:spcAft>
              <a:buNone/>
            </a:pPr>
            <a:r>
              <a:rPr sz="1600" b="1" i="0">
                <a:solidFill>
                  <a:srgbClr val="3E6B2F"/>
                </a:solidFill>
                <a:latin typeface="Times New Roman"/>
                <a:ea typeface="Times New Roman"/>
                <a:cs typeface="Times New Roman"/>
                <a:sym typeface="Times New Roman"/>
              </a:rPr>
              <a:t>Database</a:t>
            </a:r>
          </a:p>
          <a:p>
            <a:pPr marL="0" indent="0" algn="ctr">
              <a:spcBef>
                <a:spcPts val="0"/>
              </a:spcBef>
              <a:spcAft>
                <a:spcPts val="400"/>
              </a:spcAft>
              <a:buNone/>
            </a:pPr>
            <a:r>
              <a:rPr sz="1200" b="0" i="1">
                <a:solidFill>
                  <a:srgbClr val="222222"/>
                </a:solidFill>
                <a:latin typeface="Times New Roman"/>
                <a:ea typeface="Times New Roman"/>
                <a:cs typeface="Times New Roman"/>
                <a:sym typeface="Times New Roman"/>
              </a:rPr>
              <a:t>MySQL / MongoDB</a:t>
            </a:r>
          </a:p>
          <a:p>
            <a:pPr marL="0" indent="0" algn="ctr">
              <a:spcBef>
                <a:spcPts val="0"/>
              </a:spcBef>
              <a:spcAft>
                <a:spcPts val="400"/>
              </a:spcAft>
              <a:buNone/>
            </a:pPr>
            <a:r>
              <a:rPr sz="1300" b="0" i="0">
                <a:solidFill>
                  <a:srgbClr val="222222"/>
                </a:solidFill>
                <a:latin typeface="Times New Roman"/>
                <a:ea typeface="Times New Roman"/>
                <a:cs typeface="Times New Roman"/>
                <a:sym typeface="Times New Roman"/>
              </a:rPr>
              <a:t>Patients, foods, nutrients, diet plans</a:t>
            </a:r>
          </a:p>
        </p:txBody>
      </p:sp>
      <p:sp>
        <p:nvSpPr>
          <p:cNvPr id="160" name="Rounded Rectangle 159"/>
          <p:cNvSpPr/>
          <p:nvPr/>
        </p:nvSpPr>
        <p:spPr>
          <a:xfrm>
            <a:off x="6309360" y="5029200"/>
            <a:ext cx="3291840" cy="502920"/>
          </a:xfrm>
          <a:prstGeom prst="roundRect">
            <a:avLst>
              <a:gd name="adj" fmla="val 8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marL="0" indent="0" algn="ctr">
              <a:spcBef>
                <a:spcPts val="0"/>
              </a:spcBef>
              <a:spcAft>
                <a:spcPts val="400"/>
              </a:spcAft>
              <a:buNone/>
            </a:pPr>
            <a:r>
              <a:rPr sz="1300" b="1" i="0">
                <a:solidFill>
                  <a:srgbClr val="C77A12"/>
                </a:solidFill>
                <a:latin typeface="Times New Roman"/>
                <a:ea typeface="Times New Roman"/>
                <a:cs typeface="Times New Roman"/>
                <a:sym typeface="Times New Roman"/>
              </a:rPr>
              <a:t>Nutrition / Food Database APIs + IFCT data</a:t>
            </a:r>
          </a:p>
        </p:txBody>
      </p:sp>
      <p:cxnSp>
        <p:nvCxnSpPr>
          <p:cNvPr id="161" name="Connector 160"/>
          <p:cNvCxnSpPr/>
          <p:nvPr/>
        </p:nvCxnSpPr>
        <p:spPr>
          <a:xfrm flipV="1">
            <a:off x="7955279" y="4754880"/>
            <a:ext cx="0" cy="274320"/>
          </a:xfrm>
          <a:prstGeom prst="line">
            <a:avLst/>
          </a:prstGeom>
          <a:ln w="22225">
            <a:solidFill>
              <a:srgbClr val="555555"/>
            </a:solidFill>
            <a:tailEnd type="triangle"/>
          </a:ln>
        </p:spPr>
        <p:style>
          <a:lnRef idx="2">
            <a:schemeClr val="accent1"/>
          </a:lnRef>
          <a:fillRef idx="0">
            <a:schemeClr val="accent1"/>
          </a:fillRef>
          <a:effectRef idx="1">
            <a:schemeClr val="accent1"/>
          </a:effectRef>
          <a:fontRef idx="minor">
            <a:schemeClr val="tx1"/>
          </a:fontRef>
        </p:style>
      </p:cxnSp>
      <p:sp>
        <p:nvSpPr>
          <p:cNvPr id="162" name="Rounded Rectangle 161"/>
          <p:cNvSpPr/>
          <p:nvPr/>
        </p:nvSpPr>
        <p:spPr>
          <a:xfrm>
            <a:off x="1828800" y="5669280"/>
            <a:ext cx="9966960" cy="411480"/>
          </a:xfrm>
          <a:prstGeom prst="roundRect">
            <a:avLst>
              <a:gd name="adj" fmla="val 30000"/>
            </a:avLst>
          </a:prstGeom>
          <a:solidFill>
            <a:srgbClr val="562214"/>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marL="0" indent="0" algn="ctr">
              <a:spcBef>
                <a:spcPts val="0"/>
              </a:spcBef>
              <a:spcAft>
                <a:spcPts val="400"/>
              </a:spcAft>
              <a:buNone/>
            </a:pPr>
            <a:r>
              <a:rPr sz="1300" b="1" i="0">
                <a:solidFill>
                  <a:srgbClr val="FFFFFF"/>
                </a:solidFill>
                <a:latin typeface="Times New Roman"/>
                <a:ea typeface="Times New Roman"/>
                <a:cs typeface="Times New Roman"/>
                <a:sym typeface="Times New Roman"/>
              </a:rPr>
              <a:t>Cloud Platform: AWS / Firebase  |  Secure hosting, scalability, backups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7"/>
          <p:cNvSpPr txBox="1">
            <a:spLocks noGrp="1"/>
          </p:cNvSpPr>
          <p:nvPr>
            <p:ph type="title"/>
          </p:nvPr>
        </p:nvSpPr>
        <p:spPr>
          <a:xfrm>
            <a:off x="1828800" y="274320"/>
            <a:ext cx="9966960" cy="777240"/>
          </a:xfrm>
          <a:prstGeom prst="rect">
            <a:avLst/>
          </a:prstGeom>
          <a:noFill/>
          <a:ln>
            <a:noFill/>
          </a:ln>
        </p:spPr>
        <p:txBody>
          <a:bodyPr spcFirstLastPara="1" wrap="square" lIns="45720" tIns="45700" rIns="91425" bIns="45700" anchor="ctr" anchorCtr="0">
            <a:noAutofit/>
          </a:bodyPr>
          <a:lstStyle/>
          <a:p>
            <a:pPr marL="0" indent="0" algn="l">
              <a:spcBef>
                <a:spcPts val="0"/>
              </a:spcBef>
              <a:spcAft>
                <a:spcPts val="400"/>
              </a:spcAft>
              <a:buNone/>
            </a:pPr>
            <a:r>
              <a:rPr sz="3600" b="1" i="0">
                <a:solidFill>
                  <a:srgbClr val="562214"/>
                </a:solidFill>
                <a:latin typeface="Times New Roman"/>
                <a:ea typeface="Times New Roman"/>
                <a:cs typeface="Times New Roman"/>
                <a:sym typeface="Times New Roman"/>
              </a:rPr>
              <a:t>Experimental Setup &amp; Variance</a:t>
            </a:r>
          </a:p>
        </p:txBody>
      </p:sp>
      <p:sp>
        <p:nvSpPr>
          <p:cNvPr id="152" name="Google Shape;152;p7"/>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11</a:t>
            </a:fld>
            <a:endParaRPr/>
          </a:p>
        </p:txBody>
      </p:sp>
      <p:sp>
        <p:nvSpPr>
          <p:cNvPr id="121" name="Google Shape;121;p3"/>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p>
            <a:pPr lvl="0"/>
            <a:r>
              <a:rPr lang="en-US" dirty="0">
                <a:latin typeface="Times New Roman"/>
                <a:ea typeface="Times New Roman"/>
                <a:cs typeface="Times New Roman"/>
                <a:sym typeface="Times New Roman"/>
              </a:rPr>
              <a:t>31-10-2026</a:t>
            </a:r>
          </a:p>
        </p:txBody>
      </p:sp>
      <p:sp>
        <p:nvSpPr>
          <p:cNvPr id="123" name="Google Shape;123;p3"/>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latin typeface="Times New Roman"/>
                <a:ea typeface="Times New Roman"/>
                <a:cs typeface="Times New Roman"/>
                <a:sym typeface="Times New Roman"/>
              </a:rPr>
              <a:t>NSP Project, July-Dec 2026</a:t>
            </a:r>
            <a:endParaRPr>
              <a:latin typeface="Times New Roman"/>
              <a:ea typeface="Times New Roman"/>
              <a:cs typeface="Times New Roman"/>
              <a:sym typeface="Times New Roman"/>
            </a:endParaRPr>
          </a:p>
        </p:txBody>
      </p:sp>
      <p:sp>
        <p:nvSpPr>
          <p:cNvPr id="153" name="Rounded Rectangle 152"/>
          <p:cNvSpPr/>
          <p:nvPr/>
        </p:nvSpPr>
        <p:spPr>
          <a:xfrm>
            <a:off x="1828800" y="1188720"/>
            <a:ext cx="1508760" cy="868680"/>
          </a:xfrm>
          <a:prstGeom prst="roundRect">
            <a:avLst>
              <a:gd name="adj" fmla="val 8000"/>
            </a:avLst>
          </a:prstGeom>
          <a:solidFill>
            <a:srgbClr val="562214"/>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marL="0" indent="0" algn="ctr">
              <a:spcBef>
                <a:spcPts val="0"/>
              </a:spcBef>
              <a:spcAft>
                <a:spcPts val="400"/>
              </a:spcAft>
              <a:buNone/>
            </a:pPr>
            <a:r>
              <a:rPr sz="1200" b="1" i="0">
                <a:solidFill>
                  <a:srgbClr val="FFFFFF"/>
                </a:solidFill>
                <a:latin typeface="Times New Roman"/>
                <a:ea typeface="Times New Roman"/>
                <a:cs typeface="Times New Roman"/>
                <a:sym typeface="Times New Roman"/>
              </a:rPr>
              <a:t>1. Data Collection</a:t>
            </a:r>
          </a:p>
        </p:txBody>
      </p:sp>
      <p:cxnSp>
        <p:nvCxnSpPr>
          <p:cNvPr id="154" name="Connector 153"/>
          <p:cNvCxnSpPr/>
          <p:nvPr/>
        </p:nvCxnSpPr>
        <p:spPr>
          <a:xfrm>
            <a:off x="3337560" y="1627632"/>
            <a:ext cx="164592" cy="0"/>
          </a:xfrm>
          <a:prstGeom prst="line">
            <a:avLst/>
          </a:prstGeom>
          <a:ln w="22225">
            <a:solidFill>
              <a:srgbClr val="555555"/>
            </a:solidFill>
            <a:tailEnd type="triangle"/>
          </a:ln>
        </p:spPr>
        <p:style>
          <a:lnRef idx="2">
            <a:schemeClr val="accent1"/>
          </a:lnRef>
          <a:fillRef idx="0">
            <a:schemeClr val="accent1"/>
          </a:fillRef>
          <a:effectRef idx="1">
            <a:schemeClr val="accent1"/>
          </a:effectRef>
          <a:fontRef idx="minor">
            <a:schemeClr val="tx1"/>
          </a:fontRef>
        </p:style>
      </p:cxnSp>
      <p:sp>
        <p:nvSpPr>
          <p:cNvPr id="155" name="Rounded Rectangle 154"/>
          <p:cNvSpPr/>
          <p:nvPr/>
        </p:nvSpPr>
        <p:spPr>
          <a:xfrm>
            <a:off x="3502152" y="1188720"/>
            <a:ext cx="1508760" cy="868680"/>
          </a:xfrm>
          <a:prstGeom prst="roundRect">
            <a:avLst>
              <a:gd name="adj" fmla="val 8000"/>
            </a:avLst>
          </a:prstGeom>
          <a:solidFill>
            <a:srgbClr val="3E6B2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marL="0" indent="0" algn="ctr">
              <a:spcBef>
                <a:spcPts val="0"/>
              </a:spcBef>
              <a:spcAft>
                <a:spcPts val="400"/>
              </a:spcAft>
              <a:buNone/>
            </a:pPr>
            <a:r>
              <a:rPr sz="1200" b="1" i="0">
                <a:solidFill>
                  <a:srgbClr val="FFFFFF"/>
                </a:solidFill>
                <a:latin typeface="Times New Roman"/>
                <a:ea typeface="Times New Roman"/>
                <a:cs typeface="Times New Roman"/>
                <a:sym typeface="Times New Roman"/>
              </a:rPr>
              <a:t>2. Data Preprocessing</a:t>
            </a:r>
          </a:p>
        </p:txBody>
      </p:sp>
      <p:cxnSp>
        <p:nvCxnSpPr>
          <p:cNvPr id="156" name="Connector 155"/>
          <p:cNvCxnSpPr/>
          <p:nvPr/>
        </p:nvCxnSpPr>
        <p:spPr>
          <a:xfrm>
            <a:off x="5010912" y="1627632"/>
            <a:ext cx="164592" cy="0"/>
          </a:xfrm>
          <a:prstGeom prst="line">
            <a:avLst/>
          </a:prstGeom>
          <a:ln w="22225">
            <a:solidFill>
              <a:srgbClr val="555555"/>
            </a:solidFill>
            <a:tailEnd type="triangle"/>
          </a:ln>
        </p:spPr>
        <p:style>
          <a:lnRef idx="2">
            <a:schemeClr val="accent1"/>
          </a:lnRef>
          <a:fillRef idx="0">
            <a:schemeClr val="accent1"/>
          </a:fillRef>
          <a:effectRef idx="1">
            <a:schemeClr val="accent1"/>
          </a:effectRef>
          <a:fontRef idx="minor">
            <a:schemeClr val="tx1"/>
          </a:fontRef>
        </p:style>
      </p:cxnSp>
      <p:sp>
        <p:nvSpPr>
          <p:cNvPr id="157" name="Rounded Rectangle 156"/>
          <p:cNvSpPr/>
          <p:nvPr/>
        </p:nvSpPr>
        <p:spPr>
          <a:xfrm>
            <a:off x="5175504" y="1188720"/>
            <a:ext cx="1508760" cy="868680"/>
          </a:xfrm>
          <a:prstGeom prst="roundRect">
            <a:avLst>
              <a:gd name="adj" fmla="val 8000"/>
            </a:avLst>
          </a:prstGeom>
          <a:solidFill>
            <a:srgbClr val="562214"/>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marL="0" indent="0" algn="ctr">
              <a:spcBef>
                <a:spcPts val="0"/>
              </a:spcBef>
              <a:spcAft>
                <a:spcPts val="400"/>
              </a:spcAft>
              <a:buNone/>
            </a:pPr>
            <a:r>
              <a:rPr sz="1200" b="1" i="0">
                <a:solidFill>
                  <a:srgbClr val="FFFFFF"/>
                </a:solidFill>
                <a:latin typeface="Times New Roman"/>
                <a:ea typeface="Times New Roman"/>
                <a:cs typeface="Times New Roman"/>
                <a:sym typeface="Times New Roman"/>
              </a:rPr>
              <a:t>3. Nutrient Analysis &amp; Recommendation</a:t>
            </a:r>
          </a:p>
        </p:txBody>
      </p:sp>
      <p:cxnSp>
        <p:nvCxnSpPr>
          <p:cNvPr id="158" name="Connector 157"/>
          <p:cNvCxnSpPr/>
          <p:nvPr/>
        </p:nvCxnSpPr>
        <p:spPr>
          <a:xfrm>
            <a:off x="6684264" y="1627632"/>
            <a:ext cx="164592" cy="0"/>
          </a:xfrm>
          <a:prstGeom prst="line">
            <a:avLst/>
          </a:prstGeom>
          <a:ln w="22225">
            <a:solidFill>
              <a:srgbClr val="555555"/>
            </a:solidFill>
            <a:tailEnd type="triangle"/>
          </a:ln>
        </p:spPr>
        <p:style>
          <a:lnRef idx="2">
            <a:schemeClr val="accent1"/>
          </a:lnRef>
          <a:fillRef idx="0">
            <a:schemeClr val="accent1"/>
          </a:fillRef>
          <a:effectRef idx="1">
            <a:schemeClr val="accent1"/>
          </a:effectRef>
          <a:fontRef idx="minor">
            <a:schemeClr val="tx1"/>
          </a:fontRef>
        </p:style>
      </p:cxnSp>
      <p:sp>
        <p:nvSpPr>
          <p:cNvPr id="159" name="Rounded Rectangle 158"/>
          <p:cNvSpPr/>
          <p:nvPr/>
        </p:nvSpPr>
        <p:spPr>
          <a:xfrm>
            <a:off x="6848856" y="1188720"/>
            <a:ext cx="1508760" cy="868680"/>
          </a:xfrm>
          <a:prstGeom prst="roundRect">
            <a:avLst>
              <a:gd name="adj" fmla="val 8000"/>
            </a:avLst>
          </a:prstGeom>
          <a:solidFill>
            <a:srgbClr val="3E6B2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marL="0" indent="0" algn="ctr">
              <a:spcBef>
                <a:spcPts val="0"/>
              </a:spcBef>
              <a:spcAft>
                <a:spcPts val="400"/>
              </a:spcAft>
              <a:buNone/>
            </a:pPr>
            <a:r>
              <a:rPr sz="1200" b="1" i="0">
                <a:solidFill>
                  <a:srgbClr val="FFFFFF"/>
                </a:solidFill>
                <a:latin typeface="Times New Roman"/>
                <a:ea typeface="Times New Roman"/>
                <a:cs typeface="Times New Roman"/>
                <a:sym typeface="Times New Roman"/>
              </a:rPr>
              <a:t>4. System Design</a:t>
            </a:r>
          </a:p>
        </p:txBody>
      </p:sp>
      <p:cxnSp>
        <p:nvCxnSpPr>
          <p:cNvPr id="160" name="Connector 159"/>
          <p:cNvCxnSpPr/>
          <p:nvPr/>
        </p:nvCxnSpPr>
        <p:spPr>
          <a:xfrm>
            <a:off x="8357616" y="1627632"/>
            <a:ext cx="164592" cy="0"/>
          </a:xfrm>
          <a:prstGeom prst="line">
            <a:avLst/>
          </a:prstGeom>
          <a:ln w="22225">
            <a:solidFill>
              <a:srgbClr val="555555"/>
            </a:solidFill>
            <a:tailEnd type="triangle"/>
          </a:ln>
        </p:spPr>
        <p:style>
          <a:lnRef idx="2">
            <a:schemeClr val="accent1"/>
          </a:lnRef>
          <a:fillRef idx="0">
            <a:schemeClr val="accent1"/>
          </a:fillRef>
          <a:effectRef idx="1">
            <a:schemeClr val="accent1"/>
          </a:effectRef>
          <a:fontRef idx="minor">
            <a:schemeClr val="tx1"/>
          </a:fontRef>
        </p:style>
      </p:cxnSp>
      <p:sp>
        <p:nvSpPr>
          <p:cNvPr id="161" name="Rounded Rectangle 160"/>
          <p:cNvSpPr/>
          <p:nvPr/>
        </p:nvSpPr>
        <p:spPr>
          <a:xfrm>
            <a:off x="8522208" y="1188720"/>
            <a:ext cx="1508760" cy="868680"/>
          </a:xfrm>
          <a:prstGeom prst="roundRect">
            <a:avLst>
              <a:gd name="adj" fmla="val 8000"/>
            </a:avLst>
          </a:prstGeom>
          <a:solidFill>
            <a:srgbClr val="562214"/>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marL="0" indent="0" algn="ctr">
              <a:spcBef>
                <a:spcPts val="0"/>
              </a:spcBef>
              <a:spcAft>
                <a:spcPts val="400"/>
              </a:spcAft>
              <a:buNone/>
            </a:pPr>
            <a:r>
              <a:rPr sz="1200" b="1" i="0">
                <a:solidFill>
                  <a:srgbClr val="FFFFFF"/>
                </a:solidFill>
                <a:latin typeface="Times New Roman"/>
                <a:ea typeface="Times New Roman"/>
                <a:cs typeface="Times New Roman"/>
                <a:sym typeface="Times New Roman"/>
              </a:rPr>
              <a:t>5. Cloud Integration</a:t>
            </a:r>
          </a:p>
        </p:txBody>
      </p:sp>
      <p:cxnSp>
        <p:nvCxnSpPr>
          <p:cNvPr id="162" name="Connector 161"/>
          <p:cNvCxnSpPr/>
          <p:nvPr/>
        </p:nvCxnSpPr>
        <p:spPr>
          <a:xfrm>
            <a:off x="10030968" y="1627632"/>
            <a:ext cx="164592" cy="0"/>
          </a:xfrm>
          <a:prstGeom prst="line">
            <a:avLst/>
          </a:prstGeom>
          <a:ln w="22225">
            <a:solidFill>
              <a:srgbClr val="555555"/>
            </a:solidFill>
            <a:tailEnd type="triangle"/>
          </a:ln>
        </p:spPr>
        <p:style>
          <a:lnRef idx="2">
            <a:schemeClr val="accent1"/>
          </a:lnRef>
          <a:fillRef idx="0">
            <a:schemeClr val="accent1"/>
          </a:fillRef>
          <a:effectRef idx="1">
            <a:schemeClr val="accent1"/>
          </a:effectRef>
          <a:fontRef idx="minor">
            <a:schemeClr val="tx1"/>
          </a:fontRef>
        </p:style>
      </p:cxnSp>
      <p:sp>
        <p:nvSpPr>
          <p:cNvPr id="163" name="Rounded Rectangle 162"/>
          <p:cNvSpPr/>
          <p:nvPr/>
        </p:nvSpPr>
        <p:spPr>
          <a:xfrm>
            <a:off x="10195560" y="1188720"/>
            <a:ext cx="1508760" cy="868680"/>
          </a:xfrm>
          <a:prstGeom prst="roundRect">
            <a:avLst>
              <a:gd name="adj" fmla="val 8000"/>
            </a:avLst>
          </a:prstGeom>
          <a:solidFill>
            <a:srgbClr val="3E6B2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marL="0" indent="0" algn="ctr">
              <a:spcBef>
                <a:spcPts val="0"/>
              </a:spcBef>
              <a:spcAft>
                <a:spcPts val="400"/>
              </a:spcAft>
              <a:buNone/>
            </a:pPr>
            <a:r>
              <a:rPr sz="1200" b="1" i="0">
                <a:solidFill>
                  <a:srgbClr val="FFFFFF"/>
                </a:solidFill>
                <a:latin typeface="Times New Roman"/>
                <a:ea typeface="Times New Roman"/>
                <a:cs typeface="Times New Roman"/>
                <a:sym typeface="Times New Roman"/>
              </a:rPr>
              <a:t>6. Testing &amp; Deployment</a:t>
            </a:r>
          </a:p>
        </p:txBody>
      </p:sp>
      <p:sp>
        <p:nvSpPr>
          <p:cNvPr id="164" name="Rounded Rectangle 163"/>
          <p:cNvSpPr/>
          <p:nvPr/>
        </p:nvSpPr>
        <p:spPr>
          <a:xfrm>
            <a:off x="1828800" y="2331720"/>
            <a:ext cx="4846320" cy="3749039"/>
          </a:xfrm>
          <a:prstGeom prst="roundRect">
            <a:avLst>
              <a:gd name="adj" fmla="val 8000"/>
            </a:avLst>
          </a:prstGeom>
          <a:solidFill>
            <a:srgbClr val="EAF1E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endParaRPr/>
          </a:p>
        </p:txBody>
      </p:sp>
      <p:sp>
        <p:nvSpPr>
          <p:cNvPr id="165" name="TextBox 164"/>
          <p:cNvSpPr txBox="1"/>
          <p:nvPr/>
        </p:nvSpPr>
        <p:spPr>
          <a:xfrm>
            <a:off x="1965960" y="2423160"/>
            <a:ext cx="4572000" cy="3566160"/>
          </a:xfrm>
          <a:prstGeom prst="rect">
            <a:avLst/>
          </a:prstGeom>
          <a:noFill/>
        </p:spPr>
        <p:txBody>
          <a:bodyPr wrap="square" lIns="45720" rIns="45720" anchor="t">
            <a:spAutoFit/>
          </a:bodyPr>
          <a:lstStyle/>
          <a:p>
            <a:pPr marL="0" indent="0" algn="l">
              <a:spcBef>
                <a:spcPts val="0"/>
              </a:spcBef>
              <a:spcAft>
                <a:spcPts val="600"/>
              </a:spcAft>
              <a:buNone/>
            </a:pPr>
            <a:r>
              <a:rPr sz="1700" b="1" i="0">
                <a:solidFill>
                  <a:srgbClr val="3E6B2F"/>
                </a:solidFill>
                <a:latin typeface="Times New Roman"/>
                <a:ea typeface="Times New Roman"/>
                <a:cs typeface="Times New Roman"/>
                <a:sym typeface="Times New Roman"/>
              </a:rPr>
              <a:t>Experimental Setup</a:t>
            </a:r>
          </a:p>
          <a:p>
            <a:pPr marL="228600" indent="-201168" algn="l">
              <a:spcBef>
                <a:spcPts val="0"/>
              </a:spcBef>
              <a:spcAft>
                <a:spcPts val="900"/>
              </a:spcAft>
              <a:buClr>
                <a:srgbClr val="3E6B2F"/>
              </a:buClr>
              <a:buFont typeface="Arial"/>
              <a:buChar char="•"/>
            </a:pPr>
            <a:r>
              <a:rPr sz="1600" b="1" i="0">
                <a:solidFill>
                  <a:srgbClr val="222222"/>
                </a:solidFill>
                <a:latin typeface="Times New Roman"/>
                <a:ea typeface="Times New Roman"/>
                <a:cs typeface="Times New Roman"/>
                <a:sym typeface="Times New Roman"/>
              </a:rPr>
              <a:t>Hardware: </a:t>
            </a:r>
            <a:r>
              <a:rPr sz="1600" b="0" i="0">
                <a:solidFill>
                  <a:srgbClr val="222222"/>
                </a:solidFill>
                <a:latin typeface="Times New Roman"/>
                <a:ea typeface="Times New Roman"/>
                <a:cs typeface="Times New Roman"/>
                <a:sym typeface="Times New Roman"/>
              </a:rPr>
              <a:t>Laptop/PC, 8 GB+ RAM, internet access</a:t>
            </a:r>
          </a:p>
          <a:p>
            <a:pPr marL="228600" indent="-201168" algn="l">
              <a:spcBef>
                <a:spcPts val="0"/>
              </a:spcBef>
              <a:spcAft>
                <a:spcPts val="900"/>
              </a:spcAft>
              <a:buClr>
                <a:srgbClr val="3E6B2F"/>
              </a:buClr>
              <a:buFont typeface="Arial"/>
              <a:buChar char="•"/>
            </a:pPr>
            <a:r>
              <a:rPr sz="1600" b="1" i="0">
                <a:solidFill>
                  <a:srgbClr val="222222"/>
                </a:solidFill>
                <a:latin typeface="Times New Roman"/>
                <a:ea typeface="Times New Roman"/>
                <a:cs typeface="Times New Roman"/>
                <a:sym typeface="Times New Roman"/>
              </a:rPr>
              <a:t>Software: </a:t>
            </a:r>
            <a:r>
              <a:rPr sz="1600" b="0" i="0">
                <a:solidFill>
                  <a:srgbClr val="222222"/>
                </a:solidFill>
                <a:latin typeface="Times New Roman"/>
                <a:ea typeface="Times New Roman"/>
                <a:cs typeface="Times New Roman"/>
                <a:sym typeface="Times New Roman"/>
              </a:rPr>
              <a:t>VS Code, Git, GitHub, Python, Node.js</a:t>
            </a:r>
          </a:p>
          <a:p>
            <a:pPr marL="228600" indent="-201168" algn="l">
              <a:spcBef>
                <a:spcPts val="0"/>
              </a:spcBef>
              <a:spcAft>
                <a:spcPts val="900"/>
              </a:spcAft>
              <a:buClr>
                <a:srgbClr val="3E6B2F"/>
              </a:buClr>
              <a:buFont typeface="Arial"/>
              <a:buChar char="•"/>
            </a:pPr>
            <a:r>
              <a:rPr sz="1600" b="1" i="0">
                <a:solidFill>
                  <a:srgbClr val="222222"/>
                </a:solidFill>
                <a:latin typeface="Times New Roman"/>
                <a:ea typeface="Times New Roman"/>
                <a:cs typeface="Times New Roman"/>
                <a:sym typeface="Times New Roman"/>
              </a:rPr>
              <a:t>Stack: </a:t>
            </a:r>
            <a:r>
              <a:rPr sz="1600" b="0" i="0">
                <a:solidFill>
                  <a:srgbClr val="222222"/>
                </a:solidFill>
                <a:latin typeface="Times New Roman"/>
                <a:ea typeface="Times New Roman"/>
                <a:cs typeface="Times New Roman"/>
                <a:sym typeface="Times New Roman"/>
              </a:rPr>
              <a:t>React.js frontend, REST backend, MySQL/MongoDB</a:t>
            </a:r>
          </a:p>
          <a:p>
            <a:pPr marL="228600" indent="-201168" algn="l">
              <a:spcBef>
                <a:spcPts val="0"/>
              </a:spcBef>
              <a:spcAft>
                <a:spcPts val="900"/>
              </a:spcAft>
              <a:buClr>
                <a:srgbClr val="3E6B2F"/>
              </a:buClr>
              <a:buFont typeface="Arial"/>
              <a:buChar char="•"/>
            </a:pPr>
            <a:r>
              <a:rPr sz="1600" b="1" i="0">
                <a:solidFill>
                  <a:srgbClr val="222222"/>
                </a:solidFill>
                <a:latin typeface="Times New Roman"/>
                <a:ea typeface="Times New Roman"/>
                <a:cs typeface="Times New Roman"/>
                <a:sym typeface="Times New Roman"/>
              </a:rPr>
              <a:t>Cloud: </a:t>
            </a:r>
            <a:r>
              <a:rPr sz="1600" b="0" i="0">
                <a:solidFill>
                  <a:srgbClr val="222222"/>
                </a:solidFill>
                <a:latin typeface="Times New Roman"/>
                <a:ea typeface="Times New Roman"/>
                <a:cs typeface="Times New Roman"/>
                <a:sym typeface="Times New Roman"/>
              </a:rPr>
              <a:t>AWS / Firebase hosting with authentication</a:t>
            </a:r>
          </a:p>
          <a:p>
            <a:pPr marL="228600" indent="-201168" algn="l">
              <a:spcBef>
                <a:spcPts val="0"/>
              </a:spcBef>
              <a:spcAft>
                <a:spcPts val="900"/>
              </a:spcAft>
              <a:buClr>
                <a:srgbClr val="3E6B2F"/>
              </a:buClr>
              <a:buFont typeface="Arial"/>
              <a:buChar char="•"/>
            </a:pPr>
            <a:r>
              <a:rPr sz="1600" b="1" i="0">
                <a:solidFill>
                  <a:srgbClr val="222222"/>
                </a:solidFill>
                <a:latin typeface="Times New Roman"/>
                <a:ea typeface="Times New Roman"/>
                <a:cs typeface="Times New Roman"/>
                <a:sym typeface="Times New Roman"/>
              </a:rPr>
              <a:t>Data: </a:t>
            </a:r>
            <a:r>
              <a:rPr sz="1600" b="0" i="0">
                <a:solidFill>
                  <a:srgbClr val="222222"/>
                </a:solidFill>
                <a:latin typeface="Times New Roman"/>
                <a:ea typeface="Times New Roman"/>
                <a:cs typeface="Times New Roman"/>
                <a:sym typeface="Times New Roman"/>
              </a:rPr>
              <a:t>Food &amp; nutrient data (IFCT 2017, food APIs), Ayurvedic food properties, sample patient profiles</a:t>
            </a:r>
          </a:p>
        </p:txBody>
      </p:sp>
      <p:sp>
        <p:nvSpPr>
          <p:cNvPr id="166" name="Rounded Rectangle 165"/>
          <p:cNvSpPr/>
          <p:nvPr/>
        </p:nvSpPr>
        <p:spPr>
          <a:xfrm>
            <a:off x="6949440" y="2331720"/>
            <a:ext cx="4846320" cy="3749039"/>
          </a:xfrm>
          <a:prstGeom prst="roundRect">
            <a:avLst>
              <a:gd name="adj" fmla="val 8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endParaRPr/>
          </a:p>
        </p:txBody>
      </p:sp>
      <p:sp>
        <p:nvSpPr>
          <p:cNvPr id="167" name="TextBox 166"/>
          <p:cNvSpPr txBox="1"/>
          <p:nvPr/>
        </p:nvSpPr>
        <p:spPr>
          <a:xfrm>
            <a:off x="7086600" y="2423160"/>
            <a:ext cx="4572000" cy="3566160"/>
          </a:xfrm>
          <a:prstGeom prst="rect">
            <a:avLst/>
          </a:prstGeom>
          <a:noFill/>
        </p:spPr>
        <p:txBody>
          <a:bodyPr wrap="square" lIns="45720" rIns="45720" anchor="t">
            <a:spAutoFit/>
          </a:bodyPr>
          <a:lstStyle/>
          <a:p>
            <a:pPr marL="0" indent="0" algn="l">
              <a:spcBef>
                <a:spcPts val="0"/>
              </a:spcBef>
              <a:spcAft>
                <a:spcPts val="600"/>
              </a:spcAft>
              <a:buNone/>
            </a:pPr>
            <a:r>
              <a:rPr sz="1700" b="1" i="0">
                <a:solidFill>
                  <a:srgbClr val="C77A12"/>
                </a:solidFill>
                <a:latin typeface="Times New Roman"/>
                <a:ea typeface="Times New Roman"/>
                <a:cs typeface="Times New Roman"/>
                <a:sym typeface="Times New Roman"/>
              </a:rPr>
              <a:t>Variance (Test Conditions)</a:t>
            </a:r>
          </a:p>
          <a:p>
            <a:pPr marL="228600" indent="-201168" algn="l">
              <a:spcBef>
                <a:spcPts val="0"/>
              </a:spcBef>
              <a:spcAft>
                <a:spcPts val="900"/>
              </a:spcAft>
              <a:buClr>
                <a:srgbClr val="C77A12"/>
              </a:buClr>
              <a:buFont typeface="Arial"/>
              <a:buChar char="•"/>
            </a:pPr>
            <a:r>
              <a:rPr sz="1600" b="1" i="0">
                <a:solidFill>
                  <a:srgbClr val="222222"/>
                </a:solidFill>
                <a:latin typeface="Times New Roman"/>
                <a:ea typeface="Times New Roman"/>
                <a:cs typeface="Times New Roman"/>
                <a:sym typeface="Times New Roman"/>
              </a:rPr>
              <a:t>Prakriti types: </a:t>
            </a:r>
            <a:r>
              <a:rPr sz="1600" b="0" i="0">
                <a:solidFill>
                  <a:srgbClr val="222222"/>
                </a:solidFill>
                <a:latin typeface="Times New Roman"/>
                <a:ea typeface="Times New Roman"/>
                <a:cs typeface="Times New Roman"/>
                <a:sym typeface="Times New Roman"/>
              </a:rPr>
              <a:t>Vata, Pitta, Kapha and mixed profiles</a:t>
            </a:r>
          </a:p>
          <a:p>
            <a:pPr marL="228600" indent="-201168" algn="l">
              <a:spcBef>
                <a:spcPts val="0"/>
              </a:spcBef>
              <a:spcAft>
                <a:spcPts val="900"/>
              </a:spcAft>
              <a:buClr>
                <a:srgbClr val="C77A12"/>
              </a:buClr>
              <a:buFont typeface="Arial"/>
              <a:buChar char="•"/>
            </a:pPr>
            <a:r>
              <a:rPr sz="1600" b="1" i="0">
                <a:solidFill>
                  <a:srgbClr val="222222"/>
                </a:solidFill>
                <a:latin typeface="Times New Roman"/>
                <a:ea typeface="Times New Roman"/>
                <a:cs typeface="Times New Roman"/>
                <a:sym typeface="Times New Roman"/>
              </a:rPr>
              <a:t>Patient variables: </a:t>
            </a:r>
            <a:r>
              <a:rPr sz="1600" b="0" i="0">
                <a:solidFill>
                  <a:srgbClr val="222222"/>
                </a:solidFill>
                <a:latin typeface="Times New Roman"/>
                <a:ea typeface="Times New Roman"/>
                <a:cs typeface="Times New Roman"/>
                <a:sym typeface="Times New Roman"/>
              </a:rPr>
              <a:t>age, BMI, activity level, health goals</a:t>
            </a:r>
          </a:p>
          <a:p>
            <a:pPr marL="228600" indent="-201168" algn="l">
              <a:spcBef>
                <a:spcPts val="0"/>
              </a:spcBef>
              <a:spcAft>
                <a:spcPts val="900"/>
              </a:spcAft>
              <a:buClr>
                <a:srgbClr val="C77A12"/>
              </a:buClr>
              <a:buFont typeface="Arial"/>
              <a:buChar char="•"/>
            </a:pPr>
            <a:r>
              <a:rPr sz="1600" b="1" i="0">
                <a:solidFill>
                  <a:srgbClr val="222222"/>
                </a:solidFill>
                <a:latin typeface="Times New Roman"/>
                <a:ea typeface="Times New Roman"/>
                <a:cs typeface="Times New Roman"/>
                <a:sym typeface="Times New Roman"/>
              </a:rPr>
              <a:t>Recipe size: </a:t>
            </a:r>
            <a:r>
              <a:rPr sz="1600" b="0" i="0">
                <a:solidFill>
                  <a:srgbClr val="222222"/>
                </a:solidFill>
                <a:latin typeface="Times New Roman"/>
                <a:ea typeface="Times New Roman"/>
                <a:cs typeface="Times New Roman"/>
                <a:sym typeface="Times New Roman"/>
              </a:rPr>
              <a:t>single foods vs multi-ingredient recipes</a:t>
            </a:r>
          </a:p>
          <a:p>
            <a:pPr marL="228600" indent="-201168" algn="l">
              <a:spcBef>
                <a:spcPts val="0"/>
              </a:spcBef>
              <a:spcAft>
                <a:spcPts val="900"/>
              </a:spcAft>
              <a:buClr>
                <a:srgbClr val="C77A12"/>
              </a:buClr>
              <a:buFont typeface="Arial"/>
              <a:buChar char="•"/>
            </a:pPr>
            <a:r>
              <a:rPr sz="1600" b="1" i="0">
                <a:solidFill>
                  <a:srgbClr val="222222"/>
                </a:solidFill>
                <a:latin typeface="Times New Roman"/>
                <a:ea typeface="Times New Roman"/>
                <a:cs typeface="Times New Roman"/>
                <a:sym typeface="Times New Roman"/>
              </a:rPr>
              <a:t>Load: </a:t>
            </a:r>
            <a:r>
              <a:rPr sz="1600" b="0" i="0">
                <a:solidFill>
                  <a:srgbClr val="222222"/>
                </a:solidFill>
                <a:latin typeface="Times New Roman"/>
                <a:ea typeface="Times New Roman"/>
                <a:cs typeface="Times New Roman"/>
                <a:sym typeface="Times New Roman"/>
              </a:rPr>
              <a:t>few vs many concurrent users on the cloud</a:t>
            </a:r>
          </a:p>
          <a:p>
            <a:pPr marL="228600" indent="-201168" algn="l">
              <a:spcBef>
                <a:spcPts val="0"/>
              </a:spcBef>
              <a:spcAft>
                <a:spcPts val="900"/>
              </a:spcAft>
              <a:buClr>
                <a:srgbClr val="C77A12"/>
              </a:buClr>
              <a:buFont typeface="Arial"/>
              <a:buChar char="•"/>
            </a:pPr>
            <a:r>
              <a:rPr sz="1600" b="1" i="0">
                <a:solidFill>
                  <a:srgbClr val="222222"/>
                </a:solidFill>
                <a:latin typeface="Times New Roman"/>
                <a:ea typeface="Times New Roman"/>
                <a:cs typeface="Times New Roman"/>
                <a:sym typeface="Times New Roman"/>
              </a:rPr>
              <a:t>Tests: </a:t>
            </a:r>
            <a:r>
              <a:rPr sz="1600" b="0" i="0">
                <a:solidFill>
                  <a:srgbClr val="222222"/>
                </a:solidFill>
                <a:latin typeface="Times New Roman"/>
                <a:ea typeface="Times New Roman"/>
                <a:cs typeface="Times New Roman"/>
                <a:sym typeface="Times New Roman"/>
              </a:rPr>
              <a:t>functionality, accuracy, usability, security, performance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8"/>
          <p:cNvSpPr txBox="1">
            <a:spLocks noGrp="1"/>
          </p:cNvSpPr>
          <p:nvPr>
            <p:ph type="title"/>
          </p:nvPr>
        </p:nvSpPr>
        <p:spPr>
          <a:xfrm>
            <a:off x="1828800" y="274320"/>
            <a:ext cx="9966960" cy="777240"/>
          </a:xfrm>
          <a:prstGeom prst="rect">
            <a:avLst/>
          </a:prstGeom>
          <a:noFill/>
          <a:ln>
            <a:noFill/>
          </a:ln>
        </p:spPr>
        <p:txBody>
          <a:bodyPr spcFirstLastPara="1" wrap="square" lIns="45720" tIns="45700" rIns="91425" bIns="45700" anchor="ctr" anchorCtr="0">
            <a:noAutofit/>
          </a:bodyPr>
          <a:lstStyle/>
          <a:p>
            <a:pPr marL="0" indent="0" algn="l">
              <a:spcBef>
                <a:spcPts val="0"/>
              </a:spcBef>
              <a:spcAft>
                <a:spcPts val="400"/>
              </a:spcAft>
              <a:buNone/>
            </a:pPr>
            <a:r>
              <a:rPr sz="3600" b="1" i="0">
                <a:solidFill>
                  <a:srgbClr val="562214"/>
                </a:solidFill>
                <a:latin typeface="Times New Roman"/>
                <a:ea typeface="Times New Roman"/>
                <a:cs typeface="Times New Roman"/>
                <a:sym typeface="Times New Roman"/>
              </a:rPr>
              <a:t>Results &amp; Discussion</a:t>
            </a:r>
          </a:p>
        </p:txBody>
      </p:sp>
      <p:sp>
        <p:nvSpPr>
          <p:cNvPr id="158" name="Google Shape;158;p8"/>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12</a:t>
            </a:fld>
            <a:endParaRPr/>
          </a:p>
        </p:txBody>
      </p:sp>
      <p:sp>
        <p:nvSpPr>
          <p:cNvPr id="121" name="Google Shape;121;p3"/>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p>
            <a:pPr lvl="0"/>
            <a:r>
              <a:rPr lang="en-US" dirty="0">
                <a:latin typeface="Times New Roman"/>
                <a:ea typeface="Times New Roman"/>
                <a:cs typeface="Times New Roman"/>
                <a:sym typeface="Times New Roman"/>
              </a:rPr>
              <a:t>31-10-2026</a:t>
            </a:r>
          </a:p>
        </p:txBody>
      </p:sp>
      <p:sp>
        <p:nvSpPr>
          <p:cNvPr id="123" name="Google Shape;123;p3"/>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latin typeface="Times New Roman"/>
                <a:ea typeface="Times New Roman"/>
                <a:cs typeface="Times New Roman"/>
                <a:sym typeface="Times New Roman"/>
              </a:rPr>
              <a:t>NSP Project, July-Dec 2026</a:t>
            </a:r>
            <a:endParaRPr>
              <a:latin typeface="Times New Roman"/>
              <a:ea typeface="Times New Roman"/>
              <a:cs typeface="Times New Roman"/>
              <a:sym typeface="Times New Roman"/>
            </a:endParaRPr>
          </a:p>
        </p:txBody>
      </p:sp>
      <p:sp>
        <p:nvSpPr>
          <p:cNvPr id="159" name="TextBox 158"/>
          <p:cNvSpPr txBox="1"/>
          <p:nvPr/>
        </p:nvSpPr>
        <p:spPr>
          <a:xfrm>
            <a:off x="1828800" y="1097280"/>
            <a:ext cx="9966960" cy="365760"/>
          </a:xfrm>
          <a:prstGeom prst="rect">
            <a:avLst/>
          </a:prstGeom>
          <a:noFill/>
        </p:spPr>
        <p:txBody>
          <a:bodyPr wrap="square" lIns="45720" rIns="45720" anchor="t">
            <a:spAutoFit/>
          </a:bodyPr>
          <a:lstStyle/>
          <a:p>
            <a:pPr marL="0" indent="0" algn="l">
              <a:spcBef>
                <a:spcPts val="0"/>
              </a:spcBef>
              <a:spcAft>
                <a:spcPts val="400"/>
              </a:spcAft>
              <a:buNone/>
            </a:pPr>
            <a:r>
              <a:rPr sz="1300" b="0" i="1">
                <a:solidFill>
                  <a:srgbClr val="555555"/>
                </a:solidFill>
                <a:latin typeface="Times New Roman"/>
                <a:ea typeface="Times New Roman"/>
                <a:cs typeface="Times New Roman"/>
                <a:sym typeface="Times New Roman"/>
              </a:rPr>
              <a:t>Expected results (project is at the design stage; values will be measured after implementation)</a:t>
            </a:r>
          </a:p>
        </p:txBody>
      </p:sp>
      <p:sp>
        <p:nvSpPr>
          <p:cNvPr id="160" name="TextBox 159"/>
          <p:cNvSpPr txBox="1"/>
          <p:nvPr/>
        </p:nvSpPr>
        <p:spPr>
          <a:xfrm>
            <a:off x="1828800" y="1508760"/>
            <a:ext cx="5852160" cy="365760"/>
          </a:xfrm>
          <a:prstGeom prst="rect">
            <a:avLst/>
          </a:prstGeom>
          <a:noFill/>
        </p:spPr>
        <p:txBody>
          <a:bodyPr wrap="square" lIns="45720" rIns="45720" anchor="t">
            <a:spAutoFit/>
          </a:bodyPr>
          <a:lstStyle/>
          <a:p>
            <a:pPr marL="0" indent="0" algn="l">
              <a:spcBef>
                <a:spcPts val="0"/>
              </a:spcBef>
              <a:spcAft>
                <a:spcPts val="400"/>
              </a:spcAft>
              <a:buNone/>
            </a:pPr>
            <a:r>
              <a:rPr sz="1700" b="1" i="0">
                <a:solidFill>
                  <a:srgbClr val="562214"/>
                </a:solidFill>
                <a:latin typeface="Times New Roman"/>
                <a:ea typeface="Times New Roman"/>
                <a:cs typeface="Times New Roman"/>
                <a:sym typeface="Times New Roman"/>
              </a:rPr>
              <a:t>Results</a:t>
            </a:r>
          </a:p>
        </p:txBody>
      </p:sp>
      <p:sp>
        <p:nvSpPr>
          <p:cNvPr id="161" name="Rounded Rectangle 160"/>
          <p:cNvSpPr/>
          <p:nvPr/>
        </p:nvSpPr>
        <p:spPr>
          <a:xfrm>
            <a:off x="1828800" y="1920240"/>
            <a:ext cx="5852160" cy="914400"/>
          </a:xfrm>
          <a:prstGeom prst="roundRect">
            <a:avLst>
              <a:gd name="adj" fmla="val 8000"/>
            </a:avLst>
          </a:prstGeom>
          <a:solidFill>
            <a:srgbClr val="EAF1E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marL="0" indent="0" algn="l">
              <a:spcBef>
                <a:spcPts val="0"/>
              </a:spcBef>
              <a:spcAft>
                <a:spcPts val="200"/>
              </a:spcAft>
              <a:buNone/>
            </a:pPr>
            <a:r>
              <a:rPr sz="1500" b="1" i="0">
                <a:solidFill>
                  <a:srgbClr val="3E6B2F"/>
                </a:solidFill>
                <a:latin typeface="Times New Roman"/>
                <a:ea typeface="Times New Roman"/>
                <a:cs typeface="Times New Roman"/>
                <a:sym typeface="Times New Roman"/>
              </a:rPr>
              <a:t>Faster diet planning</a:t>
            </a:r>
          </a:p>
          <a:p>
            <a:pPr marL="0" indent="0" algn="l">
              <a:spcBef>
                <a:spcPts val="0"/>
              </a:spcBef>
              <a:spcAft>
                <a:spcPts val="400"/>
              </a:spcAft>
              <a:buNone/>
            </a:pPr>
            <a:r>
              <a:rPr sz="1300" b="0" i="0">
                <a:solidFill>
                  <a:srgbClr val="222222"/>
                </a:solidFill>
                <a:latin typeface="Times New Roman"/>
                <a:ea typeface="Times New Roman"/>
                <a:cs typeface="Times New Roman"/>
                <a:sym typeface="Times New Roman"/>
              </a:rPr>
              <a:t>Personalised plans created and edited in minutes instead of manual charts</a:t>
            </a:r>
          </a:p>
        </p:txBody>
      </p:sp>
      <p:sp>
        <p:nvSpPr>
          <p:cNvPr id="162" name="Rounded Rectangle 161"/>
          <p:cNvSpPr/>
          <p:nvPr/>
        </p:nvSpPr>
        <p:spPr>
          <a:xfrm>
            <a:off x="1828800" y="2944368"/>
            <a:ext cx="5852160" cy="914400"/>
          </a:xfrm>
          <a:prstGeom prst="roundRect">
            <a:avLst>
              <a:gd name="adj" fmla="val 8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marL="0" indent="0" algn="l">
              <a:spcBef>
                <a:spcPts val="0"/>
              </a:spcBef>
              <a:spcAft>
                <a:spcPts val="200"/>
              </a:spcAft>
              <a:buNone/>
            </a:pPr>
            <a:r>
              <a:rPr sz="1500" b="1" i="0">
                <a:solidFill>
                  <a:srgbClr val="C77A12"/>
                </a:solidFill>
                <a:latin typeface="Times New Roman"/>
                <a:ea typeface="Times New Roman"/>
                <a:cs typeface="Times New Roman"/>
                <a:sym typeface="Times New Roman"/>
              </a:rPr>
              <a:t>Accurate nutrient analysis</a:t>
            </a:r>
          </a:p>
          <a:p>
            <a:pPr marL="0" indent="0" algn="l">
              <a:spcBef>
                <a:spcPts val="0"/>
              </a:spcBef>
              <a:spcAft>
                <a:spcPts val="400"/>
              </a:spcAft>
              <a:buNone/>
            </a:pPr>
            <a:r>
              <a:rPr sz="1300" b="0" i="0">
                <a:solidFill>
                  <a:srgbClr val="222222"/>
                </a:solidFill>
                <a:latin typeface="Times New Roman"/>
                <a:ea typeface="Times New Roman"/>
                <a:cs typeface="Times New Roman"/>
                <a:sym typeface="Times New Roman"/>
              </a:rPr>
              <a:t>Calories, protein, carbs, fats, vitamins and minerals per food and recipe</a:t>
            </a:r>
          </a:p>
        </p:txBody>
      </p:sp>
      <p:sp>
        <p:nvSpPr>
          <p:cNvPr id="163" name="Rounded Rectangle 162"/>
          <p:cNvSpPr/>
          <p:nvPr/>
        </p:nvSpPr>
        <p:spPr>
          <a:xfrm>
            <a:off x="1828800" y="3968496"/>
            <a:ext cx="5852160" cy="914400"/>
          </a:xfrm>
          <a:prstGeom prst="roundRect">
            <a:avLst>
              <a:gd name="adj" fmla="val 8000"/>
            </a:avLst>
          </a:prstGeom>
          <a:solidFill>
            <a:srgbClr val="EAF1E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marL="0" indent="0" algn="l">
              <a:spcBef>
                <a:spcPts val="0"/>
              </a:spcBef>
              <a:spcAft>
                <a:spcPts val="200"/>
              </a:spcAft>
              <a:buNone/>
            </a:pPr>
            <a:r>
              <a:rPr sz="1500" b="1" i="0">
                <a:solidFill>
                  <a:srgbClr val="3E6B2F"/>
                </a:solidFill>
                <a:latin typeface="Times New Roman"/>
                <a:ea typeface="Times New Roman"/>
                <a:cs typeface="Times New Roman"/>
                <a:sym typeface="Times New Roman"/>
              </a:rPr>
              <a:t>Digital practice management</a:t>
            </a:r>
          </a:p>
          <a:p>
            <a:pPr marL="0" indent="0" algn="l">
              <a:spcBef>
                <a:spcPts val="0"/>
              </a:spcBef>
              <a:spcAft>
                <a:spcPts val="400"/>
              </a:spcAft>
              <a:buNone/>
            </a:pPr>
            <a:r>
              <a:rPr sz="1300" b="0" i="0">
                <a:solidFill>
                  <a:srgbClr val="222222"/>
                </a:solidFill>
                <a:latin typeface="Times New Roman"/>
                <a:ea typeface="Times New Roman"/>
                <a:cs typeface="Times New Roman"/>
                <a:sym typeface="Times New Roman"/>
              </a:rPr>
              <a:t>Centralised, secure patient records and consultation history</a:t>
            </a:r>
          </a:p>
        </p:txBody>
      </p:sp>
      <p:sp>
        <p:nvSpPr>
          <p:cNvPr id="164" name="Rounded Rectangle 163"/>
          <p:cNvSpPr/>
          <p:nvPr/>
        </p:nvSpPr>
        <p:spPr>
          <a:xfrm>
            <a:off x="1828800" y="4992624"/>
            <a:ext cx="5852160" cy="914400"/>
          </a:xfrm>
          <a:prstGeom prst="roundRect">
            <a:avLst>
              <a:gd name="adj" fmla="val 8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marL="0" indent="0" algn="l">
              <a:spcBef>
                <a:spcPts val="0"/>
              </a:spcBef>
              <a:spcAft>
                <a:spcPts val="200"/>
              </a:spcAft>
              <a:buNone/>
            </a:pPr>
            <a:r>
              <a:rPr sz="1500" b="1" i="0">
                <a:solidFill>
                  <a:srgbClr val="C77A12"/>
                </a:solidFill>
                <a:latin typeface="Times New Roman"/>
                <a:ea typeface="Times New Roman"/>
                <a:cs typeface="Times New Roman"/>
                <a:sym typeface="Times New Roman"/>
              </a:rPr>
              <a:t>Better monitoring</a:t>
            </a:r>
          </a:p>
          <a:p>
            <a:pPr marL="0" indent="0" algn="l">
              <a:spcBef>
                <a:spcPts val="0"/>
              </a:spcBef>
              <a:spcAft>
                <a:spcPts val="400"/>
              </a:spcAft>
              <a:buNone/>
            </a:pPr>
            <a:r>
              <a:rPr sz="1300" b="0" i="0">
                <a:solidFill>
                  <a:srgbClr val="222222"/>
                </a:solidFill>
                <a:latin typeface="Times New Roman"/>
                <a:ea typeface="Times New Roman"/>
                <a:cs typeface="Times New Roman"/>
                <a:sym typeface="Times New Roman"/>
              </a:rPr>
              <a:t>Progress tracked over time for each patient</a:t>
            </a:r>
          </a:p>
        </p:txBody>
      </p:sp>
      <p:sp>
        <p:nvSpPr>
          <p:cNvPr id="165" name="TextBox 164"/>
          <p:cNvSpPr txBox="1"/>
          <p:nvPr/>
        </p:nvSpPr>
        <p:spPr>
          <a:xfrm>
            <a:off x="7955279" y="1508760"/>
            <a:ext cx="3840480" cy="365760"/>
          </a:xfrm>
          <a:prstGeom prst="rect">
            <a:avLst/>
          </a:prstGeom>
          <a:noFill/>
        </p:spPr>
        <p:txBody>
          <a:bodyPr wrap="square" lIns="45720" rIns="45720" anchor="t">
            <a:spAutoFit/>
          </a:bodyPr>
          <a:lstStyle/>
          <a:p>
            <a:pPr marL="0" indent="0" algn="l">
              <a:spcBef>
                <a:spcPts val="0"/>
              </a:spcBef>
              <a:spcAft>
                <a:spcPts val="400"/>
              </a:spcAft>
              <a:buNone/>
            </a:pPr>
            <a:r>
              <a:rPr sz="1700" b="1" i="0">
                <a:solidFill>
                  <a:srgbClr val="562214"/>
                </a:solidFill>
                <a:latin typeface="Times New Roman"/>
                <a:ea typeface="Times New Roman"/>
                <a:cs typeface="Times New Roman"/>
                <a:sym typeface="Times New Roman"/>
              </a:rPr>
              <a:t>Discussion</a:t>
            </a:r>
          </a:p>
        </p:txBody>
      </p:sp>
      <p:sp>
        <p:nvSpPr>
          <p:cNvPr id="166" name="Rounded Rectangle 165"/>
          <p:cNvSpPr/>
          <p:nvPr/>
        </p:nvSpPr>
        <p:spPr>
          <a:xfrm>
            <a:off x="7955279" y="1920240"/>
            <a:ext cx="3840480" cy="4041648"/>
          </a:xfrm>
          <a:prstGeom prst="roundRect">
            <a:avLst>
              <a:gd name="adj" fmla="val 8000"/>
            </a:avLst>
          </a:prstGeom>
          <a:solidFill>
            <a:srgbClr val="F4E6E2"/>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endParaRPr/>
          </a:p>
        </p:txBody>
      </p:sp>
      <p:sp>
        <p:nvSpPr>
          <p:cNvPr id="167" name="TextBox 166"/>
          <p:cNvSpPr txBox="1"/>
          <p:nvPr/>
        </p:nvSpPr>
        <p:spPr>
          <a:xfrm>
            <a:off x="8092440" y="2011680"/>
            <a:ext cx="3566160" cy="3886200"/>
          </a:xfrm>
          <a:prstGeom prst="rect">
            <a:avLst/>
          </a:prstGeom>
          <a:noFill/>
        </p:spPr>
        <p:txBody>
          <a:bodyPr wrap="square" lIns="45720" rIns="45720" anchor="t">
            <a:spAutoFit/>
          </a:bodyPr>
          <a:lstStyle/>
          <a:p>
            <a:pPr marL="228600" indent="-201168" algn="l">
              <a:spcBef>
                <a:spcPts val="0"/>
              </a:spcBef>
              <a:spcAft>
                <a:spcPts val="700"/>
              </a:spcAft>
              <a:buClr>
                <a:srgbClr val="3E6B2F"/>
              </a:buClr>
              <a:buFont typeface="Arial"/>
              <a:buChar char="•"/>
            </a:pPr>
            <a:r>
              <a:rPr sz="1400" b="0" i="0">
                <a:solidFill>
                  <a:srgbClr val="222222"/>
                </a:solidFill>
                <a:latin typeface="Times New Roman"/>
                <a:ea typeface="Times New Roman"/>
                <a:cs typeface="Times New Roman"/>
                <a:sym typeface="Times New Roman"/>
              </a:rPr>
              <a:t>Combines Ayurvedic principles with modern nutrient science in one tool, which existing systems treat separately.</a:t>
            </a:r>
          </a:p>
          <a:p>
            <a:pPr marL="228600" indent="-201168" algn="l">
              <a:spcBef>
                <a:spcPts val="0"/>
              </a:spcBef>
              <a:spcAft>
                <a:spcPts val="700"/>
              </a:spcAft>
              <a:buClr>
                <a:srgbClr val="3E6B2F"/>
              </a:buClr>
              <a:buFont typeface="Arial"/>
              <a:buChar char="•"/>
            </a:pPr>
            <a:r>
              <a:rPr sz="1400" b="0" i="0">
                <a:solidFill>
                  <a:srgbClr val="222222"/>
                </a:solidFill>
                <a:latin typeface="Times New Roman"/>
                <a:ea typeface="Times New Roman"/>
                <a:cs typeface="Times New Roman"/>
                <a:sym typeface="Times New Roman"/>
              </a:rPr>
              <a:t>Cloud hosting gives anytime access and scales with the practice.</a:t>
            </a:r>
          </a:p>
          <a:p>
            <a:pPr marL="228600" indent="-201168" algn="l">
              <a:spcBef>
                <a:spcPts val="0"/>
              </a:spcBef>
              <a:spcAft>
                <a:spcPts val="700"/>
              </a:spcAft>
              <a:buClr>
                <a:srgbClr val="3E6B2F"/>
              </a:buClr>
              <a:buFont typeface="Arial"/>
              <a:buChar char="•"/>
            </a:pPr>
            <a:r>
              <a:rPr sz="1400" b="0" i="0">
                <a:solidFill>
                  <a:srgbClr val="222222"/>
                </a:solidFill>
                <a:latin typeface="Times New Roman"/>
                <a:ea typeface="Times New Roman"/>
                <a:cs typeface="Times New Roman"/>
                <a:sym typeface="Times New Roman"/>
              </a:rPr>
              <a:t>Accuracy depends on food data quality; regional foods may need manual verification.</a:t>
            </a:r>
          </a:p>
          <a:p>
            <a:pPr marL="228600" indent="-201168" algn="l">
              <a:spcBef>
                <a:spcPts val="0"/>
              </a:spcBef>
              <a:spcAft>
                <a:spcPts val="900"/>
              </a:spcAft>
              <a:buClr>
                <a:srgbClr val="3E6B2F"/>
              </a:buClr>
              <a:buFont typeface="Arial"/>
              <a:buChar char="•"/>
            </a:pPr>
            <a:r>
              <a:rPr sz="1400" b="0" i="0">
                <a:solidFill>
                  <a:srgbClr val="222222"/>
                </a:solidFill>
                <a:latin typeface="Times New Roman"/>
                <a:ea typeface="Times New Roman"/>
                <a:cs typeface="Times New Roman"/>
                <a:sym typeface="Times New Roman"/>
              </a:rPr>
              <a:t>Will be evaluated against IFCT reference values and dietitian feedback.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9"/>
          <p:cNvSpPr txBox="1">
            <a:spLocks noGrp="1"/>
          </p:cNvSpPr>
          <p:nvPr>
            <p:ph type="title"/>
          </p:nvPr>
        </p:nvSpPr>
        <p:spPr>
          <a:xfrm>
            <a:off x="1828800" y="274320"/>
            <a:ext cx="9966960" cy="777240"/>
          </a:xfrm>
          <a:prstGeom prst="rect">
            <a:avLst/>
          </a:prstGeom>
          <a:noFill/>
          <a:ln>
            <a:noFill/>
          </a:ln>
        </p:spPr>
        <p:txBody>
          <a:bodyPr spcFirstLastPara="1" wrap="square" lIns="45720" tIns="45700" rIns="91425" bIns="45700" anchor="ctr" anchorCtr="0">
            <a:noAutofit/>
          </a:bodyPr>
          <a:lstStyle/>
          <a:p>
            <a:pPr marL="0" indent="0" algn="l">
              <a:spcBef>
                <a:spcPts val="0"/>
              </a:spcBef>
              <a:spcAft>
                <a:spcPts val="400"/>
              </a:spcAft>
              <a:buNone/>
            </a:pPr>
            <a:r>
              <a:rPr sz="3600" b="1" i="0">
                <a:solidFill>
                  <a:srgbClr val="562214"/>
                </a:solidFill>
                <a:latin typeface="Times New Roman"/>
                <a:ea typeface="Times New Roman"/>
                <a:cs typeface="Times New Roman"/>
                <a:sym typeface="Times New Roman"/>
              </a:rPr>
              <a:t>Conclusion</a:t>
            </a:r>
          </a:p>
        </p:txBody>
      </p:sp>
      <p:sp>
        <p:nvSpPr>
          <p:cNvPr id="165" name="Google Shape;165;p9"/>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13</a:t>
            </a:fld>
            <a:endParaRPr/>
          </a:p>
        </p:txBody>
      </p:sp>
      <p:sp>
        <p:nvSpPr>
          <p:cNvPr id="121" name="Google Shape;121;p3"/>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p>
            <a:pPr lvl="0"/>
            <a:r>
              <a:rPr lang="en-US" dirty="0">
                <a:latin typeface="Times New Roman"/>
                <a:ea typeface="Times New Roman"/>
                <a:cs typeface="Times New Roman"/>
                <a:sym typeface="Times New Roman"/>
              </a:rPr>
              <a:t>31-10-2026</a:t>
            </a:r>
          </a:p>
        </p:txBody>
      </p:sp>
      <p:sp>
        <p:nvSpPr>
          <p:cNvPr id="123" name="Google Shape;123;p3"/>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latin typeface="Times New Roman"/>
                <a:ea typeface="Times New Roman"/>
                <a:cs typeface="Times New Roman"/>
                <a:sym typeface="Times New Roman"/>
              </a:rPr>
              <a:t>NSP Project, July-Dec 2026</a:t>
            </a:r>
            <a:endParaRPr>
              <a:latin typeface="Times New Roman"/>
              <a:ea typeface="Times New Roman"/>
              <a:cs typeface="Times New Roman"/>
              <a:sym typeface="Times New Roman"/>
            </a:endParaRPr>
          </a:p>
        </p:txBody>
      </p:sp>
      <p:sp>
        <p:nvSpPr>
          <p:cNvPr id="166" name="TextBox 165"/>
          <p:cNvSpPr txBox="1"/>
          <p:nvPr/>
        </p:nvSpPr>
        <p:spPr>
          <a:xfrm>
            <a:off x="1828800" y="1234440"/>
            <a:ext cx="6035040" cy="4754880"/>
          </a:xfrm>
          <a:prstGeom prst="rect">
            <a:avLst/>
          </a:prstGeom>
          <a:noFill/>
        </p:spPr>
        <p:txBody>
          <a:bodyPr wrap="square" lIns="45720" rIns="45720" anchor="t">
            <a:spAutoFit/>
          </a:bodyPr>
          <a:lstStyle/>
          <a:p>
            <a:pPr marL="0" indent="0" algn="just">
              <a:spcBef>
                <a:spcPts val="0"/>
              </a:spcBef>
              <a:spcAft>
                <a:spcPts val="1200"/>
              </a:spcAft>
              <a:buNone/>
            </a:pPr>
            <a:r>
              <a:rPr sz="1700" b="0" i="0">
                <a:solidFill>
                  <a:srgbClr val="222222"/>
                </a:solidFill>
                <a:latin typeface="Times New Roman"/>
                <a:ea typeface="Times New Roman"/>
                <a:cs typeface="Times New Roman"/>
                <a:sym typeface="Times New Roman"/>
              </a:rPr>
              <a:t>The proposed Comprehensive Cloud-Based Practice Management &amp; Nutrient Analysis Software gives Ayurvedic dietitians an integrated digital solution to manage their practice, analyse nutrition, create personalised Ayurveda-focused diet plans and monitor patient progress.</a:t>
            </a:r>
          </a:p>
          <a:p>
            <a:pPr marL="0" indent="0" algn="just">
              <a:spcBef>
                <a:spcPts val="0"/>
              </a:spcBef>
              <a:spcAft>
                <a:spcPts val="400"/>
              </a:spcAft>
              <a:buNone/>
            </a:pPr>
            <a:r>
              <a:rPr sz="1700" b="0" i="0">
                <a:solidFill>
                  <a:srgbClr val="222222"/>
                </a:solidFill>
                <a:latin typeface="Times New Roman"/>
                <a:ea typeface="Times New Roman"/>
                <a:cs typeface="Times New Roman"/>
                <a:sym typeface="Times New Roman"/>
              </a:rPr>
              <a:t>By combining cloud computing, nutritional analysis and personalised diet planning, the system improves the efficiency, accessibility and effectiveness of Ayurvedic diet management while reducing manual effort.</a:t>
            </a:r>
          </a:p>
        </p:txBody>
      </p:sp>
      <p:sp>
        <p:nvSpPr>
          <p:cNvPr id="167" name="Rounded Rectangle 166"/>
          <p:cNvSpPr/>
          <p:nvPr/>
        </p:nvSpPr>
        <p:spPr>
          <a:xfrm>
            <a:off x="8229600" y="1325880"/>
            <a:ext cx="3566160" cy="1325880"/>
          </a:xfrm>
          <a:prstGeom prst="roundRect">
            <a:avLst>
              <a:gd name="adj" fmla="val 8000"/>
            </a:avLst>
          </a:prstGeom>
          <a:solidFill>
            <a:srgbClr val="EAF1E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marL="0" indent="0" algn="ctr">
              <a:spcBef>
                <a:spcPts val="0"/>
              </a:spcBef>
              <a:spcAft>
                <a:spcPts val="400"/>
              </a:spcAft>
              <a:buNone/>
            </a:pPr>
            <a:r>
              <a:rPr sz="2000" b="1" i="0">
                <a:solidFill>
                  <a:srgbClr val="3E6B2F"/>
                </a:solidFill>
                <a:latin typeface="Times New Roman"/>
                <a:ea typeface="Times New Roman"/>
                <a:cs typeface="Times New Roman"/>
                <a:sym typeface="Times New Roman"/>
              </a:rPr>
              <a:t>Efficiency</a:t>
            </a:r>
          </a:p>
          <a:p>
            <a:pPr marL="0" indent="0" algn="ctr">
              <a:spcBef>
                <a:spcPts val="0"/>
              </a:spcBef>
              <a:spcAft>
                <a:spcPts val="400"/>
              </a:spcAft>
              <a:buNone/>
            </a:pPr>
            <a:r>
              <a:rPr sz="1400" b="0" i="0">
                <a:solidFill>
                  <a:srgbClr val="222222"/>
                </a:solidFill>
                <a:latin typeface="Times New Roman"/>
                <a:ea typeface="Times New Roman"/>
                <a:cs typeface="Times New Roman"/>
                <a:sym typeface="Times New Roman"/>
              </a:rPr>
              <a:t>Less manual record-keeping and calculation</a:t>
            </a:r>
          </a:p>
        </p:txBody>
      </p:sp>
      <p:sp>
        <p:nvSpPr>
          <p:cNvPr id="168" name="Rounded Rectangle 167"/>
          <p:cNvSpPr/>
          <p:nvPr/>
        </p:nvSpPr>
        <p:spPr>
          <a:xfrm>
            <a:off x="8229600" y="2880360"/>
            <a:ext cx="3566160" cy="1325880"/>
          </a:xfrm>
          <a:prstGeom prst="roundRect">
            <a:avLst>
              <a:gd name="adj" fmla="val 8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marL="0" indent="0" algn="ctr">
              <a:spcBef>
                <a:spcPts val="0"/>
              </a:spcBef>
              <a:spcAft>
                <a:spcPts val="400"/>
              </a:spcAft>
              <a:buNone/>
            </a:pPr>
            <a:r>
              <a:rPr sz="2000" b="1" i="0">
                <a:solidFill>
                  <a:srgbClr val="C77A12"/>
                </a:solidFill>
                <a:latin typeface="Times New Roman"/>
                <a:ea typeface="Times New Roman"/>
                <a:cs typeface="Times New Roman"/>
                <a:sym typeface="Times New Roman"/>
              </a:rPr>
              <a:t>Accuracy</a:t>
            </a:r>
          </a:p>
          <a:p>
            <a:pPr marL="0" indent="0" algn="ctr">
              <a:spcBef>
                <a:spcPts val="0"/>
              </a:spcBef>
              <a:spcAft>
                <a:spcPts val="400"/>
              </a:spcAft>
              <a:buNone/>
            </a:pPr>
            <a:r>
              <a:rPr sz="1400" b="0" i="0">
                <a:solidFill>
                  <a:srgbClr val="222222"/>
                </a:solidFill>
                <a:latin typeface="Times New Roman"/>
                <a:ea typeface="Times New Roman"/>
                <a:cs typeface="Times New Roman"/>
                <a:sym typeface="Times New Roman"/>
              </a:rPr>
              <a:t>Reliable nutrient values for foods &amp; recipes</a:t>
            </a:r>
          </a:p>
        </p:txBody>
      </p:sp>
      <p:sp>
        <p:nvSpPr>
          <p:cNvPr id="169" name="Rounded Rectangle 168"/>
          <p:cNvSpPr/>
          <p:nvPr/>
        </p:nvSpPr>
        <p:spPr>
          <a:xfrm>
            <a:off x="8229600" y="4434840"/>
            <a:ext cx="3566160" cy="1325880"/>
          </a:xfrm>
          <a:prstGeom prst="roundRect">
            <a:avLst>
              <a:gd name="adj" fmla="val 8000"/>
            </a:avLst>
          </a:prstGeom>
          <a:solidFill>
            <a:srgbClr val="F4E6E2"/>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marL="0" indent="0" algn="ctr">
              <a:spcBef>
                <a:spcPts val="0"/>
              </a:spcBef>
              <a:spcAft>
                <a:spcPts val="400"/>
              </a:spcAft>
              <a:buNone/>
            </a:pPr>
            <a:r>
              <a:rPr sz="2000" b="1" i="0">
                <a:solidFill>
                  <a:srgbClr val="562214"/>
                </a:solidFill>
                <a:latin typeface="Times New Roman"/>
                <a:ea typeface="Times New Roman"/>
                <a:cs typeface="Times New Roman"/>
                <a:sym typeface="Times New Roman"/>
              </a:rPr>
              <a:t>Accessibility</a:t>
            </a:r>
          </a:p>
          <a:p>
            <a:pPr marL="0" indent="0" algn="ctr">
              <a:spcBef>
                <a:spcPts val="0"/>
              </a:spcBef>
              <a:spcAft>
                <a:spcPts val="400"/>
              </a:spcAft>
              <a:buNone/>
            </a:pPr>
            <a:r>
              <a:rPr sz="1400" b="0" i="0">
                <a:solidFill>
                  <a:srgbClr val="222222"/>
                </a:solidFill>
                <a:latin typeface="Times New Roman"/>
                <a:ea typeface="Times New Roman"/>
                <a:cs typeface="Times New Roman"/>
                <a:sym typeface="Times New Roman"/>
              </a:rPr>
              <a:t>Secure cloud access from anywhere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0"/>
          <p:cNvSpPr txBox="1">
            <a:spLocks noGrp="1"/>
          </p:cNvSpPr>
          <p:nvPr>
            <p:ph type="title"/>
          </p:nvPr>
        </p:nvSpPr>
        <p:spPr>
          <a:xfrm>
            <a:off x="1828800" y="274320"/>
            <a:ext cx="9966960" cy="777240"/>
          </a:xfrm>
          <a:prstGeom prst="rect">
            <a:avLst/>
          </a:prstGeom>
          <a:noFill/>
          <a:ln>
            <a:noFill/>
          </a:ln>
        </p:spPr>
        <p:txBody>
          <a:bodyPr spcFirstLastPara="1" wrap="square" lIns="45720" tIns="45700" rIns="91425" bIns="45700" anchor="ctr" anchorCtr="0">
            <a:noAutofit/>
          </a:bodyPr>
          <a:lstStyle/>
          <a:p>
            <a:pPr marL="0" indent="0" algn="l">
              <a:spcBef>
                <a:spcPts val="0"/>
              </a:spcBef>
              <a:spcAft>
                <a:spcPts val="400"/>
              </a:spcAft>
              <a:buNone/>
            </a:pPr>
            <a:r>
              <a:rPr sz="3600" b="1" i="0">
                <a:solidFill>
                  <a:srgbClr val="562214"/>
                </a:solidFill>
                <a:latin typeface="Times New Roman"/>
                <a:ea typeface="Times New Roman"/>
                <a:cs typeface="Times New Roman"/>
                <a:sym typeface="Times New Roman"/>
              </a:rPr>
              <a:t>Future Scope</a:t>
            </a:r>
          </a:p>
        </p:txBody>
      </p:sp>
      <p:sp>
        <p:nvSpPr>
          <p:cNvPr id="173" name="Google Shape;173;p10"/>
          <p:cNvSpPr txBox="1">
            <a:spLocks noGrp="1"/>
          </p:cNvSpPr>
          <p:nvPr>
            <p:ph type="sldNum" idx="12"/>
          </p:nvPr>
        </p:nvSpPr>
        <p:spPr>
          <a:xfrm>
            <a:off x="11484864" y="6305550"/>
            <a:ext cx="609600" cy="4764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
        <p:nvSpPr>
          <p:cNvPr id="121" name="Google Shape;121;p3"/>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p>
            <a:pPr lvl="0"/>
            <a:r>
              <a:rPr lang="en-US" dirty="0">
                <a:latin typeface="Times New Roman"/>
                <a:ea typeface="Times New Roman"/>
                <a:cs typeface="Times New Roman"/>
                <a:sym typeface="Times New Roman"/>
              </a:rPr>
              <a:t>31-10-2026</a:t>
            </a:r>
          </a:p>
        </p:txBody>
      </p:sp>
      <p:sp>
        <p:nvSpPr>
          <p:cNvPr id="123" name="Google Shape;123;p3"/>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latin typeface="Times New Roman"/>
                <a:ea typeface="Times New Roman"/>
                <a:cs typeface="Times New Roman"/>
                <a:sym typeface="Times New Roman"/>
              </a:rPr>
              <a:t>NSP Project, July-Dec 2026</a:t>
            </a:r>
            <a:endParaRPr>
              <a:latin typeface="Times New Roman"/>
              <a:ea typeface="Times New Roman"/>
              <a:cs typeface="Times New Roman"/>
              <a:sym typeface="Times New Roman"/>
            </a:endParaRPr>
          </a:p>
        </p:txBody>
      </p:sp>
      <p:sp>
        <p:nvSpPr>
          <p:cNvPr id="174" name="Rounded Rectangle 173"/>
          <p:cNvSpPr/>
          <p:nvPr/>
        </p:nvSpPr>
        <p:spPr>
          <a:xfrm>
            <a:off x="1828800" y="1280160"/>
            <a:ext cx="3154680" cy="2103120"/>
          </a:xfrm>
          <a:prstGeom prst="roundRect">
            <a:avLst>
              <a:gd name="adj" fmla="val 8000"/>
            </a:avLst>
          </a:prstGeom>
          <a:solidFill>
            <a:srgbClr val="EAF1E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endParaRPr/>
          </a:p>
        </p:txBody>
      </p:sp>
      <p:sp>
        <p:nvSpPr>
          <p:cNvPr id="175" name="Oval 174"/>
          <p:cNvSpPr/>
          <p:nvPr/>
        </p:nvSpPr>
        <p:spPr>
          <a:xfrm>
            <a:off x="2011680" y="1463039"/>
            <a:ext cx="548640" cy="548640"/>
          </a:xfrm>
          <a:prstGeom prst="ellipse">
            <a:avLst/>
          </a:prstGeom>
          <a:solidFill>
            <a:srgbClr val="3E6B2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spcBef>
                <a:spcPts val="0"/>
              </a:spcBef>
              <a:spcAft>
                <a:spcPts val="400"/>
              </a:spcAft>
              <a:buNone/>
            </a:pPr>
            <a:r>
              <a:rPr sz="1600" b="1" i="0">
                <a:solidFill>
                  <a:srgbClr val="FFFFFF"/>
                </a:solidFill>
                <a:latin typeface="Times New Roman"/>
                <a:ea typeface="Times New Roman"/>
                <a:cs typeface="Times New Roman"/>
                <a:sym typeface="Times New Roman"/>
              </a:rPr>
              <a:t>1</a:t>
            </a:r>
          </a:p>
        </p:txBody>
      </p:sp>
      <p:sp>
        <p:nvSpPr>
          <p:cNvPr id="176" name="TextBox 175"/>
          <p:cNvSpPr txBox="1"/>
          <p:nvPr/>
        </p:nvSpPr>
        <p:spPr>
          <a:xfrm>
            <a:off x="2011680" y="2103120"/>
            <a:ext cx="2834640" cy="1188720"/>
          </a:xfrm>
          <a:prstGeom prst="rect">
            <a:avLst/>
          </a:prstGeom>
          <a:noFill/>
        </p:spPr>
        <p:txBody>
          <a:bodyPr wrap="square" lIns="45720" rIns="45720" anchor="t">
            <a:spAutoFit/>
          </a:bodyPr>
          <a:lstStyle/>
          <a:p>
            <a:pPr marL="0" indent="0" algn="l">
              <a:spcBef>
                <a:spcPts val="0"/>
              </a:spcBef>
              <a:spcAft>
                <a:spcPts val="400"/>
              </a:spcAft>
              <a:buNone/>
            </a:pPr>
            <a:r>
              <a:rPr sz="1600" b="1" i="0">
                <a:solidFill>
                  <a:srgbClr val="3E6B2F"/>
                </a:solidFill>
                <a:latin typeface="Times New Roman"/>
                <a:ea typeface="Times New Roman"/>
                <a:cs typeface="Times New Roman"/>
                <a:sym typeface="Times New Roman"/>
              </a:rPr>
              <a:t>Mobile App</a:t>
            </a:r>
          </a:p>
          <a:p>
            <a:pPr marL="0" indent="0" algn="l">
              <a:spcBef>
                <a:spcPts val="0"/>
              </a:spcBef>
              <a:spcAft>
                <a:spcPts val="400"/>
              </a:spcAft>
              <a:buNone/>
            </a:pPr>
            <a:r>
              <a:rPr sz="1400" b="0" i="0">
                <a:solidFill>
                  <a:srgbClr val="222222"/>
                </a:solidFill>
                <a:latin typeface="Times New Roman"/>
                <a:ea typeface="Times New Roman"/>
                <a:cs typeface="Times New Roman"/>
                <a:sym typeface="Times New Roman"/>
              </a:rPr>
              <a:t>Android / iOS app for dietitians and patients</a:t>
            </a:r>
          </a:p>
        </p:txBody>
      </p:sp>
      <p:sp>
        <p:nvSpPr>
          <p:cNvPr id="177" name="Rounded Rectangle 176"/>
          <p:cNvSpPr/>
          <p:nvPr/>
        </p:nvSpPr>
        <p:spPr>
          <a:xfrm>
            <a:off x="5212080" y="1280160"/>
            <a:ext cx="3154680" cy="2103120"/>
          </a:xfrm>
          <a:prstGeom prst="roundRect">
            <a:avLst>
              <a:gd name="adj" fmla="val 8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endParaRPr/>
          </a:p>
        </p:txBody>
      </p:sp>
      <p:sp>
        <p:nvSpPr>
          <p:cNvPr id="178" name="Oval 177"/>
          <p:cNvSpPr/>
          <p:nvPr/>
        </p:nvSpPr>
        <p:spPr>
          <a:xfrm>
            <a:off x="5394960" y="1463039"/>
            <a:ext cx="548640" cy="548640"/>
          </a:xfrm>
          <a:prstGeom prst="ellipse">
            <a:avLst/>
          </a:prstGeom>
          <a:solidFill>
            <a:srgbClr val="C77A1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spcBef>
                <a:spcPts val="0"/>
              </a:spcBef>
              <a:spcAft>
                <a:spcPts val="400"/>
              </a:spcAft>
              <a:buNone/>
            </a:pPr>
            <a:r>
              <a:rPr sz="1600" b="1" i="0">
                <a:solidFill>
                  <a:srgbClr val="FFFFFF"/>
                </a:solidFill>
                <a:latin typeface="Times New Roman"/>
                <a:ea typeface="Times New Roman"/>
                <a:cs typeface="Times New Roman"/>
                <a:sym typeface="Times New Roman"/>
              </a:rPr>
              <a:t>2</a:t>
            </a:r>
          </a:p>
        </p:txBody>
      </p:sp>
      <p:sp>
        <p:nvSpPr>
          <p:cNvPr id="179" name="TextBox 178"/>
          <p:cNvSpPr txBox="1"/>
          <p:nvPr/>
        </p:nvSpPr>
        <p:spPr>
          <a:xfrm>
            <a:off x="5394960" y="2103120"/>
            <a:ext cx="2834640" cy="1188720"/>
          </a:xfrm>
          <a:prstGeom prst="rect">
            <a:avLst/>
          </a:prstGeom>
          <a:noFill/>
        </p:spPr>
        <p:txBody>
          <a:bodyPr wrap="square" lIns="45720" rIns="45720" anchor="t">
            <a:spAutoFit/>
          </a:bodyPr>
          <a:lstStyle/>
          <a:p>
            <a:pPr marL="0" indent="0" algn="l">
              <a:spcBef>
                <a:spcPts val="0"/>
              </a:spcBef>
              <a:spcAft>
                <a:spcPts val="400"/>
              </a:spcAft>
              <a:buNone/>
            </a:pPr>
            <a:r>
              <a:rPr sz="1600" b="1" i="0">
                <a:solidFill>
                  <a:srgbClr val="C77A12"/>
                </a:solidFill>
                <a:latin typeface="Times New Roman"/>
                <a:ea typeface="Times New Roman"/>
                <a:cs typeface="Times New Roman"/>
                <a:sym typeface="Times New Roman"/>
              </a:rPr>
              <a:t>AI / ML Recommendations</a:t>
            </a:r>
          </a:p>
          <a:p>
            <a:pPr marL="0" indent="0" algn="l">
              <a:spcBef>
                <a:spcPts val="0"/>
              </a:spcBef>
              <a:spcAft>
                <a:spcPts val="400"/>
              </a:spcAft>
              <a:buNone/>
            </a:pPr>
            <a:r>
              <a:rPr sz="1400" b="0" i="0">
                <a:solidFill>
                  <a:srgbClr val="222222"/>
                </a:solidFill>
                <a:latin typeface="Times New Roman"/>
                <a:ea typeface="Times New Roman"/>
                <a:cs typeface="Times New Roman"/>
                <a:sym typeface="Times New Roman"/>
              </a:rPr>
              <a:t>Learn from patient outcomes to improve diet suggestions</a:t>
            </a:r>
          </a:p>
        </p:txBody>
      </p:sp>
      <p:sp>
        <p:nvSpPr>
          <p:cNvPr id="180" name="Rounded Rectangle 179"/>
          <p:cNvSpPr/>
          <p:nvPr/>
        </p:nvSpPr>
        <p:spPr>
          <a:xfrm>
            <a:off x="8595360" y="1280160"/>
            <a:ext cx="3154680" cy="2103120"/>
          </a:xfrm>
          <a:prstGeom prst="roundRect">
            <a:avLst>
              <a:gd name="adj" fmla="val 8000"/>
            </a:avLst>
          </a:prstGeom>
          <a:solidFill>
            <a:srgbClr val="F4E6E2"/>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endParaRPr/>
          </a:p>
        </p:txBody>
      </p:sp>
      <p:sp>
        <p:nvSpPr>
          <p:cNvPr id="181" name="Oval 180"/>
          <p:cNvSpPr/>
          <p:nvPr/>
        </p:nvSpPr>
        <p:spPr>
          <a:xfrm>
            <a:off x="8778240" y="1463039"/>
            <a:ext cx="548640" cy="548640"/>
          </a:xfrm>
          <a:prstGeom prst="ellipse">
            <a:avLst/>
          </a:prstGeom>
          <a:solidFill>
            <a:srgbClr val="56221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spcBef>
                <a:spcPts val="0"/>
              </a:spcBef>
              <a:spcAft>
                <a:spcPts val="400"/>
              </a:spcAft>
              <a:buNone/>
            </a:pPr>
            <a:r>
              <a:rPr sz="1600" b="1" i="0">
                <a:solidFill>
                  <a:srgbClr val="FFFFFF"/>
                </a:solidFill>
                <a:latin typeface="Times New Roman"/>
                <a:ea typeface="Times New Roman"/>
                <a:cs typeface="Times New Roman"/>
                <a:sym typeface="Times New Roman"/>
              </a:rPr>
              <a:t>3</a:t>
            </a:r>
          </a:p>
        </p:txBody>
      </p:sp>
      <p:sp>
        <p:nvSpPr>
          <p:cNvPr id="182" name="TextBox 181"/>
          <p:cNvSpPr txBox="1"/>
          <p:nvPr/>
        </p:nvSpPr>
        <p:spPr>
          <a:xfrm>
            <a:off x="8778240" y="2103120"/>
            <a:ext cx="2834640" cy="1188720"/>
          </a:xfrm>
          <a:prstGeom prst="rect">
            <a:avLst/>
          </a:prstGeom>
          <a:noFill/>
        </p:spPr>
        <p:txBody>
          <a:bodyPr wrap="square" lIns="45720" rIns="45720" anchor="t">
            <a:spAutoFit/>
          </a:bodyPr>
          <a:lstStyle/>
          <a:p>
            <a:pPr marL="0" indent="0" algn="l">
              <a:spcBef>
                <a:spcPts val="0"/>
              </a:spcBef>
              <a:spcAft>
                <a:spcPts val="400"/>
              </a:spcAft>
              <a:buNone/>
            </a:pPr>
            <a:r>
              <a:rPr sz="1600" b="1" i="0">
                <a:solidFill>
                  <a:srgbClr val="562214"/>
                </a:solidFill>
                <a:latin typeface="Times New Roman"/>
                <a:ea typeface="Times New Roman"/>
                <a:cs typeface="Times New Roman"/>
                <a:sym typeface="Times New Roman"/>
              </a:rPr>
              <a:t>Automated Prakriti Assessment</a:t>
            </a:r>
          </a:p>
          <a:p>
            <a:pPr marL="0" indent="0" algn="l">
              <a:spcBef>
                <a:spcPts val="0"/>
              </a:spcBef>
              <a:spcAft>
                <a:spcPts val="400"/>
              </a:spcAft>
              <a:buNone/>
            </a:pPr>
            <a:r>
              <a:rPr sz="1400" b="0" i="0">
                <a:solidFill>
                  <a:srgbClr val="222222"/>
                </a:solidFill>
                <a:latin typeface="Times New Roman"/>
                <a:ea typeface="Times New Roman"/>
                <a:cs typeface="Times New Roman"/>
                <a:sym typeface="Times New Roman"/>
              </a:rPr>
              <a:t>Questionnaire-based Dosha prediction using ML</a:t>
            </a:r>
          </a:p>
        </p:txBody>
      </p:sp>
      <p:sp>
        <p:nvSpPr>
          <p:cNvPr id="183" name="Rounded Rectangle 182"/>
          <p:cNvSpPr/>
          <p:nvPr/>
        </p:nvSpPr>
        <p:spPr>
          <a:xfrm>
            <a:off x="1828800" y="3657600"/>
            <a:ext cx="3154680" cy="2103120"/>
          </a:xfrm>
          <a:prstGeom prst="roundRect">
            <a:avLst>
              <a:gd name="adj" fmla="val 8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endParaRPr/>
          </a:p>
        </p:txBody>
      </p:sp>
      <p:sp>
        <p:nvSpPr>
          <p:cNvPr id="184" name="Oval 183"/>
          <p:cNvSpPr/>
          <p:nvPr/>
        </p:nvSpPr>
        <p:spPr>
          <a:xfrm>
            <a:off x="2011680" y="3840480"/>
            <a:ext cx="548640" cy="548640"/>
          </a:xfrm>
          <a:prstGeom prst="ellipse">
            <a:avLst/>
          </a:prstGeom>
          <a:solidFill>
            <a:srgbClr val="C77A1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spcBef>
                <a:spcPts val="0"/>
              </a:spcBef>
              <a:spcAft>
                <a:spcPts val="400"/>
              </a:spcAft>
              <a:buNone/>
            </a:pPr>
            <a:r>
              <a:rPr sz="1600" b="1" i="0">
                <a:solidFill>
                  <a:srgbClr val="FFFFFF"/>
                </a:solidFill>
                <a:latin typeface="Times New Roman"/>
                <a:ea typeface="Times New Roman"/>
                <a:cs typeface="Times New Roman"/>
                <a:sym typeface="Times New Roman"/>
              </a:rPr>
              <a:t>4</a:t>
            </a:r>
          </a:p>
        </p:txBody>
      </p:sp>
      <p:sp>
        <p:nvSpPr>
          <p:cNvPr id="185" name="TextBox 184"/>
          <p:cNvSpPr txBox="1"/>
          <p:nvPr/>
        </p:nvSpPr>
        <p:spPr>
          <a:xfrm>
            <a:off x="2011680" y="4480560"/>
            <a:ext cx="2834640" cy="1188720"/>
          </a:xfrm>
          <a:prstGeom prst="rect">
            <a:avLst/>
          </a:prstGeom>
          <a:noFill/>
        </p:spPr>
        <p:txBody>
          <a:bodyPr wrap="square" lIns="45720" rIns="45720" anchor="t">
            <a:spAutoFit/>
          </a:bodyPr>
          <a:lstStyle/>
          <a:p>
            <a:pPr marL="0" indent="0" algn="l">
              <a:spcBef>
                <a:spcPts val="0"/>
              </a:spcBef>
              <a:spcAft>
                <a:spcPts val="400"/>
              </a:spcAft>
              <a:buNone/>
            </a:pPr>
            <a:r>
              <a:rPr sz="1600" b="1" i="0">
                <a:solidFill>
                  <a:srgbClr val="C77A12"/>
                </a:solidFill>
                <a:latin typeface="Times New Roman"/>
                <a:ea typeface="Times New Roman"/>
                <a:cs typeface="Times New Roman"/>
                <a:sym typeface="Times New Roman"/>
              </a:rPr>
              <a:t>Regional Food Database</a:t>
            </a:r>
          </a:p>
          <a:p>
            <a:pPr marL="0" indent="0" algn="l">
              <a:spcBef>
                <a:spcPts val="0"/>
              </a:spcBef>
              <a:spcAft>
                <a:spcPts val="400"/>
              </a:spcAft>
              <a:buNone/>
            </a:pPr>
            <a:r>
              <a:rPr sz="1400" b="0" i="0">
                <a:solidFill>
                  <a:srgbClr val="222222"/>
                </a:solidFill>
                <a:latin typeface="Times New Roman"/>
                <a:ea typeface="Times New Roman"/>
                <a:cs typeface="Times New Roman"/>
                <a:sym typeface="Times New Roman"/>
              </a:rPr>
              <a:t>Add regional and seasonal Indian foods and recipes</a:t>
            </a:r>
          </a:p>
        </p:txBody>
      </p:sp>
      <p:sp>
        <p:nvSpPr>
          <p:cNvPr id="186" name="Rounded Rectangle 185"/>
          <p:cNvSpPr/>
          <p:nvPr/>
        </p:nvSpPr>
        <p:spPr>
          <a:xfrm>
            <a:off x="5212080" y="3657600"/>
            <a:ext cx="3154680" cy="2103120"/>
          </a:xfrm>
          <a:prstGeom prst="roundRect">
            <a:avLst>
              <a:gd name="adj" fmla="val 8000"/>
            </a:avLst>
          </a:prstGeom>
          <a:solidFill>
            <a:srgbClr val="F4E6E2"/>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endParaRPr/>
          </a:p>
        </p:txBody>
      </p:sp>
      <p:sp>
        <p:nvSpPr>
          <p:cNvPr id="187" name="Oval 186"/>
          <p:cNvSpPr/>
          <p:nvPr/>
        </p:nvSpPr>
        <p:spPr>
          <a:xfrm>
            <a:off x="5394960" y="3840480"/>
            <a:ext cx="548640" cy="548640"/>
          </a:xfrm>
          <a:prstGeom prst="ellipse">
            <a:avLst/>
          </a:prstGeom>
          <a:solidFill>
            <a:srgbClr val="56221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spcBef>
                <a:spcPts val="0"/>
              </a:spcBef>
              <a:spcAft>
                <a:spcPts val="400"/>
              </a:spcAft>
              <a:buNone/>
            </a:pPr>
            <a:r>
              <a:rPr sz="1600" b="1" i="0">
                <a:solidFill>
                  <a:srgbClr val="FFFFFF"/>
                </a:solidFill>
                <a:latin typeface="Times New Roman"/>
                <a:ea typeface="Times New Roman"/>
                <a:cs typeface="Times New Roman"/>
                <a:sym typeface="Times New Roman"/>
              </a:rPr>
              <a:t>5</a:t>
            </a:r>
          </a:p>
        </p:txBody>
      </p:sp>
      <p:sp>
        <p:nvSpPr>
          <p:cNvPr id="188" name="TextBox 187"/>
          <p:cNvSpPr txBox="1"/>
          <p:nvPr/>
        </p:nvSpPr>
        <p:spPr>
          <a:xfrm>
            <a:off x="5394960" y="4480560"/>
            <a:ext cx="2834640" cy="1188720"/>
          </a:xfrm>
          <a:prstGeom prst="rect">
            <a:avLst/>
          </a:prstGeom>
          <a:noFill/>
        </p:spPr>
        <p:txBody>
          <a:bodyPr wrap="square" lIns="45720" rIns="45720" anchor="t">
            <a:spAutoFit/>
          </a:bodyPr>
          <a:lstStyle/>
          <a:p>
            <a:pPr marL="0" indent="0" algn="l">
              <a:spcBef>
                <a:spcPts val="0"/>
              </a:spcBef>
              <a:spcAft>
                <a:spcPts val="400"/>
              </a:spcAft>
              <a:buNone/>
            </a:pPr>
            <a:r>
              <a:rPr sz="1600" b="1" i="0">
                <a:solidFill>
                  <a:srgbClr val="562214"/>
                </a:solidFill>
                <a:latin typeface="Times New Roman"/>
                <a:ea typeface="Times New Roman"/>
                <a:cs typeface="Times New Roman"/>
                <a:sym typeface="Times New Roman"/>
              </a:rPr>
              <a:t>Telemedicine</a:t>
            </a:r>
          </a:p>
          <a:p>
            <a:pPr marL="0" indent="0" algn="l">
              <a:spcBef>
                <a:spcPts val="0"/>
              </a:spcBef>
              <a:spcAft>
                <a:spcPts val="400"/>
              </a:spcAft>
              <a:buNone/>
            </a:pPr>
            <a:r>
              <a:rPr sz="1400" b="0" i="0">
                <a:solidFill>
                  <a:srgbClr val="222222"/>
                </a:solidFill>
                <a:latin typeface="Times New Roman"/>
                <a:ea typeface="Times New Roman"/>
                <a:cs typeface="Times New Roman"/>
                <a:sym typeface="Times New Roman"/>
              </a:rPr>
              <a:t>Online consultations, chat and appointment reminders</a:t>
            </a:r>
          </a:p>
        </p:txBody>
      </p:sp>
      <p:sp>
        <p:nvSpPr>
          <p:cNvPr id="189" name="Rounded Rectangle 188"/>
          <p:cNvSpPr/>
          <p:nvPr/>
        </p:nvSpPr>
        <p:spPr>
          <a:xfrm>
            <a:off x="8595360" y="3657600"/>
            <a:ext cx="3154680" cy="2103120"/>
          </a:xfrm>
          <a:prstGeom prst="roundRect">
            <a:avLst>
              <a:gd name="adj" fmla="val 8000"/>
            </a:avLst>
          </a:prstGeom>
          <a:solidFill>
            <a:srgbClr val="EAF1E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endParaRPr/>
          </a:p>
        </p:txBody>
      </p:sp>
      <p:sp>
        <p:nvSpPr>
          <p:cNvPr id="190" name="Oval 189"/>
          <p:cNvSpPr/>
          <p:nvPr/>
        </p:nvSpPr>
        <p:spPr>
          <a:xfrm>
            <a:off x="8778240" y="3840480"/>
            <a:ext cx="548640" cy="548640"/>
          </a:xfrm>
          <a:prstGeom prst="ellipse">
            <a:avLst/>
          </a:prstGeom>
          <a:solidFill>
            <a:srgbClr val="3E6B2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spcBef>
                <a:spcPts val="0"/>
              </a:spcBef>
              <a:spcAft>
                <a:spcPts val="400"/>
              </a:spcAft>
              <a:buNone/>
            </a:pPr>
            <a:r>
              <a:rPr sz="1600" b="1" i="0">
                <a:solidFill>
                  <a:srgbClr val="FFFFFF"/>
                </a:solidFill>
                <a:latin typeface="Times New Roman"/>
                <a:ea typeface="Times New Roman"/>
                <a:cs typeface="Times New Roman"/>
                <a:sym typeface="Times New Roman"/>
              </a:rPr>
              <a:t>6</a:t>
            </a:r>
          </a:p>
        </p:txBody>
      </p:sp>
      <p:sp>
        <p:nvSpPr>
          <p:cNvPr id="191" name="TextBox 190"/>
          <p:cNvSpPr txBox="1"/>
          <p:nvPr/>
        </p:nvSpPr>
        <p:spPr>
          <a:xfrm>
            <a:off x="8778240" y="4480560"/>
            <a:ext cx="2834640" cy="1188720"/>
          </a:xfrm>
          <a:prstGeom prst="rect">
            <a:avLst/>
          </a:prstGeom>
          <a:noFill/>
        </p:spPr>
        <p:txBody>
          <a:bodyPr wrap="square" lIns="45720" rIns="45720" anchor="t">
            <a:spAutoFit/>
          </a:bodyPr>
          <a:lstStyle/>
          <a:p>
            <a:pPr marL="0" indent="0" algn="l">
              <a:spcBef>
                <a:spcPts val="0"/>
              </a:spcBef>
              <a:spcAft>
                <a:spcPts val="400"/>
              </a:spcAft>
              <a:buNone/>
            </a:pPr>
            <a:r>
              <a:rPr sz="1600" b="1" i="0">
                <a:solidFill>
                  <a:srgbClr val="3E6B2F"/>
                </a:solidFill>
                <a:latin typeface="Times New Roman"/>
                <a:ea typeface="Times New Roman"/>
                <a:cs typeface="Times New Roman"/>
                <a:sym typeface="Times New Roman"/>
              </a:rPr>
              <a:t>Wearables &amp; Labs</a:t>
            </a:r>
          </a:p>
          <a:p>
            <a:pPr marL="0" indent="0" algn="l">
              <a:spcBef>
                <a:spcPts val="0"/>
              </a:spcBef>
              <a:spcAft>
                <a:spcPts val="400"/>
              </a:spcAft>
              <a:buNone/>
            </a:pPr>
            <a:r>
              <a:rPr sz="1400" b="0" i="0">
                <a:solidFill>
                  <a:srgbClr val="222222"/>
                </a:solidFill>
                <a:latin typeface="Times New Roman"/>
                <a:ea typeface="Times New Roman"/>
                <a:cs typeface="Times New Roman"/>
                <a:sym typeface="Times New Roman"/>
              </a:rPr>
              <a:t>Import activity, weight and lab reports for real-time monitoring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1"/>
          <p:cNvSpPr txBox="1">
            <a:spLocks noGrp="1"/>
          </p:cNvSpPr>
          <p:nvPr>
            <p:ph type="title"/>
          </p:nvPr>
        </p:nvSpPr>
        <p:spPr>
          <a:xfrm>
            <a:off x="1828800" y="274320"/>
            <a:ext cx="9966960" cy="777240"/>
          </a:xfrm>
          <a:prstGeom prst="rect">
            <a:avLst/>
          </a:prstGeom>
          <a:noFill/>
          <a:ln>
            <a:noFill/>
          </a:ln>
        </p:spPr>
        <p:txBody>
          <a:bodyPr spcFirstLastPara="1" wrap="square" lIns="45720" tIns="45700" rIns="91425" bIns="45700" anchor="ctr" anchorCtr="0">
            <a:noAutofit/>
          </a:bodyPr>
          <a:lstStyle/>
          <a:p>
            <a:pPr marL="0" indent="0" algn="l">
              <a:spcBef>
                <a:spcPts val="0"/>
              </a:spcBef>
              <a:spcAft>
                <a:spcPts val="400"/>
              </a:spcAft>
              <a:buNone/>
            </a:pPr>
            <a:r>
              <a:rPr sz="3600" b="1" i="0">
                <a:solidFill>
                  <a:srgbClr val="562214"/>
                </a:solidFill>
                <a:latin typeface="Times New Roman"/>
                <a:ea typeface="Times New Roman"/>
                <a:cs typeface="Times New Roman"/>
                <a:sym typeface="Times New Roman"/>
              </a:rPr>
              <a:t>References</a:t>
            </a:r>
          </a:p>
        </p:txBody>
      </p:sp>
      <p:sp>
        <p:nvSpPr>
          <p:cNvPr id="180" name="Google Shape;180;p11"/>
          <p:cNvSpPr txBox="1">
            <a:spLocks noGrp="1"/>
          </p:cNvSpPr>
          <p:nvPr>
            <p:ph type="body" idx="1"/>
          </p:nvPr>
        </p:nvSpPr>
        <p:spPr>
          <a:xfrm>
            <a:off x="1828800" y="1188720"/>
            <a:ext cx="9966960" cy="4937760"/>
          </a:xfrm>
          <a:prstGeom prst="rect">
            <a:avLst/>
          </a:prstGeom>
          <a:noFill/>
          <a:ln>
            <a:noFill/>
          </a:ln>
        </p:spPr>
        <p:txBody>
          <a:bodyPr spcFirstLastPara="1" wrap="square" lIns="91425" tIns="45700" rIns="91425" bIns="45700" anchor="t" anchorCtr="0"/>
          <a:lstStyle/>
          <a:p>
            <a:pPr marL="0" indent="0" algn="l">
              <a:spcBef>
                <a:spcPts val="0"/>
              </a:spcBef>
              <a:spcAft>
                <a:spcPts val="700"/>
              </a:spcAft>
              <a:buNone/>
            </a:pPr>
            <a:r>
              <a:rPr sz="1400" b="1" i="0">
                <a:solidFill>
                  <a:srgbClr val="562214"/>
                </a:solidFill>
                <a:latin typeface="Times New Roman"/>
                <a:ea typeface="Times New Roman"/>
                <a:cs typeface="Times New Roman"/>
                <a:sym typeface="Times New Roman"/>
              </a:rPr>
              <a:t>[1]  </a:t>
            </a:r>
            <a:r>
              <a:rPr sz="1400" b="0" i="0">
                <a:solidFill>
                  <a:srgbClr val="222222"/>
                </a:solidFill>
                <a:latin typeface="Times New Roman"/>
                <a:ea typeface="Times New Roman"/>
                <a:cs typeface="Times New Roman"/>
                <a:sym typeface="Times New Roman"/>
              </a:rPr>
              <a:t>Chaitra K. N., Chandan Gowda A. N., Keerthi M., Priyanka C. S. and T. Venkatesh, "Comprehensive Cloud-Based Practice Management &amp; Nutrient Analysis Software for Ayurvedic Dietitians," IRE Journals, vol. 10, no. 1, pp. 758-765, Jul. 2026, doi: 10.64388/IREV10I1-1719664.</a:t>
            </a:r>
          </a:p>
          <a:p>
            <a:pPr marL="0" indent="0" algn="l">
              <a:spcBef>
                <a:spcPts val="0"/>
              </a:spcBef>
              <a:spcAft>
                <a:spcPts val="700"/>
              </a:spcAft>
              <a:buNone/>
            </a:pPr>
            <a:r>
              <a:rPr sz="1400" b="1" i="0">
                <a:solidFill>
                  <a:srgbClr val="562214"/>
                </a:solidFill>
                <a:latin typeface="Times New Roman"/>
                <a:ea typeface="Times New Roman"/>
                <a:cs typeface="Times New Roman"/>
                <a:sym typeface="Times New Roman"/>
              </a:rPr>
              <a:t>[2]  </a:t>
            </a:r>
            <a:r>
              <a:rPr sz="1400" b="0" i="0">
                <a:solidFill>
                  <a:srgbClr val="222222"/>
                </a:solidFill>
                <a:latin typeface="Times New Roman"/>
                <a:ea typeface="Times New Roman"/>
                <a:cs typeface="Times New Roman"/>
                <a:sym typeface="Times New Roman"/>
              </a:rPr>
              <a:t>N. Doiphode, A. Kekapure, J. Khapne, R. Lambat and M. Nanwani, "Vedaahar: An AI-Based Personalized Ayurvedic Food Recommendation System," International Journal of Creative Research Thoughts (IJCRT), vol. 14, no. 4, pp. b114-b122, 2026.</a:t>
            </a:r>
          </a:p>
          <a:p>
            <a:pPr marL="0" indent="0" algn="l">
              <a:spcBef>
                <a:spcPts val="0"/>
              </a:spcBef>
              <a:spcAft>
                <a:spcPts val="700"/>
              </a:spcAft>
              <a:buNone/>
            </a:pPr>
            <a:r>
              <a:rPr sz="1400" b="1" i="0">
                <a:solidFill>
                  <a:srgbClr val="562214"/>
                </a:solidFill>
                <a:latin typeface="Times New Roman"/>
                <a:ea typeface="Times New Roman"/>
                <a:cs typeface="Times New Roman"/>
                <a:sym typeface="Times New Roman"/>
              </a:rPr>
              <a:t>[3]  </a:t>
            </a:r>
            <a:r>
              <a:rPr sz="1400" b="0" i="0">
                <a:solidFill>
                  <a:srgbClr val="222222"/>
                </a:solidFill>
                <a:latin typeface="Times New Roman"/>
                <a:ea typeface="Times New Roman"/>
                <a:cs typeface="Times New Roman"/>
                <a:sym typeface="Times New Roman"/>
              </a:rPr>
              <a:t>S. Abhari et al., "A Systematic Review of Nutrition Recommendation Systems: With Focus on Technical Aspects," Journal of Biomedical Physics and Engineering, vol. 9, no. 6, pp. 591-602, 2019, doi: 10.31661/jbpe.v0i0.1248.</a:t>
            </a:r>
          </a:p>
          <a:p>
            <a:pPr marL="0" indent="0" algn="l">
              <a:spcBef>
                <a:spcPts val="0"/>
              </a:spcBef>
              <a:spcAft>
                <a:spcPts val="700"/>
              </a:spcAft>
              <a:buNone/>
            </a:pPr>
            <a:r>
              <a:rPr sz="1400" b="1" i="0">
                <a:solidFill>
                  <a:srgbClr val="562214"/>
                </a:solidFill>
                <a:latin typeface="Times New Roman"/>
                <a:ea typeface="Times New Roman"/>
                <a:cs typeface="Times New Roman"/>
                <a:sym typeface="Times New Roman"/>
              </a:rPr>
              <a:t>[4]  </a:t>
            </a:r>
            <a:r>
              <a:rPr sz="1400" b="0" i="0">
                <a:solidFill>
                  <a:srgbClr val="222222"/>
                </a:solidFill>
                <a:latin typeface="Times New Roman"/>
                <a:ea typeface="Times New Roman"/>
                <a:cs typeface="Times New Roman"/>
                <a:sym typeface="Times New Roman"/>
              </a:rPr>
              <a:t>I. Orue-Saiz, M. Kazarez and A. Mendez-Zorrilla, "Systematic Review of Nutritional Recommendation Systems," Applied Sciences, vol. 11, no. 24, p. 12069, 2021, doi: 10.3390/app112412069.</a:t>
            </a:r>
          </a:p>
          <a:p>
            <a:pPr marL="0" indent="0" algn="l">
              <a:spcBef>
                <a:spcPts val="0"/>
              </a:spcBef>
              <a:spcAft>
                <a:spcPts val="700"/>
              </a:spcAft>
              <a:buNone/>
            </a:pPr>
            <a:r>
              <a:rPr sz="1400" b="1" i="0">
                <a:solidFill>
                  <a:srgbClr val="562214"/>
                </a:solidFill>
                <a:latin typeface="Times New Roman"/>
                <a:ea typeface="Times New Roman"/>
                <a:cs typeface="Times New Roman"/>
                <a:sym typeface="Times New Roman"/>
              </a:rPr>
              <a:t>[5]  </a:t>
            </a:r>
            <a:r>
              <a:rPr sz="1400" b="0" i="0">
                <a:solidFill>
                  <a:srgbClr val="222222"/>
                </a:solidFill>
                <a:latin typeface="Times New Roman"/>
                <a:ea typeface="Times New Roman"/>
                <a:cs typeface="Times New Roman"/>
                <a:sym typeface="Times New Roman"/>
              </a:rPr>
              <a:t>T. Longvah, R. Ananthan, K. Bhaskarachary and K. Venkaiah, Indian Food Composition Tables 2017. Hyderabad, India: National Institute of Nutrition (ICMR), 2017.</a:t>
            </a:r>
          </a:p>
          <a:p>
            <a:pPr marL="0" indent="0" algn="l">
              <a:spcBef>
                <a:spcPts val="0"/>
              </a:spcBef>
              <a:spcAft>
                <a:spcPts val="700"/>
              </a:spcAft>
              <a:buNone/>
            </a:pPr>
            <a:r>
              <a:rPr sz="1400" b="1" i="0">
                <a:solidFill>
                  <a:srgbClr val="562214"/>
                </a:solidFill>
                <a:latin typeface="Times New Roman"/>
                <a:ea typeface="Times New Roman"/>
                <a:cs typeface="Times New Roman"/>
                <a:sym typeface="Times New Roman"/>
              </a:rPr>
              <a:t>[6]  </a:t>
            </a:r>
            <a:r>
              <a:rPr sz="1400" b="0" i="0">
                <a:solidFill>
                  <a:srgbClr val="222222"/>
                </a:solidFill>
                <a:latin typeface="Times New Roman"/>
                <a:ea typeface="Times New Roman"/>
                <a:cs typeface="Times New Roman"/>
                <a:sym typeface="Times New Roman"/>
              </a:rPr>
              <a:t>S. V. Chavan and S. S. Sambare, "Study of Diet Recommendation System based on Fuzzy Logic and Ontology," International Journal of Computer Applications, vol. 132, no. 12, Dec. 2015.</a:t>
            </a:r>
          </a:p>
          <a:p>
            <a:pPr marL="0" indent="0" algn="l">
              <a:spcBef>
                <a:spcPts val="0"/>
              </a:spcBef>
              <a:spcAft>
                <a:spcPts val="700"/>
              </a:spcAft>
              <a:buNone/>
            </a:pPr>
            <a:r>
              <a:rPr sz="1400" b="1" i="0">
                <a:solidFill>
                  <a:srgbClr val="562214"/>
                </a:solidFill>
                <a:latin typeface="Times New Roman"/>
                <a:ea typeface="Times New Roman"/>
                <a:cs typeface="Times New Roman"/>
                <a:sym typeface="Times New Roman"/>
              </a:rPr>
              <a:t>[7]  </a:t>
            </a:r>
            <a:r>
              <a:rPr sz="1400" b="0" i="0">
                <a:solidFill>
                  <a:srgbClr val="222222"/>
                </a:solidFill>
                <a:latin typeface="Times New Roman"/>
                <a:ea typeface="Times New Roman"/>
                <a:cs typeface="Times New Roman"/>
                <a:sym typeface="Times New Roman"/>
              </a:rPr>
              <a:t>T. A. O'Sullivan, "Evaluation of an electronic record prototype incorporating the Nutrition Care Process and International Dietetics and Nutrition Terminology," Nutrition &amp; Dietetics, vol. 70, no. 3, pp. 188-195, 2013, doi: 10.1111/1747-0080.12012.</a:t>
            </a:r>
          </a:p>
        </p:txBody>
      </p:sp>
      <p:sp>
        <p:nvSpPr>
          <p:cNvPr id="181" name="Google Shape;181;p11"/>
          <p:cNvSpPr txBox="1">
            <a:spLocks noGrp="1"/>
          </p:cNvSpPr>
          <p:nvPr>
            <p:ph type="sldNum" idx="12"/>
          </p:nvPr>
        </p:nvSpPr>
        <p:spPr>
          <a:xfrm>
            <a:off x="11484864" y="6305550"/>
            <a:ext cx="609600" cy="4764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
        <p:nvSpPr>
          <p:cNvPr id="121" name="Google Shape;121;p3"/>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p>
            <a:pPr lvl="0"/>
            <a:r>
              <a:rPr lang="en-US" dirty="0">
                <a:latin typeface="Times New Roman"/>
                <a:ea typeface="Times New Roman"/>
                <a:cs typeface="Times New Roman"/>
                <a:sym typeface="Times New Roman"/>
              </a:rPr>
              <a:t>31-10-2026</a:t>
            </a:r>
          </a:p>
        </p:txBody>
      </p:sp>
      <p:sp>
        <p:nvSpPr>
          <p:cNvPr id="123" name="Google Shape;123;p3"/>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latin typeface="Times New Roman"/>
                <a:ea typeface="Times New Roman"/>
                <a:cs typeface="Times New Roman"/>
                <a:sym typeface="Times New Roman"/>
              </a:rPr>
              <a:t>NSP Project, July-Dec 2026</a:t>
            </a:r>
            <a:endParaRPr>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2"/>
          <p:cNvSpPr txBox="1">
            <a:spLocks noGrp="1"/>
          </p:cNvSpPr>
          <p:nvPr>
            <p:ph type="dt" idx="10"/>
          </p:nvPr>
        </p:nvSpPr>
        <p:spPr>
          <a:xfrm>
            <a:off x="4775200" y="6305550"/>
            <a:ext cx="2844800" cy="47625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r>
              <a:rPr lang="en-US"/>
              <a:t>DD-MM-2026</a:t>
            </a:r>
            <a:endParaRPr/>
          </a:p>
        </p:txBody>
      </p:sp>
      <p:sp>
        <p:nvSpPr>
          <p:cNvPr id="187" name="Google Shape;187;p12"/>
          <p:cNvSpPr txBox="1">
            <a:spLocks noGrp="1"/>
          </p:cNvSpPr>
          <p:nvPr>
            <p:ph type="ftr" idx="11"/>
          </p:nvPr>
        </p:nvSpPr>
        <p:spPr>
          <a:xfrm>
            <a:off x="7620000" y="6305550"/>
            <a:ext cx="3860800" cy="47625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t>NSP Project, July-Dec 2026</a:t>
            </a:r>
            <a:endParaRPr/>
          </a:p>
        </p:txBody>
      </p:sp>
      <p:sp>
        <p:nvSpPr>
          <p:cNvPr id="188" name="Google Shape;188;p12"/>
          <p:cNvSpPr txBox="1">
            <a:spLocks noGrp="1"/>
          </p:cNvSpPr>
          <p:nvPr>
            <p:ph type="sldNum" idx="12"/>
          </p:nvPr>
        </p:nvSpPr>
        <p:spPr>
          <a:xfrm>
            <a:off x="11484864" y="6305550"/>
            <a:ext cx="609600"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16</a:t>
            </a:fld>
            <a:endParaRPr/>
          </a:p>
        </p:txBody>
      </p:sp>
      <p:pic>
        <p:nvPicPr>
          <p:cNvPr id="189" name="Google Shape;189;p12"/>
          <p:cNvPicPr preferRelativeResize="0"/>
          <p:nvPr/>
        </p:nvPicPr>
        <p:blipFill rotWithShape="1">
          <a:blip r:embed="rId3">
            <a:alphaModFix/>
          </a:blip>
          <a:srcRect/>
          <a:stretch/>
        </p:blipFill>
        <p:spPr>
          <a:xfrm>
            <a:off x="1389528" y="1"/>
            <a:ext cx="10802471" cy="6696634"/>
          </a:xfrm>
          <a:prstGeom prst="rect">
            <a:avLst/>
          </a:prstGeom>
          <a:noFill/>
          <a:ln>
            <a:noFill/>
          </a:ln>
        </p:spPr>
      </p:pic>
    </p:spTree>
  </p:cSld>
  <p:clrMapOvr>
    <a:masterClrMapping/>
  </p:clrMapOvr>
</p:sld>
</file>

<file path=ppt/theme/theme1.xml><?xml version="1.0" encoding="utf-8"?>
<a:theme xmlns:a="http://schemas.openxmlformats.org/drawingml/2006/main"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2058</Words>
  <Application>Microsoft Office PowerPoint</Application>
  <PresentationFormat>Widescreen</PresentationFormat>
  <Paragraphs>274</Paragraphs>
  <Slides>16</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Noto Sans Symbols</vt:lpstr>
      <vt:lpstr>Calibri</vt:lpstr>
      <vt:lpstr>Gill Sans</vt:lpstr>
      <vt:lpstr>Times New Roman</vt:lpstr>
      <vt:lpstr>Arial</vt:lpstr>
      <vt:lpstr>Solstice</vt:lpstr>
      <vt:lpstr>PowerPoint Presentation</vt:lpstr>
      <vt:lpstr>CONTENTS</vt:lpstr>
      <vt:lpstr>Abstract</vt:lpstr>
      <vt:lpstr>Literature Review: Paper 01</vt:lpstr>
      <vt:lpstr>Literature Review: Paper 02</vt:lpstr>
      <vt:lpstr>Literature Review: Paper 03</vt:lpstr>
      <vt:lpstr>Literature Review: Paper 04</vt:lpstr>
      <vt:lpstr>Comparison Table</vt:lpstr>
      <vt:lpstr>Problem Statement and Objective</vt:lpstr>
      <vt:lpstr>Design of Solution</vt:lpstr>
      <vt:lpstr>Experimental Setup &amp; Variance</vt:lpstr>
      <vt:lpstr>Results &amp; Discussion</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Onik Jain_Poornima</cp:lastModifiedBy>
  <cp:revision>3</cp:revision>
  <dcterms:created xsi:type="dcterms:W3CDTF">2025-04-25T17:11:00Z</dcterms:created>
  <dcterms:modified xsi:type="dcterms:W3CDTF">2026-10-29T13:02:21Z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7D79781C12B14ED78FD11EC5FF38D69A_13</vt:lpwstr>
  </property>
  <property fmtid="{D5CDD505-2E9C-101B-9397-08002B2CF9AE}" pid="3" name="KSOProductBuildVer">
    <vt:lpwstr>2057-12.2.0.20796</vt:lpwstr>
  </property>
</Properties>
</file>